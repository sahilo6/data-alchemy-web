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6"/>
  </p:notesMasterIdLst>
  <p:sldIdLst>
    <p:sldId id="292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93" r:id="rId24"/>
    <p:sldId id="294" r:id="rId25"/>
    <p:sldId id="278" r:id="rId26"/>
    <p:sldId id="295" r:id="rId27"/>
    <p:sldId id="296" r:id="rId28"/>
    <p:sldId id="279" r:id="rId29"/>
    <p:sldId id="300" r:id="rId30"/>
    <p:sldId id="301" r:id="rId31"/>
    <p:sldId id="298" r:id="rId32"/>
    <p:sldId id="297" r:id="rId33"/>
    <p:sldId id="280" r:id="rId34"/>
    <p:sldId id="281" r:id="rId35"/>
    <p:sldId id="282" r:id="rId36"/>
    <p:sldId id="283" r:id="rId37"/>
    <p:sldId id="284" r:id="rId38"/>
    <p:sldId id="285" r:id="rId39"/>
    <p:sldId id="286" r:id="rId40"/>
    <p:sldId id="287" r:id="rId41"/>
    <p:sldId id="288" r:id="rId42"/>
    <p:sldId id="289" r:id="rId43"/>
    <p:sldId id="290" r:id="rId44"/>
    <p:sldId id="291" r:id="rId4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8" d="100"/>
          <a:sy n="88" d="100"/>
        </p:scale>
        <p:origin x="46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838677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522378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3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image" Target="../media/image3.pn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3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4.png"/><Relationship Id="rId4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15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image" Target="../media/image2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image" Target="../media/image2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image" Target="../media/image24.png"/><Relationship Id="rId4" Type="http://schemas.openxmlformats.org/officeDocument/2006/relationships/image" Target="../media/image8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image" Target="../media/image27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image" Target="../media/image28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image" Target="../media/image27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image" Target="../media/image12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image" Target="../media/image20.pn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26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24.png"/><Relationship Id="rId4" Type="http://schemas.openxmlformats.org/officeDocument/2006/relationships/image" Target="../media/image8.png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25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24.png"/><Relationship Id="rId4" Type="http://schemas.openxmlformats.org/officeDocument/2006/relationships/image" Target="../media/image8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image" Target="../media/image18.png"/><Relationship Id="rId4" Type="http://schemas.openxmlformats.org/officeDocument/2006/relationships/image" Target="../media/image8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image" Target="../media/image27.png"/><Relationship Id="rId4" Type="http://schemas.openxmlformats.org/officeDocument/2006/relationships/image" Target="../media/image30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image" Target="../media/image20.png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image" Target="../media/image12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4.png"/><Relationship Id="rId4" Type="http://schemas.openxmlformats.org/officeDocument/2006/relationships/image" Target="../media/image4.png"/><Relationship Id="rId9" Type="http://schemas.openxmlformats.org/officeDocument/2006/relationships/image" Target="../media/image2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7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64739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200" dirty="0">
                <a:solidFill>
                  <a:srgbClr val="8C9B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ALCHEMY 4.0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0881360" y="647395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C9B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793026" y="1802784"/>
            <a:ext cx="1072591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7200" b="1" dirty="0" smtClean="0">
                <a:solidFill>
                  <a:srgbClr val="EDEFFA"/>
                </a:solidFill>
                <a:latin typeface="Arial" pitchFamily="34" charset="0"/>
                <a:cs typeface="Arial" pitchFamily="34" charset="-120"/>
              </a:rPr>
              <a:t>DATA ALCHEMY </a:t>
            </a:r>
            <a:r>
              <a:rPr lang="en-US" sz="7200" b="1" dirty="0" smtClean="0">
                <a:solidFill>
                  <a:srgbClr val="0070C0"/>
                </a:solidFill>
                <a:latin typeface="Arial" pitchFamily="34" charset="0"/>
                <a:cs typeface="Arial" pitchFamily="34" charset="-120"/>
              </a:rPr>
              <a:t>4.0</a:t>
            </a:r>
            <a:endParaRPr lang="en-US" sz="7200" dirty="0">
              <a:solidFill>
                <a:srgbClr val="0070C0"/>
              </a:solidFill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731520" y="4389120"/>
            <a:ext cx="10725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IN" sz="3200" dirty="0">
                <a:solidFill>
                  <a:schemeClr val="bg1"/>
                </a:solidFill>
              </a:rPr>
              <a:t>Frameworks, Multi-Agent &amp; Project Build</a:t>
            </a:r>
            <a:endParaRPr lang="en-US" sz="3200" dirty="0">
              <a:solidFill>
                <a:schemeClr val="bg1"/>
              </a:solidFill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07635" y="-55735"/>
            <a:ext cx="1022606" cy="1022606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1786"/>
            <a:ext cx="1645096" cy="712406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612648" y="3429000"/>
            <a:ext cx="10725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3600" b="1" dirty="0" smtClean="0">
                <a:solidFill>
                  <a:schemeClr val="bg1"/>
                </a:solidFill>
              </a:rPr>
              <a:t>SESSION 4:</a:t>
            </a:r>
            <a:endParaRPr lang="en-US" sz="36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277925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507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64739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200" dirty="0">
                <a:solidFill>
                  <a:srgbClr val="8C9B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ALCHEMY 4.0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0881360" y="647395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C9B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0" y="502920"/>
            <a:ext cx="121916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kern="0" spc="300" dirty="0">
                <a:solidFill>
                  <a:srgbClr val="8C9B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WE ASSEMBLE ATLAS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606040"/>
            <a:ext cx="1072591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EDEF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sessions. Three superpowers.</a:t>
            </a:r>
            <a:endParaRPr lang="en-US" sz="44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agent.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4160520"/>
            <a:ext cx="10725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8C9B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quick recap of Sessions 1, 2 &amp; 3 — before we wire it all together.</a:t>
            </a:r>
            <a:endParaRPr lang="en-US" sz="1700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07635" y="-55735"/>
            <a:ext cx="1022606" cy="1022606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1786"/>
            <a:ext cx="1645096" cy="71240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507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64739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200" dirty="0">
                <a:solidFill>
                  <a:srgbClr val="8C9B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ALCHEMY 4.0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0881360" y="647395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C9B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50292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kern="0" spc="300" dirty="0">
                <a:solidFill>
                  <a:srgbClr val="8C9B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1 · ANKITA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841248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EDEF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Foundations: Chatbot vs. Agent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572768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8C9B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chatbot answers once. An agent keeps acting until the goal is actually done.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85800" y="2331720"/>
            <a:ext cx="2464308" cy="2148840"/>
          </a:xfrm>
          <a:prstGeom prst="roundRect">
            <a:avLst>
              <a:gd name="adj" fmla="val 4255"/>
            </a:avLst>
          </a:prstGeom>
          <a:solidFill>
            <a:srgbClr val="17163A"/>
          </a:solidFill>
          <a:ln w="19050">
            <a:solidFill>
              <a:srgbClr val="F5C542"/>
            </a:solidFill>
            <a:prstDash val="solid"/>
          </a:ln>
        </p:spPr>
      </p:sp>
      <p:pic>
        <p:nvPicPr>
          <p:cNvPr id="8" name="Image 0" descr="/home/claude/deck_build/icons/brain_go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5054" y="2624328"/>
            <a:ext cx="685800" cy="68580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795528" y="3474720"/>
            <a:ext cx="22448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</a:t>
            </a:r>
            <a:endParaRPr 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850392" y="3858768"/>
            <a:ext cx="21351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250" dirty="0">
                <a:solidFill>
                  <a:srgbClr val="8C9B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Thinks + decides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3470148" y="2331720"/>
            <a:ext cx="2464308" cy="2148840"/>
          </a:xfrm>
          <a:prstGeom prst="roundRect">
            <a:avLst>
              <a:gd name="adj" fmla="val 4255"/>
            </a:avLst>
          </a:prstGeom>
          <a:solidFill>
            <a:srgbClr val="17163A"/>
          </a:solidFill>
          <a:ln w="19050">
            <a:solidFill>
              <a:srgbClr val="F5C542"/>
            </a:solidFill>
            <a:prstDash val="solid"/>
          </a:ln>
        </p:spPr>
      </p:sp>
      <p:pic>
        <p:nvPicPr>
          <p:cNvPr id="12" name="Image 1" descr="/home/claude/deck_build/icons/bullseye_gol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59402" y="2624328"/>
            <a:ext cx="685800" cy="68580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3579876" y="3474720"/>
            <a:ext cx="22448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</a:t>
            </a:r>
            <a:endParaRPr lang="en-US" sz="1700" dirty="0"/>
          </a:p>
        </p:txBody>
      </p:sp>
      <p:sp>
        <p:nvSpPr>
          <p:cNvPr id="14" name="Text 10"/>
          <p:cNvSpPr txBox="1"/>
          <p:nvPr/>
        </p:nvSpPr>
        <p:spPr>
          <a:xfrm>
            <a:off x="3634740" y="3858768"/>
            <a:ext cx="21351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250" dirty="0">
                <a:solidFill>
                  <a:srgbClr val="8C9B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to aim for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6254496" y="2331720"/>
            <a:ext cx="2464308" cy="2148840"/>
          </a:xfrm>
          <a:prstGeom prst="roundRect">
            <a:avLst>
              <a:gd name="adj" fmla="val 4255"/>
            </a:avLst>
          </a:prstGeom>
          <a:solidFill>
            <a:srgbClr val="17163A"/>
          </a:solidFill>
          <a:ln w="12700">
            <a:solidFill>
              <a:srgbClr val="2E3350"/>
            </a:solidFill>
            <a:prstDash val="solid"/>
          </a:ln>
        </p:spPr>
      </p:sp>
      <p:pic>
        <p:nvPicPr>
          <p:cNvPr id="16" name="Image 2" descr="/home/claude/deck_build/icons/wrench_dim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43750" y="2624328"/>
            <a:ext cx="685800" cy="68580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364224" y="3474720"/>
            <a:ext cx="22448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4A4E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</a:t>
            </a:r>
            <a:endParaRPr lang="en-US" sz="1700" dirty="0"/>
          </a:p>
        </p:txBody>
      </p:sp>
      <p:sp>
        <p:nvSpPr>
          <p:cNvPr id="18" name="Text 13"/>
          <p:cNvSpPr txBox="1"/>
          <p:nvPr/>
        </p:nvSpPr>
        <p:spPr>
          <a:xfrm>
            <a:off x="6419088" y="3858768"/>
            <a:ext cx="21351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250" dirty="0">
                <a:solidFill>
                  <a:srgbClr val="8C9B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yet built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9038844" y="2331720"/>
            <a:ext cx="2464308" cy="2148840"/>
          </a:xfrm>
          <a:prstGeom prst="roundRect">
            <a:avLst>
              <a:gd name="adj" fmla="val 4255"/>
            </a:avLst>
          </a:prstGeom>
          <a:solidFill>
            <a:srgbClr val="17163A"/>
          </a:solidFill>
          <a:ln w="12700">
            <a:solidFill>
              <a:srgbClr val="2E3350"/>
            </a:solidFill>
            <a:prstDash val="solid"/>
          </a:ln>
        </p:spPr>
      </p:sp>
      <p:pic>
        <p:nvPicPr>
          <p:cNvPr id="20" name="Image 3" descr="/home/claude/deck_build/icons/database_dim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28098" y="2624328"/>
            <a:ext cx="685800" cy="68580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9148572" y="3474720"/>
            <a:ext cx="22448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4A4E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</a:t>
            </a:r>
            <a:endParaRPr lang="en-US" sz="1700" dirty="0"/>
          </a:p>
        </p:txBody>
      </p:sp>
      <p:sp>
        <p:nvSpPr>
          <p:cNvPr id="22" name="Text 16"/>
          <p:cNvSpPr txBox="1"/>
          <p:nvPr/>
        </p:nvSpPr>
        <p:spPr>
          <a:xfrm>
            <a:off x="9203436" y="3858768"/>
            <a:ext cx="21351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250" dirty="0">
                <a:solidFill>
                  <a:srgbClr val="8C9B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yet built</a:t>
            </a:r>
            <a:endParaRPr lang="en-US" sz="1250" dirty="0"/>
          </a:p>
        </p:txBody>
      </p:sp>
      <p:sp>
        <p:nvSpPr>
          <p:cNvPr id="23" name="Shape 17"/>
          <p:cNvSpPr/>
          <p:nvPr/>
        </p:nvSpPr>
        <p:spPr>
          <a:xfrm>
            <a:off x="685800" y="4892040"/>
            <a:ext cx="10817352" cy="566928"/>
          </a:xfrm>
          <a:prstGeom prst="roundRect">
            <a:avLst>
              <a:gd name="adj" fmla="val 16129"/>
            </a:avLst>
          </a:prstGeom>
          <a:solidFill>
            <a:srgbClr val="17163A"/>
          </a:solidFill>
          <a:ln w="12700">
            <a:solidFill>
              <a:srgbClr val="2E3350"/>
            </a:solidFill>
            <a:prstDash val="solid"/>
          </a:ln>
        </p:spPr>
      </p:sp>
      <p:sp>
        <p:nvSpPr>
          <p:cNvPr id="24" name="Text 18"/>
          <p:cNvSpPr txBox="1"/>
          <p:nvPr/>
        </p:nvSpPr>
        <p:spPr>
          <a:xfrm>
            <a:off x="868680" y="4892040"/>
            <a:ext cx="104515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8C9B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</a:t>
            </a:r>
            <a:r>
              <a:rPr lang="en-US" sz="1600" b="1" i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</a:t>
            </a:r>
            <a:r>
              <a:rPr lang="en-US" sz="1600" i="1" dirty="0">
                <a:solidFill>
                  <a:srgbClr val="8C9B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is what turns a chatbot into an agent.</a:t>
            </a:r>
            <a:endParaRPr lang="en-US" sz="1600" dirty="0"/>
          </a:p>
        </p:txBody>
      </p:sp>
      <p:pic>
        <p:nvPicPr>
          <p:cNvPr id="25" name="Picture 24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07635" y="-55735"/>
            <a:ext cx="1022606" cy="1022606"/>
          </a:xfrm>
          <a:prstGeom prst="rect">
            <a:avLst/>
          </a:prstGeom>
        </p:spPr>
      </p:pic>
      <p:pic>
        <p:nvPicPr>
          <p:cNvPr id="26" name="Picture 25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1786"/>
            <a:ext cx="1645096" cy="71240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507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64739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200" dirty="0">
                <a:solidFill>
                  <a:srgbClr val="8C9B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ALCHEMY 4.0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0881360" y="647395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C9B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50292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kern="0" spc="300" dirty="0">
                <a:solidFill>
                  <a:srgbClr val="8C9B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2 · ARNAB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841248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EDEF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Agent Loop &amp; Tool Calling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572768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8C9B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Models guess confidently at exact things. Tools — just Python functions — fix that.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85800" y="2331720"/>
            <a:ext cx="5120640" cy="2651760"/>
          </a:xfrm>
          <a:prstGeom prst="roundRect">
            <a:avLst>
              <a:gd name="adj" fmla="val 3448"/>
            </a:avLst>
          </a:prstGeom>
          <a:solidFill>
            <a:srgbClr val="0D0F22"/>
          </a:solidFill>
          <a:ln w="12700">
            <a:solidFill>
              <a:srgbClr val="2E335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86968" y="2459736"/>
            <a:ext cx="146304" cy="146304"/>
          </a:xfrm>
          <a:prstGeom prst="ellipse">
            <a:avLst/>
          </a:prstGeom>
          <a:solidFill>
            <a:srgbClr val="E06C75"/>
          </a:solidFill>
          <a:ln/>
        </p:spPr>
      </p:sp>
      <p:sp>
        <p:nvSpPr>
          <p:cNvPr id="9" name="Shape 7"/>
          <p:cNvSpPr/>
          <p:nvPr/>
        </p:nvSpPr>
        <p:spPr>
          <a:xfrm>
            <a:off x="1106424" y="2459736"/>
            <a:ext cx="146304" cy="146304"/>
          </a:xfrm>
          <a:prstGeom prst="ellipse">
            <a:avLst/>
          </a:prstGeom>
          <a:solidFill>
            <a:srgbClr val="E5C07B"/>
          </a:solidFill>
          <a:ln/>
        </p:spPr>
      </p:sp>
      <p:sp>
        <p:nvSpPr>
          <p:cNvPr id="10" name="Shape 8"/>
          <p:cNvSpPr/>
          <p:nvPr/>
        </p:nvSpPr>
        <p:spPr>
          <a:xfrm>
            <a:off x="1325880" y="2459736"/>
            <a:ext cx="146304" cy="146304"/>
          </a:xfrm>
          <a:prstGeom prst="ellipse">
            <a:avLst/>
          </a:prstGeom>
          <a:solidFill>
            <a:srgbClr val="98C379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2715768"/>
            <a:ext cx="461772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300" dirty="0">
                <a:solidFill>
                  <a:srgbClr val="ED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tools = {</a:t>
            </a:r>
            <a:endParaRPr lang="en-US" sz="130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1300" dirty="0">
                <a:solidFill>
                  <a:srgbClr val="8C9B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"calculator": lambda e: eval(e),</a:t>
            </a:r>
            <a:endParaRPr lang="en-US" sz="130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1300" dirty="0">
                <a:solidFill>
                  <a:srgbClr val="8C9B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"search": mock_search</a:t>
            </a:r>
            <a:endParaRPr lang="en-US" sz="130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1300" dirty="0">
                <a:solidFill>
                  <a:srgbClr val="ED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marL="0" indent="0" algn="l">
              <a:lnSpc>
                <a:spcPct val="128000"/>
              </a:lnSpc>
              <a:buNone/>
            </a:pPr>
            <a:endParaRPr lang="en-US" sz="130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1300" i="1" dirty="0">
                <a:solidFill>
                  <a:srgbClr val="5C6A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 tool is just a function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172200" y="2331720"/>
            <a:ext cx="5330952" cy="1207008"/>
          </a:xfrm>
          <a:prstGeom prst="roundRect">
            <a:avLst>
              <a:gd name="adj" fmla="val 7576"/>
            </a:avLst>
          </a:prstGeom>
          <a:solidFill>
            <a:srgbClr val="17163A"/>
          </a:solidFill>
          <a:ln w="12700">
            <a:solidFill>
              <a:srgbClr val="2E3350"/>
            </a:solidFill>
            <a:prstDash val="solid"/>
          </a:ln>
        </p:spPr>
      </p:sp>
      <p:pic>
        <p:nvPicPr>
          <p:cNvPr id="13" name="Image 0" descr="/home/claude/deck_build/icons/calculator_cy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520" y="2615184"/>
            <a:ext cx="640080" cy="6400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7223760" y="2468880"/>
            <a:ext cx="4069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EDEF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Confidently wrong
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8C9B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model guesses at big math instead of computing it.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6172200" y="3776472"/>
            <a:ext cx="5330952" cy="1207008"/>
          </a:xfrm>
          <a:prstGeom prst="roundRect">
            <a:avLst>
              <a:gd name="adj" fmla="val 7576"/>
            </a:avLst>
          </a:prstGeom>
          <a:solidFill>
            <a:srgbClr val="17163A"/>
          </a:solidFill>
          <a:ln w="12700">
            <a:solidFill>
              <a:srgbClr val="2E3350"/>
            </a:solidFill>
            <a:prstDash val="solid"/>
          </a:ln>
        </p:spPr>
      </p:sp>
      <p:pic>
        <p:nvPicPr>
          <p:cNvPr id="16" name="Image 1" descr="/home/claude/deck_build/icons/magnify_cya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6520" y="4059936"/>
            <a:ext cx="640080" cy="640080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7223760" y="3913632"/>
            <a:ext cx="4069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EDEF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tool fixes it
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8C9B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normal Python function the model can call for the real answer.</a:t>
            </a:r>
            <a:endParaRPr lang="en-US" sz="1300" dirty="0"/>
          </a:p>
        </p:txBody>
      </p:sp>
      <p:sp>
        <p:nvSpPr>
          <p:cNvPr id="18" name="Text 14"/>
          <p:cNvSpPr txBox="1"/>
          <p:nvPr/>
        </p:nvSpPr>
        <p:spPr>
          <a:xfrm>
            <a:off x="685800" y="5230368"/>
            <a:ext cx="108173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7DD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reason → act</a:t>
            </a:r>
            <a:endParaRPr lang="en-US" sz="1500" dirty="0"/>
          </a:p>
        </p:txBody>
      </p:sp>
      <p:sp>
        <p:nvSpPr>
          <p:cNvPr id="19" name="Shape 15"/>
          <p:cNvSpPr/>
          <p:nvPr/>
        </p:nvSpPr>
        <p:spPr>
          <a:xfrm>
            <a:off x="685800" y="5585679"/>
            <a:ext cx="10817352" cy="566928"/>
          </a:xfrm>
          <a:prstGeom prst="roundRect">
            <a:avLst>
              <a:gd name="adj" fmla="val 16129"/>
            </a:avLst>
          </a:prstGeom>
          <a:solidFill>
            <a:srgbClr val="17163A"/>
          </a:solidFill>
          <a:ln w="12700">
            <a:solidFill>
              <a:srgbClr val="7DD8E0"/>
            </a:solidFill>
            <a:prstDash val="dash"/>
          </a:ln>
        </p:spPr>
      </p:sp>
      <p:pic>
        <p:nvPicPr>
          <p:cNvPr id="20" name="Image 2" descr="/home/claude/deck_build/icons/rotate_cya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42432" y="5669280"/>
            <a:ext cx="347472" cy="347472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685800" y="617220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7DD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observe</a:t>
            </a:r>
          </a:p>
        </p:txBody>
      </p:sp>
      <p:pic>
        <p:nvPicPr>
          <p:cNvPr id="22" name="Picture 21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07635" y="-55735"/>
            <a:ext cx="1022606" cy="1022606"/>
          </a:xfrm>
          <a:prstGeom prst="rect">
            <a:avLst/>
          </a:prstGeom>
        </p:spPr>
      </p:pic>
      <p:pic>
        <p:nvPicPr>
          <p:cNvPr id="23" name="Picture 22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1786"/>
            <a:ext cx="1645096" cy="71240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507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64739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200" dirty="0">
                <a:solidFill>
                  <a:srgbClr val="8C9B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ALCHEMY 4.0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0881360" y="647395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C9B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50292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kern="0" spc="300" dirty="0">
                <a:solidFill>
                  <a:srgbClr val="8C9B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3 · AARAV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841248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EDEF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 &amp; Planning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572768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8C9B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Goldfish Atlas forgets everything. Memory is just a list you keep appending to.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85800" y="2331720"/>
            <a:ext cx="5120640" cy="2651760"/>
          </a:xfrm>
          <a:prstGeom prst="roundRect">
            <a:avLst>
              <a:gd name="adj" fmla="val 3448"/>
            </a:avLst>
          </a:prstGeom>
          <a:solidFill>
            <a:srgbClr val="17163A"/>
          </a:solidFill>
          <a:ln w="12700">
            <a:solidFill>
              <a:srgbClr val="2E3350"/>
            </a:solidFill>
            <a:prstDash val="solid"/>
          </a:ln>
        </p:spPr>
      </p:sp>
      <p:pic>
        <p:nvPicPr>
          <p:cNvPr id="8" name="Image 0" descr="/home/claude/deck_build/icons/fish_di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3246120"/>
            <a:ext cx="822960" cy="82296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2331720" y="3520440"/>
            <a:ext cx="822960" cy="320040"/>
          </a:xfrm>
          <a:prstGeom prst="rightArrow">
            <a:avLst/>
          </a:prstGeom>
          <a:solidFill>
            <a:srgbClr val="F5C542"/>
          </a:solidFill>
          <a:ln/>
        </p:spPr>
      </p:sp>
      <p:pic>
        <p:nvPicPr>
          <p:cNvPr id="10" name="Image 1" descr="/home/claude/deck_build/icons/notebook_gol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3200400"/>
            <a:ext cx="914400" cy="91440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868680" y="416052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4E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Goldfish Atlas</a:t>
            </a:r>
            <a:endParaRPr lang="en-US" sz="1100" dirty="0"/>
          </a:p>
        </p:txBody>
      </p:sp>
      <p:sp>
        <p:nvSpPr>
          <p:cNvPr id="12" name="Text 8"/>
          <p:cNvSpPr txBox="1"/>
          <p:nvPr/>
        </p:nvSpPr>
        <p:spPr>
          <a:xfrm>
            <a:off x="3246120" y="420624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5C5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memory = []</a:t>
            </a:r>
            <a:endParaRPr lang="en-US" sz="1200" dirty="0"/>
          </a:p>
        </p:txBody>
      </p:sp>
      <p:sp>
        <p:nvSpPr>
          <p:cNvPr id="13" name="Text 9"/>
          <p:cNvSpPr txBox="1"/>
          <p:nvPr/>
        </p:nvSpPr>
        <p:spPr>
          <a:xfrm>
            <a:off x="6172200" y="2331720"/>
            <a:ext cx="5330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200" dirty="0">
                <a:solidFill>
                  <a:srgbClr val="8C9B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BIG TASK → SMALL STEPS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172200" y="2788920"/>
            <a:ext cx="365760" cy="365760"/>
          </a:xfrm>
          <a:prstGeom prst="ellipse">
            <a:avLst/>
          </a:prstGeom>
          <a:solidFill>
            <a:srgbClr val="17163A"/>
          </a:solidFill>
          <a:ln w="19050">
            <a:solidFill>
              <a:srgbClr val="F5C542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6172200" y="27889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6" name="Text 12"/>
          <p:cNvSpPr txBox="1"/>
          <p:nvPr/>
        </p:nvSpPr>
        <p:spPr>
          <a:xfrm>
            <a:off x="6720840" y="27889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DEF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the week</a:t>
            </a:r>
            <a:endParaRPr lang="en-US" sz="1500" dirty="0"/>
          </a:p>
        </p:txBody>
      </p:sp>
      <p:sp>
        <p:nvSpPr>
          <p:cNvPr id="17" name="Shape 13"/>
          <p:cNvSpPr/>
          <p:nvPr/>
        </p:nvSpPr>
        <p:spPr>
          <a:xfrm>
            <a:off x="6172200" y="3502152"/>
            <a:ext cx="365760" cy="365760"/>
          </a:xfrm>
          <a:prstGeom prst="ellipse">
            <a:avLst/>
          </a:prstGeom>
          <a:solidFill>
            <a:srgbClr val="17163A"/>
          </a:solidFill>
          <a:ln w="19050">
            <a:solidFill>
              <a:srgbClr val="F5C542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6172200" y="35021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9" name="Text 15"/>
          <p:cNvSpPr txBox="1"/>
          <p:nvPr/>
        </p:nvSpPr>
        <p:spPr>
          <a:xfrm>
            <a:off x="6720840" y="350215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DEF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Slot in exams</a:t>
            </a:r>
            <a:endParaRPr lang="en-US" sz="1500" dirty="0"/>
          </a:p>
        </p:txBody>
      </p:sp>
      <p:sp>
        <p:nvSpPr>
          <p:cNvPr id="20" name="Shape 16"/>
          <p:cNvSpPr/>
          <p:nvPr/>
        </p:nvSpPr>
        <p:spPr>
          <a:xfrm>
            <a:off x="6172200" y="4215384"/>
            <a:ext cx="365760" cy="365760"/>
          </a:xfrm>
          <a:prstGeom prst="ellipse">
            <a:avLst/>
          </a:prstGeom>
          <a:solidFill>
            <a:srgbClr val="17163A"/>
          </a:solidFill>
          <a:ln w="19050">
            <a:solidFill>
              <a:srgbClr val="F5C542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6172200" y="42153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22" name="Text 18"/>
          <p:cNvSpPr txBox="1"/>
          <p:nvPr/>
        </p:nvSpPr>
        <p:spPr>
          <a:xfrm>
            <a:off x="6720840" y="4215384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DEF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Fit practice around them</a:t>
            </a:r>
            <a:endParaRPr lang="en-US" sz="1500" dirty="0"/>
          </a:p>
        </p:txBody>
      </p:sp>
      <p:sp>
        <p:nvSpPr>
          <p:cNvPr id="23" name="Shape 19"/>
          <p:cNvSpPr/>
          <p:nvPr/>
        </p:nvSpPr>
        <p:spPr>
          <a:xfrm>
            <a:off x="685800" y="5349240"/>
            <a:ext cx="10817352" cy="566928"/>
          </a:xfrm>
          <a:prstGeom prst="roundRect">
            <a:avLst>
              <a:gd name="adj" fmla="val 16129"/>
            </a:avLst>
          </a:prstGeom>
          <a:solidFill>
            <a:srgbClr val="17163A"/>
          </a:solidFill>
          <a:ln w="12700">
            <a:solidFill>
              <a:srgbClr val="2E3350"/>
            </a:solidFill>
            <a:prstDash val="solid"/>
          </a:ln>
        </p:spPr>
      </p:sp>
      <p:sp>
        <p:nvSpPr>
          <p:cNvPr id="24" name="Text 20"/>
          <p:cNvSpPr txBox="1"/>
          <p:nvPr/>
        </p:nvSpPr>
        <p:spPr>
          <a:xfrm>
            <a:off x="868680" y="5349240"/>
            <a:ext cx="104515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i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it down, read it back</a:t>
            </a:r>
            <a:r>
              <a:rPr lang="en-US" sz="1600" i="1" dirty="0">
                <a:solidFill>
                  <a:srgbClr val="8C9B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memory is a plain Python list.</a:t>
            </a:r>
            <a:endParaRPr lang="en-US" sz="1600" dirty="0"/>
          </a:p>
        </p:txBody>
      </p:sp>
      <p:pic>
        <p:nvPicPr>
          <p:cNvPr id="25" name="Picture 2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07635" y="-55735"/>
            <a:ext cx="1022606" cy="1022606"/>
          </a:xfrm>
          <a:prstGeom prst="rect">
            <a:avLst/>
          </a:prstGeom>
        </p:spPr>
      </p:pic>
      <p:pic>
        <p:nvPicPr>
          <p:cNvPr id="26" name="Picture 25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1786"/>
            <a:ext cx="1645096" cy="71240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507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64739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200" dirty="0">
                <a:solidFill>
                  <a:srgbClr val="8C9B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ALCHEMY 4.0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0881360" y="647395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C9B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0" y="502920"/>
            <a:ext cx="121916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kern="0" spc="300" dirty="0">
                <a:solidFill>
                  <a:srgbClr val="8C9B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WE CODE · TECHNICAL PRIMER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606040"/>
            <a:ext cx="1072591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EDEF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we code:</a:t>
            </a:r>
            <a:endParaRPr lang="en-US" sz="42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this actually </a:t>
            </a:r>
            <a:r>
              <a:rPr lang="en-US" sz="4200" b="1" dirty="0" smtClean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</a:t>
            </a:r>
            <a:endParaRPr lang="en-US" sz="42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4160520"/>
            <a:ext cx="10725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8C9B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Six quick technical ideas — then we build the real </a:t>
            </a:r>
            <a:r>
              <a:rPr lang="en-US" sz="1700" dirty="0" smtClean="0">
                <a:solidFill>
                  <a:srgbClr val="8C9B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thing</a:t>
            </a:r>
            <a:endParaRPr lang="en-US" sz="1700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07635" y="-55735"/>
            <a:ext cx="1022606" cy="1022606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1786"/>
            <a:ext cx="1645096" cy="71240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507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64739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200" dirty="0">
                <a:solidFill>
                  <a:srgbClr val="8C9B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ALCHEMY 4.0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0881360" y="647395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C9B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50292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kern="0" spc="300" dirty="0">
                <a:solidFill>
                  <a:srgbClr val="8C9B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PRIMER · 1 OF 6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841248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EDEF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call_llm() actually does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572768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8C9B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'agent' you'll ever hear about is this one round trip, repeated.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1043788" y="2286000"/>
            <a:ext cx="2286000" cy="1554480"/>
          </a:xfrm>
          <a:prstGeom prst="roundRect">
            <a:avLst>
              <a:gd name="adj" fmla="val 5882"/>
            </a:avLst>
          </a:prstGeom>
          <a:solidFill>
            <a:srgbClr val="17163A"/>
          </a:solidFill>
          <a:ln w="12700">
            <a:solidFill>
              <a:srgbClr val="2E3350"/>
            </a:solidFill>
            <a:prstDash val="solid"/>
          </a:ln>
        </p:spPr>
      </p:sp>
      <p:pic>
        <p:nvPicPr>
          <p:cNvPr id="8" name="Image 0" descr="/home/claude/deck_build/icons/FaComment_cy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66748" y="2487168"/>
            <a:ext cx="640080" cy="64008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043788" y="32004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DEF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prompt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1135228" y="349300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C9B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 + user text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3357220" y="2962656"/>
            <a:ext cx="265176" cy="201168"/>
          </a:xfrm>
          <a:prstGeom prst="rightArrow">
            <a:avLst/>
          </a:prstGeom>
          <a:solidFill>
            <a:srgbClr val="F5C542"/>
          </a:solidFill>
          <a:ln/>
        </p:spPr>
      </p:sp>
      <p:sp>
        <p:nvSpPr>
          <p:cNvPr id="12" name="Shape 9"/>
          <p:cNvSpPr/>
          <p:nvPr/>
        </p:nvSpPr>
        <p:spPr>
          <a:xfrm>
            <a:off x="3649828" y="2286000"/>
            <a:ext cx="2286000" cy="1554480"/>
          </a:xfrm>
          <a:prstGeom prst="roundRect">
            <a:avLst>
              <a:gd name="adj" fmla="val 5882"/>
            </a:avLst>
          </a:prstGeom>
          <a:solidFill>
            <a:srgbClr val="17163A"/>
          </a:solidFill>
          <a:ln w="12700">
            <a:solidFill>
              <a:srgbClr val="2E3350"/>
            </a:solidFill>
            <a:prstDash val="solid"/>
          </a:ln>
        </p:spPr>
      </p:sp>
      <p:pic>
        <p:nvPicPr>
          <p:cNvPr id="13" name="Image 1" descr="/home/claude/deck_build/icons/FaServer_gol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72788" y="2487168"/>
            <a:ext cx="640080" cy="64008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3649828" y="32004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DEF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Groq API</a:t>
            </a:r>
            <a:endParaRPr lang="en-US" sz="1400" dirty="0"/>
          </a:p>
        </p:txBody>
      </p:sp>
      <p:sp>
        <p:nvSpPr>
          <p:cNvPr id="15" name="Text 11"/>
          <p:cNvSpPr txBox="1"/>
          <p:nvPr/>
        </p:nvSpPr>
        <p:spPr>
          <a:xfrm>
            <a:off x="3741268" y="349300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C9B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one HTTPS request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5963260" y="2962656"/>
            <a:ext cx="265176" cy="201168"/>
          </a:xfrm>
          <a:prstGeom prst="rightArrow">
            <a:avLst/>
          </a:prstGeom>
          <a:solidFill>
            <a:srgbClr val="F5C542"/>
          </a:solidFill>
          <a:ln/>
        </p:spPr>
      </p:sp>
      <p:sp>
        <p:nvSpPr>
          <p:cNvPr id="17" name="Shape 13"/>
          <p:cNvSpPr/>
          <p:nvPr/>
        </p:nvSpPr>
        <p:spPr>
          <a:xfrm>
            <a:off x="6255868" y="2286000"/>
            <a:ext cx="2286000" cy="1554480"/>
          </a:xfrm>
          <a:prstGeom prst="roundRect">
            <a:avLst>
              <a:gd name="adj" fmla="val 5882"/>
            </a:avLst>
          </a:prstGeom>
          <a:solidFill>
            <a:srgbClr val="17163A"/>
          </a:solidFill>
          <a:ln w="12700">
            <a:solidFill>
              <a:srgbClr val="2E3350"/>
            </a:solidFill>
            <a:prstDash val="solid"/>
          </a:ln>
        </p:spPr>
      </p:sp>
      <p:pic>
        <p:nvPicPr>
          <p:cNvPr id="18" name="Image 2" descr="/home/claude/deck_build/icons/brain_gol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78828" y="2487168"/>
            <a:ext cx="640080" cy="64008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6255868" y="32004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DEF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model</a:t>
            </a:r>
            <a:endParaRPr lang="en-US" sz="1400" dirty="0"/>
          </a:p>
        </p:txBody>
      </p:sp>
      <p:sp>
        <p:nvSpPr>
          <p:cNvPr id="20" name="Text 15"/>
          <p:cNvSpPr txBox="1"/>
          <p:nvPr/>
        </p:nvSpPr>
        <p:spPr>
          <a:xfrm>
            <a:off x="6347308" y="349300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C9B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predicts a reply</a:t>
            </a:r>
            <a:endParaRPr lang="en-US" sz="1200" dirty="0"/>
          </a:p>
        </p:txBody>
      </p:sp>
      <p:sp>
        <p:nvSpPr>
          <p:cNvPr id="21" name="Shape 16"/>
          <p:cNvSpPr/>
          <p:nvPr/>
        </p:nvSpPr>
        <p:spPr>
          <a:xfrm>
            <a:off x="8569300" y="2962656"/>
            <a:ext cx="265176" cy="201168"/>
          </a:xfrm>
          <a:prstGeom prst="rightArrow">
            <a:avLst/>
          </a:prstGeom>
          <a:solidFill>
            <a:srgbClr val="F5C542"/>
          </a:solidFill>
          <a:ln/>
        </p:spPr>
      </p:sp>
      <p:sp>
        <p:nvSpPr>
          <p:cNvPr id="22" name="Shape 17"/>
          <p:cNvSpPr/>
          <p:nvPr/>
        </p:nvSpPr>
        <p:spPr>
          <a:xfrm>
            <a:off x="8861908" y="2286000"/>
            <a:ext cx="2286000" cy="1554480"/>
          </a:xfrm>
          <a:prstGeom prst="roundRect">
            <a:avLst>
              <a:gd name="adj" fmla="val 5882"/>
            </a:avLst>
          </a:prstGeom>
          <a:solidFill>
            <a:srgbClr val="17163A"/>
          </a:solidFill>
          <a:ln w="12700">
            <a:solidFill>
              <a:srgbClr val="2E3350"/>
            </a:solidFill>
            <a:prstDash val="solid"/>
          </a:ln>
        </p:spPr>
      </p:sp>
      <p:pic>
        <p:nvPicPr>
          <p:cNvPr id="23" name="Image 3" descr="/home/claude/deck_build/icons/FaComment_cy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84868" y="2487168"/>
            <a:ext cx="640080" cy="640080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8861908" y="32004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DEF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 back</a:t>
            </a:r>
            <a:endParaRPr lang="en-US" sz="1400" dirty="0"/>
          </a:p>
        </p:txBody>
      </p:sp>
      <p:sp>
        <p:nvSpPr>
          <p:cNvPr id="25" name="Text 19"/>
          <p:cNvSpPr txBox="1"/>
          <p:nvPr/>
        </p:nvSpPr>
        <p:spPr>
          <a:xfrm>
            <a:off x="8953348" y="349300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C9B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resp.choices[0]</a:t>
            </a:r>
            <a:endParaRPr lang="en-US" sz="1200" dirty="0"/>
          </a:p>
        </p:txBody>
      </p:sp>
      <p:sp>
        <p:nvSpPr>
          <p:cNvPr id="26" name="Shape 20"/>
          <p:cNvSpPr/>
          <p:nvPr/>
        </p:nvSpPr>
        <p:spPr>
          <a:xfrm>
            <a:off x="685800" y="4343400"/>
            <a:ext cx="10817352" cy="1508760"/>
          </a:xfrm>
          <a:prstGeom prst="roundRect">
            <a:avLst>
              <a:gd name="adj" fmla="val 6061"/>
            </a:avLst>
          </a:prstGeom>
          <a:solidFill>
            <a:srgbClr val="0D0F22"/>
          </a:solidFill>
          <a:ln w="12700">
            <a:solidFill>
              <a:srgbClr val="2E3350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886968" y="4471416"/>
            <a:ext cx="146304" cy="146304"/>
          </a:xfrm>
          <a:prstGeom prst="ellipse">
            <a:avLst/>
          </a:prstGeom>
          <a:solidFill>
            <a:srgbClr val="E06C75"/>
          </a:solidFill>
          <a:ln/>
        </p:spPr>
      </p:sp>
      <p:sp>
        <p:nvSpPr>
          <p:cNvPr id="28" name="Shape 22"/>
          <p:cNvSpPr/>
          <p:nvPr/>
        </p:nvSpPr>
        <p:spPr>
          <a:xfrm>
            <a:off x="1106424" y="4471416"/>
            <a:ext cx="146304" cy="146304"/>
          </a:xfrm>
          <a:prstGeom prst="ellipse">
            <a:avLst/>
          </a:prstGeom>
          <a:solidFill>
            <a:srgbClr val="E5C07B"/>
          </a:solidFill>
          <a:ln/>
        </p:spPr>
      </p:sp>
      <p:sp>
        <p:nvSpPr>
          <p:cNvPr id="29" name="Shape 23"/>
          <p:cNvSpPr/>
          <p:nvPr/>
        </p:nvSpPr>
        <p:spPr>
          <a:xfrm>
            <a:off x="1325880" y="4471416"/>
            <a:ext cx="146304" cy="146304"/>
          </a:xfrm>
          <a:prstGeom prst="ellipse">
            <a:avLst/>
          </a:prstGeom>
          <a:solidFill>
            <a:srgbClr val="98C379"/>
          </a:solidFill>
          <a:ln/>
        </p:spPr>
      </p:sp>
      <p:sp>
        <p:nvSpPr>
          <p:cNvPr id="30" name="Text 24"/>
          <p:cNvSpPr txBox="1"/>
          <p:nvPr/>
        </p:nvSpPr>
        <p:spPr>
          <a:xfrm>
            <a:off x="960120" y="4727448"/>
            <a:ext cx="1031443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500" dirty="0">
                <a:solidFill>
                  <a:srgbClr val="ED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resp = client.chat.completions.create(model=MODEL, messages=messages)</a:t>
            </a:r>
            <a:endParaRPr lang="en-US" sz="150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1500" dirty="0">
                <a:solidFill>
                  <a:srgbClr val="ED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resp.choices[0].message.content</a:t>
            </a:r>
            <a:endParaRPr lang="en-US" sz="150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1500" i="1" dirty="0">
                <a:solidFill>
                  <a:srgbClr val="5C6A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one request in, one block of text back — that's the whole trick</a:t>
            </a:r>
            <a:endParaRPr lang="en-US" sz="1500" dirty="0"/>
          </a:p>
        </p:txBody>
      </p:sp>
      <p:pic>
        <p:nvPicPr>
          <p:cNvPr id="31" name="Picture 30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07635" y="-55735"/>
            <a:ext cx="1022606" cy="1022606"/>
          </a:xfrm>
          <a:prstGeom prst="rect">
            <a:avLst/>
          </a:prstGeom>
        </p:spPr>
      </p:pic>
      <p:pic>
        <p:nvPicPr>
          <p:cNvPr id="32" name="Picture 31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1786"/>
            <a:ext cx="1645096" cy="71240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507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64739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200" dirty="0">
                <a:solidFill>
                  <a:srgbClr val="8C9B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ALCHEMY 4.0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0881360" y="647395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C9B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50292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kern="0" spc="300" dirty="0">
                <a:solidFill>
                  <a:srgbClr val="8C9B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PRIMER · 2 OF 6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841248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EDEF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inputs, two very different jobs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572768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8C9B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call_llm() sends two kinds of text. Mixing them up is the #1 beginner bug.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85800" y="2423160"/>
            <a:ext cx="5120640" cy="3108960"/>
          </a:xfrm>
          <a:prstGeom prst="roundRect">
            <a:avLst>
              <a:gd name="adj" fmla="val 2941"/>
            </a:avLst>
          </a:prstGeom>
          <a:solidFill>
            <a:srgbClr val="17163A"/>
          </a:solidFill>
          <a:ln w="19050">
            <a:solidFill>
              <a:srgbClr val="7DD8E0"/>
            </a:solidFill>
            <a:prstDash val="solid"/>
          </a:ln>
        </p:spPr>
      </p:sp>
      <p:pic>
        <p:nvPicPr>
          <p:cNvPr id="8" name="Image 0" descr="/home/claude/deck_build/icons/FaComment_cy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2697480"/>
            <a:ext cx="548640" cy="54864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783080" y="269748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7DD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— the role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1051560" y="333756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8C9B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Sets personality, rules, and reply format. The user never sees it — it's the director's note, not a line of dialogue.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1051560" y="4251960"/>
            <a:ext cx="4526280" cy="1051560"/>
          </a:xfrm>
          <a:prstGeom prst="roundRect">
            <a:avLst>
              <a:gd name="adj" fmla="val 8696"/>
            </a:avLst>
          </a:prstGeom>
          <a:solidFill>
            <a:srgbClr val="0D0F22"/>
          </a:solidFill>
          <a:ln w="12700">
            <a:solidFill>
              <a:srgbClr val="2E3350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1234440" y="4389120"/>
            <a:ext cx="4160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i="1" dirty="0">
                <a:solidFill>
                  <a:srgbClr val="8C9B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"You are Atlas, an agent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i="1" dirty="0">
                <a:solidFill>
                  <a:srgbClr val="8C9B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 tools: calculator, search."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6172200" y="2423160"/>
            <a:ext cx="5330952" cy="3108960"/>
          </a:xfrm>
          <a:prstGeom prst="roundRect">
            <a:avLst>
              <a:gd name="adj" fmla="val 2941"/>
            </a:avLst>
          </a:prstGeom>
          <a:solidFill>
            <a:srgbClr val="17163A"/>
          </a:solidFill>
          <a:ln w="19050">
            <a:solidFill>
              <a:srgbClr val="F5C542"/>
            </a:solidFill>
            <a:prstDash val="solid"/>
          </a:ln>
        </p:spPr>
      </p:sp>
      <p:pic>
        <p:nvPicPr>
          <p:cNvPr id="14" name="Image 1" descr="/home/claude/deck_build/icons/FaComment_cy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520" y="2697480"/>
            <a:ext cx="548640" cy="548640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7178040" y="2697480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/ prompt — the ask</a:t>
            </a:r>
            <a:endParaRPr lang="en-US" sz="1800" dirty="0"/>
          </a:p>
        </p:txBody>
      </p:sp>
      <p:sp>
        <p:nvSpPr>
          <p:cNvPr id="16" name="Text 12"/>
          <p:cNvSpPr txBox="1"/>
          <p:nvPr/>
        </p:nvSpPr>
        <p:spPr>
          <a:xfrm>
            <a:off x="6446520" y="333756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8C9B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actual question or goal for this specific turn. This is what changes call to call.</a:t>
            </a:r>
            <a:endParaRPr lang="en-US" sz="1350" dirty="0"/>
          </a:p>
        </p:txBody>
      </p:sp>
      <p:sp>
        <p:nvSpPr>
          <p:cNvPr id="17" name="Shape 13"/>
          <p:cNvSpPr/>
          <p:nvPr/>
        </p:nvSpPr>
        <p:spPr>
          <a:xfrm>
            <a:off x="6446520" y="4251960"/>
            <a:ext cx="4782312" cy="1051560"/>
          </a:xfrm>
          <a:prstGeom prst="roundRect">
            <a:avLst>
              <a:gd name="adj" fmla="val 8696"/>
            </a:avLst>
          </a:prstGeom>
          <a:solidFill>
            <a:srgbClr val="0D0F22"/>
          </a:solidFill>
          <a:ln w="12700">
            <a:solidFill>
              <a:srgbClr val="2E3350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6629400" y="4389120"/>
            <a:ext cx="4416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i="1" dirty="0">
                <a:solidFill>
                  <a:srgbClr val="8C9B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"What is 3847 * 219?"</a:t>
            </a:r>
            <a:endParaRPr lang="en-US" sz="1250" dirty="0"/>
          </a:p>
        </p:txBody>
      </p:sp>
      <p:sp>
        <p:nvSpPr>
          <p:cNvPr id="19" name="Shape 15"/>
          <p:cNvSpPr/>
          <p:nvPr/>
        </p:nvSpPr>
        <p:spPr>
          <a:xfrm>
            <a:off x="685800" y="5760720"/>
            <a:ext cx="10817352" cy="548640"/>
          </a:xfrm>
          <a:prstGeom prst="roundRect">
            <a:avLst>
              <a:gd name="adj" fmla="val 16667"/>
            </a:avLst>
          </a:prstGeom>
          <a:solidFill>
            <a:srgbClr val="17163A"/>
          </a:solidFill>
          <a:ln w="12700">
            <a:solidFill>
              <a:srgbClr val="2E3350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868680" y="5760720"/>
            <a:ext cx="104515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i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 the system prompt</a:t>
            </a:r>
            <a:r>
              <a:rPr lang="en-US" sz="1600" i="1" dirty="0">
                <a:solidFill>
                  <a:srgbClr val="8C9B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and the exact same model behaves like a completely different agent.</a:t>
            </a:r>
            <a:endParaRPr lang="en-US" sz="1600" dirty="0"/>
          </a:p>
        </p:txBody>
      </p:sp>
      <p:pic>
        <p:nvPicPr>
          <p:cNvPr id="21" name="Picture 2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07635" y="-55735"/>
            <a:ext cx="1022606" cy="1022606"/>
          </a:xfrm>
          <a:prstGeom prst="rect">
            <a:avLst/>
          </a:prstGeom>
        </p:spPr>
      </p:pic>
      <p:pic>
        <p:nvPicPr>
          <p:cNvPr id="22" name="Picture 2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1786"/>
            <a:ext cx="1645096" cy="71240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507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64739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200" dirty="0">
                <a:solidFill>
                  <a:srgbClr val="8C9B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ALCHEMY 4.0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0881360" y="647395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C9B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50292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kern="0" spc="300" dirty="0">
                <a:solidFill>
                  <a:srgbClr val="8C9B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PRIMER · 3 OF 6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841248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EDEF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the brain needs help with exact things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572768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8C9B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language model predicts the next likely word. It does not calculate.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85800" y="2331720"/>
            <a:ext cx="10817352" cy="640080"/>
          </a:xfrm>
          <a:prstGeom prst="roundRect">
            <a:avLst>
              <a:gd name="adj" fmla="val 14286"/>
            </a:avLst>
          </a:prstGeom>
          <a:solidFill>
            <a:srgbClr val="0D0F22"/>
          </a:solidFill>
          <a:ln w="12700">
            <a:solidFill>
              <a:srgbClr val="2E335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60120" y="233172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ED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3847 × 219 = ?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4754880" y="2331720"/>
            <a:ext cx="5852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i="1" dirty="0">
                <a:solidFill>
                  <a:srgbClr val="5C6A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model must predict the next token here →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32461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D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"839,041"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017520" y="3300984"/>
            <a:ext cx="2624328" cy="347472"/>
          </a:xfrm>
          <a:prstGeom prst="rect">
            <a:avLst/>
          </a:prstGeom>
          <a:solidFill>
            <a:srgbClr val="E06C75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779008" y="324612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C9B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35%  confident — and wrong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85800" y="390448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D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"850,000"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017520" y="3959352"/>
            <a:ext cx="2024482" cy="347472"/>
          </a:xfrm>
          <a:prstGeom prst="rect">
            <a:avLst/>
          </a:prstGeom>
          <a:solidFill>
            <a:srgbClr val="FFC000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179162" y="390448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C9B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27%  confident — and wrong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85800" y="4562856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D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"842,493"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017520" y="4617720"/>
            <a:ext cx="1649578" cy="347472"/>
          </a:xfrm>
          <a:prstGeom prst="rect">
            <a:avLst/>
          </a:prstGeom>
          <a:solidFill>
            <a:srgbClr val="92D050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4804258" y="4562856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C9B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22%  the actual answer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85800" y="5221224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D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"about 840k"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017520" y="5276088"/>
            <a:ext cx="1199693" cy="347472"/>
          </a:xfrm>
          <a:prstGeom prst="rect">
            <a:avLst/>
          </a:prstGeom>
          <a:solidFill>
            <a:srgbClr val="4A4E6B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4354373" y="5221224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C9B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16%  hedging — still a guess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85800" y="5806440"/>
            <a:ext cx="10817352" cy="548640"/>
          </a:xfrm>
          <a:prstGeom prst="roundRect">
            <a:avLst>
              <a:gd name="adj" fmla="val 16667"/>
            </a:avLst>
          </a:prstGeom>
          <a:solidFill>
            <a:srgbClr val="17163A"/>
          </a:solidFill>
          <a:ln w="12700">
            <a:solidFill>
              <a:srgbClr val="2E335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68680" y="5806440"/>
            <a:ext cx="104515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i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Confidence isn't correctness.</a:t>
            </a:r>
            <a:r>
              <a:rPr lang="en-US" sz="1600" i="1" dirty="0">
                <a:solidFill>
                  <a:srgbClr val="8C9B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This is exactly why Session 2 gave Atlas a calculator instead of trusting the guess.</a:t>
            </a:r>
            <a:endParaRPr lang="en-US" sz="1600" dirty="0"/>
          </a:p>
        </p:txBody>
      </p:sp>
      <p:pic>
        <p:nvPicPr>
          <p:cNvPr id="24" name="Picture 2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07635" y="-55735"/>
            <a:ext cx="1022606" cy="1022606"/>
          </a:xfrm>
          <a:prstGeom prst="rect">
            <a:avLst/>
          </a:prstGeom>
        </p:spPr>
      </p:pic>
      <p:pic>
        <p:nvPicPr>
          <p:cNvPr id="25" name="Picture 2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1786"/>
            <a:ext cx="1645096" cy="71240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507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64739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200" dirty="0">
                <a:solidFill>
                  <a:srgbClr val="8C9B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ALCHEMY 4.0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0881360" y="647395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C9B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50292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kern="0" spc="300" dirty="0">
                <a:solidFill>
                  <a:srgbClr val="8C9B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PRIMER · 4 OF 6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946622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EDEF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Anatomy of a tool call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572768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8C9B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'tool' is just a Python function: a name, an input, and a return value.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1737360" y="2606040"/>
            <a:ext cx="8714232" cy="1051560"/>
          </a:xfrm>
          <a:prstGeom prst="roundRect">
            <a:avLst>
              <a:gd name="adj" fmla="val 8696"/>
            </a:avLst>
          </a:prstGeom>
          <a:solidFill>
            <a:srgbClr val="0D0F22"/>
          </a:solidFill>
          <a:ln w="12700">
            <a:solidFill>
              <a:srgbClr val="2E335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938528" y="2734056"/>
            <a:ext cx="146304" cy="146304"/>
          </a:xfrm>
          <a:prstGeom prst="ellipse">
            <a:avLst/>
          </a:prstGeom>
          <a:solidFill>
            <a:srgbClr val="E06C75"/>
          </a:solidFill>
          <a:ln/>
        </p:spPr>
      </p:sp>
      <p:sp>
        <p:nvSpPr>
          <p:cNvPr id="9" name="Shape 7"/>
          <p:cNvSpPr/>
          <p:nvPr/>
        </p:nvSpPr>
        <p:spPr>
          <a:xfrm>
            <a:off x="2157984" y="2734056"/>
            <a:ext cx="146304" cy="146304"/>
          </a:xfrm>
          <a:prstGeom prst="ellipse">
            <a:avLst/>
          </a:prstGeom>
          <a:solidFill>
            <a:srgbClr val="E5C07B"/>
          </a:solidFill>
          <a:ln/>
        </p:spPr>
      </p:sp>
      <p:sp>
        <p:nvSpPr>
          <p:cNvPr id="10" name="Shape 8"/>
          <p:cNvSpPr/>
          <p:nvPr/>
        </p:nvSpPr>
        <p:spPr>
          <a:xfrm>
            <a:off x="2377440" y="2734056"/>
            <a:ext cx="146304" cy="146304"/>
          </a:xfrm>
          <a:prstGeom prst="ellipse">
            <a:avLst/>
          </a:prstGeom>
          <a:solidFill>
            <a:srgbClr val="98C379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2011680" y="2990088"/>
            <a:ext cx="82113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2200" dirty="0">
                <a:solidFill>
                  <a:srgbClr val="ED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tools["calculator"]("3847 * 219")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2788920" y="3657600"/>
            <a:ext cx="457200" cy="502920"/>
          </a:xfrm>
          <a:prstGeom prst="line">
            <a:avLst/>
          </a:prstGeom>
          <a:noFill/>
          <a:ln w="19050">
            <a:solidFill>
              <a:srgbClr val="F5C54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600200" y="4160520"/>
            <a:ext cx="2651760" cy="777240"/>
          </a:xfrm>
          <a:prstGeom prst="roundRect">
            <a:avLst>
              <a:gd name="adj" fmla="val 11765"/>
            </a:avLst>
          </a:prstGeom>
          <a:solidFill>
            <a:srgbClr val="17163A"/>
          </a:solidFill>
          <a:ln w="15875">
            <a:solidFill>
              <a:srgbClr val="F5C54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737360" y="4224528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
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8C9B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tool to use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309360" y="3657600"/>
            <a:ext cx="9144" cy="502920"/>
          </a:xfrm>
          <a:prstGeom prst="line">
            <a:avLst/>
          </a:prstGeom>
          <a:noFill/>
          <a:ln w="19050">
            <a:solidFill>
              <a:srgbClr val="7DD8E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983480" y="4160520"/>
            <a:ext cx="2651760" cy="777240"/>
          </a:xfrm>
          <a:prstGeom prst="roundRect">
            <a:avLst>
              <a:gd name="adj" fmla="val 11765"/>
            </a:avLst>
          </a:prstGeom>
          <a:solidFill>
            <a:srgbClr val="17163A"/>
          </a:solidFill>
          <a:ln w="15875">
            <a:solidFill>
              <a:srgbClr val="7DD8E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120640" y="4224528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7DD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
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8C9B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to hand it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9418320" y="3657600"/>
            <a:ext cx="502920" cy="502920"/>
          </a:xfrm>
          <a:prstGeom prst="line">
            <a:avLst/>
          </a:prstGeom>
          <a:noFill/>
          <a:ln w="19050">
            <a:solidFill>
              <a:srgbClr val="98C37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366760" y="4160520"/>
            <a:ext cx="2651760" cy="777240"/>
          </a:xfrm>
          <a:prstGeom prst="roundRect">
            <a:avLst>
              <a:gd name="adj" fmla="val 11765"/>
            </a:avLst>
          </a:prstGeom>
          <a:solidFill>
            <a:srgbClr val="17163A"/>
          </a:solidFill>
          <a:ln w="15875">
            <a:solidFill>
              <a:srgbClr val="98C379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503920" y="4224528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98C3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return value
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8C9B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842493 — feeds back in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85800" y="5257800"/>
            <a:ext cx="10817352" cy="548640"/>
          </a:xfrm>
          <a:prstGeom prst="roundRect">
            <a:avLst>
              <a:gd name="adj" fmla="val 16667"/>
            </a:avLst>
          </a:prstGeom>
          <a:solidFill>
            <a:srgbClr val="17163A"/>
          </a:solidFill>
          <a:ln w="12700">
            <a:solidFill>
              <a:srgbClr val="2E3350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68680" y="5257800"/>
            <a:ext cx="104515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i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idea</a:t>
            </a:r>
            <a:r>
              <a:rPr lang="en-US" sz="1600" i="1" dirty="0">
                <a:solidFill>
                  <a:srgbClr val="8C9B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whether it's a calculator, a search engine, or a real production API.</a:t>
            </a:r>
            <a:endParaRPr lang="en-US" sz="1600" dirty="0"/>
          </a:p>
        </p:txBody>
      </p:sp>
      <p:pic>
        <p:nvPicPr>
          <p:cNvPr id="23" name="Picture 2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07635" y="-55735"/>
            <a:ext cx="1022606" cy="1022606"/>
          </a:xfrm>
          <a:prstGeom prst="rect">
            <a:avLst/>
          </a:prstGeom>
        </p:spPr>
      </p:pic>
      <p:pic>
        <p:nvPicPr>
          <p:cNvPr id="24" name="Picture 2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1786"/>
            <a:ext cx="1645096" cy="71240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507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64739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200" dirty="0">
                <a:solidFill>
                  <a:srgbClr val="8C9B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ALCHEMY 4.0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0881360" y="647395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C9B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50292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kern="0" spc="300" dirty="0">
                <a:solidFill>
                  <a:srgbClr val="8C9B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PRIMER · 5 OF 6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980367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EDEF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 is just a list that keeps growing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572768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8C9B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turn appends to it. The whole thing gets re-sent to the model, every single time.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85800" y="2286000"/>
            <a:ext cx="1463040" cy="1033272"/>
          </a:xfrm>
          <a:prstGeom prst="roundRect">
            <a:avLst>
              <a:gd name="adj" fmla="val 8850"/>
            </a:avLst>
          </a:prstGeom>
          <a:solidFill>
            <a:srgbClr val="17163A"/>
          </a:solidFill>
          <a:ln w="12700">
            <a:solidFill>
              <a:srgbClr val="2E335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2286000"/>
            <a:ext cx="1463040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DEF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 1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2423160" y="2286000"/>
            <a:ext cx="9125712" cy="1033272"/>
          </a:xfrm>
          <a:prstGeom prst="roundRect">
            <a:avLst>
              <a:gd name="adj" fmla="val 8850"/>
            </a:avLst>
          </a:prstGeom>
          <a:solidFill>
            <a:srgbClr val="0D0F22"/>
          </a:solidFill>
          <a:ln w="12700">
            <a:solidFill>
              <a:srgbClr val="2E335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624328" y="2414016"/>
            <a:ext cx="146304" cy="146304"/>
          </a:xfrm>
          <a:prstGeom prst="ellipse">
            <a:avLst/>
          </a:prstGeom>
          <a:solidFill>
            <a:srgbClr val="E06C75"/>
          </a:solidFill>
          <a:ln/>
        </p:spPr>
      </p:sp>
      <p:sp>
        <p:nvSpPr>
          <p:cNvPr id="11" name="Shape 9"/>
          <p:cNvSpPr/>
          <p:nvPr/>
        </p:nvSpPr>
        <p:spPr>
          <a:xfrm>
            <a:off x="2843784" y="2414016"/>
            <a:ext cx="146304" cy="146304"/>
          </a:xfrm>
          <a:prstGeom prst="ellipse">
            <a:avLst/>
          </a:prstGeom>
          <a:solidFill>
            <a:srgbClr val="E5C07B"/>
          </a:solidFill>
          <a:ln/>
        </p:spPr>
      </p:sp>
      <p:sp>
        <p:nvSpPr>
          <p:cNvPr id="12" name="Shape 10"/>
          <p:cNvSpPr/>
          <p:nvPr/>
        </p:nvSpPr>
        <p:spPr>
          <a:xfrm>
            <a:off x="3063240" y="2414016"/>
            <a:ext cx="146304" cy="146304"/>
          </a:xfrm>
          <a:prstGeom prst="ellipse">
            <a:avLst/>
          </a:prstGeom>
          <a:solidFill>
            <a:srgbClr val="98C379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2697480" y="2670048"/>
            <a:ext cx="86227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150" dirty="0">
                <a:solidFill>
                  <a:srgbClr val="8C9B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memory = ["GOAL: capital of Japan?"]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85800" y="3447288"/>
            <a:ext cx="1463040" cy="1033272"/>
          </a:xfrm>
          <a:prstGeom prst="roundRect">
            <a:avLst>
              <a:gd name="adj" fmla="val 8850"/>
            </a:avLst>
          </a:prstGeom>
          <a:solidFill>
            <a:srgbClr val="17163A"/>
          </a:solidFill>
          <a:ln w="12700">
            <a:solidFill>
              <a:srgbClr val="2E335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85800" y="3447288"/>
            <a:ext cx="1463040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DEF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 2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2423160" y="3447288"/>
            <a:ext cx="9125712" cy="1033272"/>
          </a:xfrm>
          <a:prstGeom prst="roundRect">
            <a:avLst>
              <a:gd name="adj" fmla="val 8850"/>
            </a:avLst>
          </a:prstGeom>
          <a:solidFill>
            <a:srgbClr val="0D0F22"/>
          </a:solidFill>
          <a:ln w="12700">
            <a:solidFill>
              <a:srgbClr val="2E335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624328" y="3575304"/>
            <a:ext cx="146304" cy="146304"/>
          </a:xfrm>
          <a:prstGeom prst="ellipse">
            <a:avLst/>
          </a:prstGeom>
          <a:solidFill>
            <a:srgbClr val="E06C75"/>
          </a:solidFill>
          <a:ln/>
        </p:spPr>
      </p:sp>
      <p:sp>
        <p:nvSpPr>
          <p:cNvPr id="18" name="Shape 16"/>
          <p:cNvSpPr/>
          <p:nvPr/>
        </p:nvSpPr>
        <p:spPr>
          <a:xfrm>
            <a:off x="2843784" y="3575304"/>
            <a:ext cx="146304" cy="146304"/>
          </a:xfrm>
          <a:prstGeom prst="ellipse">
            <a:avLst/>
          </a:prstGeom>
          <a:solidFill>
            <a:srgbClr val="E5C07B"/>
          </a:solidFill>
          <a:ln/>
        </p:spPr>
      </p:sp>
      <p:sp>
        <p:nvSpPr>
          <p:cNvPr id="19" name="Shape 17"/>
          <p:cNvSpPr/>
          <p:nvPr/>
        </p:nvSpPr>
        <p:spPr>
          <a:xfrm>
            <a:off x="3063240" y="3575304"/>
            <a:ext cx="146304" cy="146304"/>
          </a:xfrm>
          <a:prstGeom prst="ellipse">
            <a:avLst/>
          </a:prstGeom>
          <a:solidFill>
            <a:srgbClr val="98C379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2697480" y="3831336"/>
            <a:ext cx="86227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150" dirty="0">
                <a:solidFill>
                  <a:srgbClr val="8C9B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memory = ["GOAL: ...",</a:t>
            </a:r>
            <a:endParaRPr lang="en-US" sz="11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1150" dirty="0">
                <a:solidFill>
                  <a:srgbClr val="8C9B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"ATLAS: USE: search | capital of japan",</a:t>
            </a:r>
            <a:endParaRPr lang="en-US" sz="11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1150" dirty="0">
                <a:solidFill>
                  <a:srgbClr val="8C9B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"OBSERVATION: Tokyo"]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85800" y="4608576"/>
            <a:ext cx="1463040" cy="1033272"/>
          </a:xfrm>
          <a:prstGeom prst="roundRect">
            <a:avLst>
              <a:gd name="adj" fmla="val 8850"/>
            </a:avLst>
          </a:prstGeom>
          <a:solidFill>
            <a:srgbClr val="17163A"/>
          </a:solidFill>
          <a:ln w="12700">
            <a:solidFill>
              <a:srgbClr val="2E3350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85800" y="4608576"/>
            <a:ext cx="1463040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DEF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 3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2423160" y="4608576"/>
            <a:ext cx="9125712" cy="1033272"/>
          </a:xfrm>
          <a:prstGeom prst="roundRect">
            <a:avLst>
              <a:gd name="adj" fmla="val 8850"/>
            </a:avLst>
          </a:prstGeom>
          <a:solidFill>
            <a:srgbClr val="0D0F22"/>
          </a:solidFill>
          <a:ln w="12700">
            <a:solidFill>
              <a:srgbClr val="2E335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624328" y="4736592"/>
            <a:ext cx="146304" cy="146304"/>
          </a:xfrm>
          <a:prstGeom prst="ellipse">
            <a:avLst/>
          </a:prstGeom>
          <a:solidFill>
            <a:srgbClr val="E06C75"/>
          </a:solidFill>
          <a:ln/>
        </p:spPr>
      </p:sp>
      <p:sp>
        <p:nvSpPr>
          <p:cNvPr id="25" name="Shape 23"/>
          <p:cNvSpPr/>
          <p:nvPr/>
        </p:nvSpPr>
        <p:spPr>
          <a:xfrm>
            <a:off x="2843784" y="4736592"/>
            <a:ext cx="146304" cy="146304"/>
          </a:xfrm>
          <a:prstGeom prst="ellipse">
            <a:avLst/>
          </a:prstGeom>
          <a:solidFill>
            <a:srgbClr val="E5C07B"/>
          </a:solidFill>
          <a:ln/>
        </p:spPr>
      </p:sp>
      <p:sp>
        <p:nvSpPr>
          <p:cNvPr id="26" name="Shape 24"/>
          <p:cNvSpPr/>
          <p:nvPr/>
        </p:nvSpPr>
        <p:spPr>
          <a:xfrm>
            <a:off x="3063240" y="4736592"/>
            <a:ext cx="146304" cy="146304"/>
          </a:xfrm>
          <a:prstGeom prst="ellipse">
            <a:avLst/>
          </a:prstGeom>
          <a:solidFill>
            <a:srgbClr val="98C379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2697480" y="4992624"/>
            <a:ext cx="86227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150" dirty="0">
                <a:solidFill>
                  <a:srgbClr val="8C9B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memory = ["GOAL: ...", "ATLAS: USE: search...",</a:t>
            </a:r>
            <a:endParaRPr lang="en-US" sz="11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1150" dirty="0">
                <a:solidFill>
                  <a:srgbClr val="8C9B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"OBSERVATION: Tokyo",</a:t>
            </a:r>
            <a:endParaRPr lang="en-US" sz="11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1150" dirty="0">
                <a:solidFill>
                  <a:srgbClr val="8C9B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"ATLAS: ANSWER: Tokyo"]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85800" y="5806440"/>
            <a:ext cx="10817352" cy="530352"/>
          </a:xfrm>
          <a:prstGeom prst="roundRect">
            <a:avLst>
              <a:gd name="adj" fmla="val 17241"/>
            </a:avLst>
          </a:prstGeom>
          <a:solidFill>
            <a:srgbClr val="17163A"/>
          </a:solidFill>
          <a:ln w="12700">
            <a:solidFill>
              <a:srgbClr val="2E3350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68680" y="5806440"/>
            <a:ext cx="104515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i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it down, read it back</a:t>
            </a:r>
            <a:r>
              <a:rPr lang="en-US" sz="1600" i="1" dirty="0">
                <a:solidFill>
                  <a:srgbClr val="8C9B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the model doesn't 'remember' you, it just re-reads the whole history every time.</a:t>
            </a:r>
            <a:endParaRPr lang="en-US" sz="1600" dirty="0"/>
          </a:p>
        </p:txBody>
      </p:sp>
      <p:pic>
        <p:nvPicPr>
          <p:cNvPr id="30" name="Picture 2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07635" y="-55735"/>
            <a:ext cx="1022606" cy="1022606"/>
          </a:xfrm>
          <a:prstGeom prst="rect">
            <a:avLst/>
          </a:prstGeom>
        </p:spPr>
      </p:pic>
      <p:pic>
        <p:nvPicPr>
          <p:cNvPr id="31" name="Picture 3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1786"/>
            <a:ext cx="1645096" cy="71240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507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64739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200" dirty="0">
                <a:solidFill>
                  <a:srgbClr val="8C9B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ALCHEMY 4.0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0881360" y="647395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C9B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607468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kern="0" spc="300" dirty="0">
                <a:solidFill>
                  <a:srgbClr val="8C9B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PRIMER · 6 OF 6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987552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EDEF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Planning: break it up before you run it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572768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8C9B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a big goal, make a plan first — then work through the steps one at a time.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85800" y="2468880"/>
            <a:ext cx="3017520" cy="1371600"/>
          </a:xfrm>
          <a:prstGeom prst="roundRect">
            <a:avLst>
              <a:gd name="adj" fmla="val 6667"/>
            </a:avLst>
          </a:prstGeom>
          <a:solidFill>
            <a:srgbClr val="17163A"/>
          </a:solidFill>
          <a:ln w="19050">
            <a:solidFill>
              <a:srgbClr val="F5C54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26060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Big goal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301752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8C9B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"Plan my exam week"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434840" y="3017520"/>
            <a:ext cx="548640" cy="256032"/>
          </a:xfrm>
          <a:prstGeom prst="rightArrow">
            <a:avLst/>
          </a:prstGeom>
          <a:solidFill>
            <a:srgbClr val="F5C542"/>
          </a:solidFill>
          <a:ln/>
        </p:spPr>
      </p:sp>
      <p:sp>
        <p:nvSpPr>
          <p:cNvPr id="11" name="Shape 9"/>
          <p:cNvSpPr/>
          <p:nvPr/>
        </p:nvSpPr>
        <p:spPr>
          <a:xfrm>
            <a:off x="5257800" y="2331720"/>
            <a:ext cx="6245352" cy="502920"/>
          </a:xfrm>
          <a:prstGeom prst="roundRect">
            <a:avLst>
              <a:gd name="adj" fmla="val 18182"/>
            </a:avLst>
          </a:prstGeom>
          <a:solidFill>
            <a:srgbClr val="17163A"/>
          </a:solidFill>
          <a:ln w="12700">
            <a:solidFill>
              <a:srgbClr val="2E335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394960" y="2414016"/>
            <a:ext cx="329184" cy="329184"/>
          </a:xfrm>
          <a:prstGeom prst="ellipse">
            <a:avLst/>
          </a:prstGeom>
          <a:solidFill>
            <a:srgbClr val="17163A"/>
          </a:solidFill>
          <a:ln w="19050">
            <a:solidFill>
              <a:srgbClr val="7DD8E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394960" y="241401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7DD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5852160" y="233172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DEF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Slot in each exam date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257800" y="2990088"/>
            <a:ext cx="6245352" cy="502920"/>
          </a:xfrm>
          <a:prstGeom prst="roundRect">
            <a:avLst>
              <a:gd name="adj" fmla="val 18182"/>
            </a:avLst>
          </a:prstGeom>
          <a:solidFill>
            <a:srgbClr val="17163A"/>
          </a:solidFill>
          <a:ln w="12700">
            <a:solidFill>
              <a:srgbClr val="2E335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394960" y="3072384"/>
            <a:ext cx="329184" cy="329184"/>
          </a:xfrm>
          <a:prstGeom prst="ellipse">
            <a:avLst/>
          </a:prstGeom>
          <a:solidFill>
            <a:srgbClr val="17163A"/>
          </a:solidFill>
          <a:ln w="19050">
            <a:solidFill>
              <a:srgbClr val="7DD8E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394960" y="307238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7DD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5852160" y="2990088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DEF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revision blocks between them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257800" y="3648456"/>
            <a:ext cx="6245352" cy="502920"/>
          </a:xfrm>
          <a:prstGeom prst="roundRect">
            <a:avLst>
              <a:gd name="adj" fmla="val 18182"/>
            </a:avLst>
          </a:prstGeom>
          <a:solidFill>
            <a:srgbClr val="17163A"/>
          </a:solidFill>
          <a:ln w="12700">
            <a:solidFill>
              <a:srgbClr val="2E335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394960" y="3730752"/>
            <a:ext cx="329184" cy="329184"/>
          </a:xfrm>
          <a:prstGeom prst="ellipse">
            <a:avLst/>
          </a:prstGeom>
          <a:solidFill>
            <a:srgbClr val="17163A"/>
          </a:solidFill>
          <a:ln w="19050">
            <a:solidFill>
              <a:srgbClr val="7DD8E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394960" y="37307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7DD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5852160" y="3648456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DEF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Fit practice/breaks around it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5257800" y="4224528"/>
            <a:ext cx="62453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C6A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then execute one step at a time, each call sharing the same memory list ↓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85800" y="4617720"/>
            <a:ext cx="10817352" cy="1417320"/>
          </a:xfrm>
          <a:prstGeom prst="roundRect">
            <a:avLst>
              <a:gd name="adj" fmla="val 6452"/>
            </a:avLst>
          </a:prstGeom>
          <a:solidFill>
            <a:srgbClr val="0D0F22"/>
          </a:solidFill>
          <a:ln w="12700">
            <a:solidFill>
              <a:srgbClr val="2E335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41832" y="474573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200" dirty="0">
                <a:solidFill>
                  <a:srgbClr val="4A4E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960120" y="5093208"/>
            <a:ext cx="103144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300" dirty="0">
                <a:solidFill>
                  <a:srgbClr val="ED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 1 -&gt; chat_with_memory('Slot in each exam date')</a:t>
            </a:r>
            <a:endParaRPr lang="en-US" sz="13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300" dirty="0">
                <a:solidFill>
                  <a:srgbClr val="ED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 2 -&gt; chat_with_memory('Add revision blocks')     # remembers step 1</a:t>
            </a:r>
            <a:endParaRPr lang="en-US" sz="13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300" dirty="0">
                <a:solidFill>
                  <a:srgbClr val="ED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 3 -&gt; chat_with_memory('Fit practice around it')  # remembers steps 1-2</a:t>
            </a:r>
            <a:endParaRPr lang="en-US" sz="1300" dirty="0"/>
          </a:p>
        </p:txBody>
      </p:sp>
      <p:pic>
        <p:nvPicPr>
          <p:cNvPr id="27" name="Picture 2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07635" y="-55735"/>
            <a:ext cx="1022606" cy="1022606"/>
          </a:xfrm>
          <a:prstGeom prst="rect">
            <a:avLst/>
          </a:prstGeom>
        </p:spPr>
      </p:pic>
      <p:pic>
        <p:nvPicPr>
          <p:cNvPr id="28" name="Picture 2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1786"/>
            <a:ext cx="1645096" cy="712406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507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64739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200" dirty="0">
                <a:solidFill>
                  <a:srgbClr val="8C9B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ALCHEMY 4.0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0881360" y="647395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C9B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648616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kern="0" spc="300" dirty="0">
                <a:solidFill>
                  <a:srgbClr val="8C9B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PREREQUISITES → RECAP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996696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EDEF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four building blocks, defined precisely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572768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8C9B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vibes — here's exactly what you're about to wire together.</a:t>
            </a:r>
            <a:endParaRPr lang="en-US" sz="1500" dirty="0"/>
          </a:p>
        </p:txBody>
      </p:sp>
      <p:pic>
        <p:nvPicPr>
          <p:cNvPr id="7" name="Image 0" descr="/home/claude/deck_build/icons/brain_go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606040"/>
            <a:ext cx="384048" cy="384048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344168" y="2423160"/>
            <a:ext cx="1015898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55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—   </a:t>
            </a:r>
            <a:r>
              <a:rPr lang="en-US" sz="1550" dirty="0">
                <a:solidFill>
                  <a:srgbClr val="8C9B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function call to an LLM API (call_llm) mapping input text to output text.</a:t>
            </a:r>
            <a:endParaRPr lang="en-US" sz="1550" dirty="0"/>
          </a:p>
        </p:txBody>
      </p:sp>
      <p:sp>
        <p:nvSpPr>
          <p:cNvPr id="9" name="Shape 6"/>
          <p:cNvSpPr/>
          <p:nvPr/>
        </p:nvSpPr>
        <p:spPr>
          <a:xfrm>
            <a:off x="685800" y="3246120"/>
            <a:ext cx="10817352" cy="9144"/>
          </a:xfrm>
          <a:prstGeom prst="line">
            <a:avLst/>
          </a:prstGeom>
          <a:noFill/>
          <a:ln w="9525">
            <a:solidFill>
              <a:srgbClr val="2E3350"/>
            </a:solidFill>
            <a:prstDash val="solid"/>
          </a:ln>
        </p:spPr>
      </p:sp>
      <p:pic>
        <p:nvPicPr>
          <p:cNvPr id="10" name="Image 1" descr="/home/claude/deck_build/icons/bullseye_gol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3447288"/>
            <a:ext cx="384048" cy="38404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344168" y="3264408"/>
            <a:ext cx="1015898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55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 —   </a:t>
            </a:r>
            <a:r>
              <a:rPr lang="en-US" sz="1550" dirty="0">
                <a:solidFill>
                  <a:srgbClr val="8C9B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system prompt that defines the agent's role and what 'done' means.</a:t>
            </a:r>
            <a:endParaRPr lang="en-US" sz="1550" dirty="0"/>
          </a:p>
        </p:txBody>
      </p:sp>
      <p:sp>
        <p:nvSpPr>
          <p:cNvPr id="12" name="Shape 8"/>
          <p:cNvSpPr/>
          <p:nvPr/>
        </p:nvSpPr>
        <p:spPr>
          <a:xfrm>
            <a:off x="685800" y="4087368"/>
            <a:ext cx="10817352" cy="9144"/>
          </a:xfrm>
          <a:prstGeom prst="line">
            <a:avLst/>
          </a:prstGeom>
          <a:noFill/>
          <a:ln w="9525">
            <a:solidFill>
              <a:srgbClr val="2E3350"/>
            </a:solidFill>
            <a:prstDash val="solid"/>
          </a:ln>
        </p:spPr>
      </p:sp>
      <p:pic>
        <p:nvPicPr>
          <p:cNvPr id="13" name="Image 2" descr="/home/claude/deck_build/icons/wrench_cya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4288536"/>
            <a:ext cx="384048" cy="384048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344168" y="4105656"/>
            <a:ext cx="1015898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550" b="1" dirty="0">
                <a:solidFill>
                  <a:srgbClr val="7DD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 —   </a:t>
            </a:r>
            <a:r>
              <a:rPr lang="en-US" sz="1550" dirty="0">
                <a:solidFill>
                  <a:srgbClr val="8C9B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plain Python functions in a dict, callable by name with a text input.</a:t>
            </a:r>
            <a:endParaRPr lang="en-US" sz="1550" dirty="0"/>
          </a:p>
        </p:txBody>
      </p:sp>
      <p:sp>
        <p:nvSpPr>
          <p:cNvPr id="15" name="Shape 10"/>
          <p:cNvSpPr/>
          <p:nvPr/>
        </p:nvSpPr>
        <p:spPr>
          <a:xfrm>
            <a:off x="685800" y="4928616"/>
            <a:ext cx="10817352" cy="9144"/>
          </a:xfrm>
          <a:prstGeom prst="line">
            <a:avLst/>
          </a:prstGeom>
          <a:noFill/>
          <a:ln w="9525">
            <a:solidFill>
              <a:srgbClr val="2E3350"/>
            </a:solidFill>
            <a:prstDash val="solid"/>
          </a:ln>
        </p:spPr>
      </p:sp>
      <p:pic>
        <p:nvPicPr>
          <p:cNvPr id="16" name="Image 3" descr="/home/claude/deck_build/icons/notebook_gol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" y="5129784"/>
            <a:ext cx="384048" cy="384048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344168" y="4946904"/>
            <a:ext cx="1015898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55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 —   </a:t>
            </a:r>
            <a:r>
              <a:rPr lang="en-US" sz="1550" dirty="0">
                <a:solidFill>
                  <a:srgbClr val="8C9B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growing list of past turns, re-sent to the model on every call.</a:t>
            </a:r>
            <a:endParaRPr lang="en-US" sz="1550" dirty="0"/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07635" y="-55735"/>
            <a:ext cx="1022606" cy="1022606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1786"/>
            <a:ext cx="1645096" cy="712406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507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64739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200" dirty="0">
                <a:solidFill>
                  <a:srgbClr val="8C9B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ALCHEMY 4.0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0881360" y="647395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C9B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723139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kern="0" spc="300" dirty="0">
                <a:solidFill>
                  <a:srgbClr val="8C9B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</a:t>
            </a:r>
            <a:r>
              <a:rPr lang="en-US" sz="1300" kern="0" spc="300" dirty="0" smtClean="0">
                <a:solidFill>
                  <a:srgbClr val="8C9B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4: FRAMEWORKS</a:t>
            </a:r>
            <a:r>
              <a:rPr lang="en-US" sz="1300" kern="0" spc="300" dirty="0">
                <a:solidFill>
                  <a:srgbClr val="8C9B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MULTI-AGENT &amp; PROJECT BUILD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037844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EDEF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things happen today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572768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8C9B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fifth building block. Today is assembly — then making it yours.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85800" y="2423160"/>
            <a:ext cx="2464308" cy="2194560"/>
          </a:xfrm>
          <a:prstGeom prst="roundRect">
            <a:avLst>
              <a:gd name="adj" fmla="val 4167"/>
            </a:avLst>
          </a:prstGeom>
          <a:solidFill>
            <a:srgbClr val="17163A"/>
          </a:solidFill>
          <a:ln w="19050">
            <a:solidFill>
              <a:srgbClr val="F5C542"/>
            </a:solidFill>
            <a:prstDash val="solid"/>
          </a:ln>
        </p:spPr>
      </p:sp>
      <p:pic>
        <p:nvPicPr>
          <p:cNvPr id="8" name="Image 0" descr="/home/claude/deck_build/icons/FaLink_go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5054" y="2715768"/>
            <a:ext cx="685800" cy="68580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795528" y="3566160"/>
            <a:ext cx="22448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Assemble</a:t>
            </a:r>
            <a:endParaRPr 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850392" y="3950208"/>
            <a:ext cx="21351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250" dirty="0">
                <a:solidFill>
                  <a:srgbClr val="8C9B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Wire the loop + memory into one real agent: Atlas.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3470148" y="2423160"/>
            <a:ext cx="2464308" cy="2194560"/>
          </a:xfrm>
          <a:prstGeom prst="roundRect">
            <a:avLst>
              <a:gd name="adj" fmla="val 4167"/>
            </a:avLst>
          </a:prstGeom>
          <a:solidFill>
            <a:srgbClr val="17163A"/>
          </a:solidFill>
          <a:ln w="19050">
            <a:solidFill>
              <a:srgbClr val="7DD8E0"/>
            </a:solidFill>
            <a:prstDash val="solid"/>
          </a:ln>
        </p:spPr>
      </p:sp>
      <p:pic>
        <p:nvPicPr>
          <p:cNvPr id="12" name="Image 1" descr="/home/claude/deck_build/icons/FaDiagramProject_cya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59402" y="2715768"/>
            <a:ext cx="685800" cy="68580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3579876" y="3566160"/>
            <a:ext cx="22448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7DD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Frameworks</a:t>
            </a:r>
            <a:endParaRPr lang="en-US" sz="1700" dirty="0"/>
          </a:p>
        </p:txBody>
      </p:sp>
      <p:sp>
        <p:nvSpPr>
          <p:cNvPr id="14" name="Text 10"/>
          <p:cNvSpPr txBox="1"/>
          <p:nvPr/>
        </p:nvSpPr>
        <p:spPr>
          <a:xfrm>
            <a:off x="3634740" y="3950208"/>
            <a:ext cx="21351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250" dirty="0">
                <a:solidFill>
                  <a:srgbClr val="8C9B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 how LangGraph &amp; CrewAI package what you built.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6254496" y="2423160"/>
            <a:ext cx="2464308" cy="2194560"/>
          </a:xfrm>
          <a:prstGeom prst="roundRect">
            <a:avLst>
              <a:gd name="adj" fmla="val 4167"/>
            </a:avLst>
          </a:prstGeom>
          <a:solidFill>
            <a:srgbClr val="17163A"/>
          </a:solidFill>
          <a:ln w="19050">
            <a:solidFill>
              <a:srgbClr val="F5C542"/>
            </a:solidFill>
            <a:prstDash val="solid"/>
          </a:ln>
        </p:spPr>
      </p:sp>
      <p:pic>
        <p:nvPicPr>
          <p:cNvPr id="16" name="Image 2" descr="/home/claude/deck_build/icons/FaUserGroup_gol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43750" y="2715768"/>
            <a:ext cx="685800" cy="68580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364224" y="3566160"/>
            <a:ext cx="22448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Multi-agent</a:t>
            </a:r>
            <a:endParaRPr lang="en-US" sz="1700" dirty="0"/>
          </a:p>
        </p:txBody>
      </p:sp>
      <p:sp>
        <p:nvSpPr>
          <p:cNvPr id="18" name="Text 13"/>
          <p:cNvSpPr txBox="1"/>
          <p:nvPr/>
        </p:nvSpPr>
        <p:spPr>
          <a:xfrm>
            <a:off x="6419088" y="3950208"/>
            <a:ext cx="21351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250" dirty="0">
                <a:solidFill>
                  <a:srgbClr val="8C9B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agent doesn't have to do everything.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9038844" y="2423160"/>
            <a:ext cx="2464308" cy="2194560"/>
          </a:xfrm>
          <a:prstGeom prst="roundRect">
            <a:avLst>
              <a:gd name="adj" fmla="val 4167"/>
            </a:avLst>
          </a:prstGeom>
          <a:solidFill>
            <a:srgbClr val="17163A"/>
          </a:solidFill>
          <a:ln w="19050">
            <a:solidFill>
              <a:srgbClr val="F5C542"/>
            </a:solidFill>
            <a:prstDash val="solid"/>
          </a:ln>
        </p:spPr>
      </p:sp>
      <p:pic>
        <p:nvPicPr>
          <p:cNvPr id="20" name="Image 3" descr="/home/claude/deck_build/icons/FaRocket_gol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28098" y="2715768"/>
            <a:ext cx="685800" cy="68580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9148572" y="3566160"/>
            <a:ext cx="22448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Build yours</a:t>
            </a:r>
            <a:endParaRPr lang="en-US" sz="1700" dirty="0"/>
          </a:p>
        </p:txBody>
      </p:sp>
      <p:sp>
        <p:nvSpPr>
          <p:cNvPr id="22" name="Text 16"/>
          <p:cNvSpPr txBox="1"/>
          <p:nvPr/>
        </p:nvSpPr>
        <p:spPr>
          <a:xfrm>
            <a:off x="9203436" y="3950208"/>
            <a:ext cx="21351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250" dirty="0">
                <a:solidFill>
                  <a:srgbClr val="8C9B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 the goal. Make Atlas useful to you.</a:t>
            </a:r>
            <a:endParaRPr lang="en-US" sz="1250" dirty="0"/>
          </a:p>
        </p:txBody>
      </p:sp>
      <p:pic>
        <p:nvPicPr>
          <p:cNvPr id="23" name="Picture 22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07635" y="-55735"/>
            <a:ext cx="1022606" cy="1022606"/>
          </a:xfrm>
          <a:prstGeom prst="rect">
            <a:avLst/>
          </a:prstGeom>
        </p:spPr>
      </p:pic>
      <p:pic>
        <p:nvPicPr>
          <p:cNvPr id="24" name="Picture 23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1786"/>
            <a:ext cx="1645096" cy="712406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507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64739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200" dirty="0">
                <a:solidFill>
                  <a:srgbClr val="8C9B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ALCHEMY 4.0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0881360" y="647395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C9B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377440"/>
            <a:ext cx="1072591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EDEF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Today, you became an</a:t>
            </a:r>
            <a:endParaRPr lang="en-US" sz="44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</a:t>
            </a:r>
            <a:r>
              <a:rPr lang="en-US" sz="4400" b="1" dirty="0" smtClean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1645920" y="3977640"/>
            <a:ext cx="88971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8C9B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a toy version of the job — the real shape of it: model, goal, tools, memory, wired into a loop. Just built smaller, by you, in one day.</a:t>
            </a:r>
            <a:endParaRPr lang="en-US" sz="1600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07635" y="-55735"/>
            <a:ext cx="1022606" cy="1022606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1786"/>
            <a:ext cx="1645096" cy="712406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507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64739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200" dirty="0">
                <a:solidFill>
                  <a:srgbClr val="8C9B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ALCHEMY 4.0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0881360" y="647395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C9B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841248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EDEF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assignment, in one slide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572768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8C9B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 are given. The only real job: wire the loop and memory into one function.</a:t>
            </a:r>
            <a:endParaRPr lang="en-US" sz="1500" dirty="0"/>
          </a:p>
        </p:txBody>
      </p:sp>
      <p:grpSp>
        <p:nvGrpSpPr>
          <p:cNvPr id="14" name="Group 13"/>
          <p:cNvGrpSpPr/>
          <p:nvPr/>
        </p:nvGrpSpPr>
        <p:grpSpPr>
          <a:xfrm>
            <a:off x="569105" y="2177142"/>
            <a:ext cx="10817352" cy="4114800"/>
            <a:chOff x="685800" y="2377440"/>
            <a:chExt cx="10817352" cy="4114800"/>
          </a:xfrm>
        </p:grpSpPr>
        <p:sp>
          <p:nvSpPr>
            <p:cNvPr id="7" name="Shape 5"/>
            <p:cNvSpPr/>
            <p:nvPr/>
          </p:nvSpPr>
          <p:spPr>
            <a:xfrm>
              <a:off x="685800" y="2377440"/>
              <a:ext cx="10817352" cy="3383280"/>
            </a:xfrm>
            <a:prstGeom prst="roundRect">
              <a:avLst>
                <a:gd name="adj" fmla="val 2703"/>
              </a:avLst>
            </a:prstGeom>
            <a:solidFill>
              <a:srgbClr val="0D0F22"/>
            </a:solidFill>
            <a:ln w="12700">
              <a:solidFill>
                <a:srgbClr val="2E3350"/>
              </a:solidFill>
              <a:prstDash val="solid"/>
            </a:ln>
          </p:spPr>
        </p:sp>
        <p:sp>
          <p:nvSpPr>
            <p:cNvPr id="8" name="Shape 6"/>
            <p:cNvSpPr/>
            <p:nvPr/>
          </p:nvSpPr>
          <p:spPr>
            <a:xfrm>
              <a:off x="886968" y="2505456"/>
              <a:ext cx="146304" cy="146304"/>
            </a:xfrm>
            <a:prstGeom prst="ellipse">
              <a:avLst/>
            </a:prstGeom>
            <a:solidFill>
              <a:srgbClr val="E06C75"/>
            </a:solidFill>
            <a:ln/>
          </p:spPr>
        </p:sp>
        <p:sp>
          <p:nvSpPr>
            <p:cNvPr id="9" name="Shape 7"/>
            <p:cNvSpPr/>
            <p:nvPr/>
          </p:nvSpPr>
          <p:spPr>
            <a:xfrm>
              <a:off x="1106424" y="2505456"/>
              <a:ext cx="146304" cy="146304"/>
            </a:xfrm>
            <a:prstGeom prst="ellipse">
              <a:avLst/>
            </a:prstGeom>
            <a:solidFill>
              <a:srgbClr val="E5C07B"/>
            </a:solidFill>
            <a:ln/>
          </p:spPr>
        </p:sp>
        <p:sp>
          <p:nvSpPr>
            <p:cNvPr id="10" name="Shape 8"/>
            <p:cNvSpPr/>
            <p:nvPr/>
          </p:nvSpPr>
          <p:spPr>
            <a:xfrm>
              <a:off x="1325880" y="2505456"/>
              <a:ext cx="146304" cy="146304"/>
            </a:xfrm>
            <a:prstGeom prst="ellipse">
              <a:avLst/>
            </a:prstGeom>
            <a:solidFill>
              <a:srgbClr val="98C379"/>
            </a:solidFill>
            <a:ln/>
          </p:spPr>
        </p:sp>
        <p:sp>
          <p:nvSpPr>
            <p:cNvPr id="11" name="Text 9"/>
            <p:cNvSpPr txBox="1"/>
            <p:nvPr/>
          </p:nvSpPr>
          <p:spPr>
            <a:xfrm>
              <a:off x="960120" y="2761488"/>
              <a:ext cx="10314432" cy="28803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ct val="128000"/>
                </a:lnSpc>
                <a:buNone/>
              </a:pPr>
              <a:r>
                <a:rPr lang="en-US" sz="1550" dirty="0">
                  <a:solidFill>
                    <a:srgbClr val="EDEFFA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def mock_search(query):</a:t>
              </a:r>
              <a:endParaRPr lang="en-US" sz="1550" dirty="0"/>
            </a:p>
            <a:p>
              <a:pPr marL="0" indent="0" algn="l">
                <a:lnSpc>
                  <a:spcPct val="128000"/>
                </a:lnSpc>
                <a:buNone/>
              </a:pPr>
              <a:r>
                <a:rPr lang="en-US" sz="1550" dirty="0">
                  <a:solidFill>
                    <a:srgbClr val="8C9BC4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    facts = {"ceo of google": "Sundar Pichai", "capital of japan": "Tokyo"}</a:t>
              </a:r>
              <a:endParaRPr lang="en-US" sz="1550" dirty="0"/>
            </a:p>
            <a:p>
              <a:pPr marL="0" indent="0" algn="l">
                <a:lnSpc>
                  <a:spcPct val="128000"/>
                </a:lnSpc>
                <a:buNone/>
              </a:pPr>
              <a:r>
                <a:rPr lang="en-US" sz="1550" dirty="0">
                  <a:solidFill>
                    <a:srgbClr val="8C9BC4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    return facts.get(query.lower().strip(), "No result found.")</a:t>
              </a:r>
              <a:endParaRPr lang="en-US" sz="1550" dirty="0"/>
            </a:p>
            <a:p>
              <a:pPr marL="0" indent="0" algn="l">
                <a:lnSpc>
                  <a:spcPct val="128000"/>
                </a:lnSpc>
                <a:buNone/>
              </a:pPr>
              <a:endParaRPr lang="en-US" sz="1550" dirty="0"/>
            </a:p>
            <a:p>
              <a:pPr marL="0" indent="0" algn="l">
                <a:lnSpc>
                  <a:spcPct val="128000"/>
                </a:lnSpc>
                <a:buNone/>
              </a:pPr>
              <a:r>
                <a:rPr lang="en-US" sz="1550" dirty="0">
                  <a:solidFill>
                    <a:srgbClr val="EDEFFA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tools = {"calculator": lambda e: eval(e), "search": mock_search}</a:t>
              </a:r>
              <a:endParaRPr lang="en-US" sz="1550" dirty="0"/>
            </a:p>
            <a:p>
              <a:pPr marL="0" indent="0" algn="l">
                <a:lnSpc>
                  <a:spcPct val="128000"/>
                </a:lnSpc>
                <a:buNone/>
              </a:pPr>
              <a:endParaRPr lang="en-US" sz="1550" dirty="0"/>
            </a:p>
            <a:p>
              <a:pPr marL="0" indent="0" algn="l">
                <a:lnSpc>
                  <a:spcPct val="128000"/>
                </a:lnSpc>
                <a:buNone/>
              </a:pPr>
              <a:r>
                <a:rPr lang="en-US" sz="1550" dirty="0">
                  <a:solidFill>
                    <a:srgbClr val="EDEFFA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def atlas(goal, memory=None, max_steps=5):</a:t>
              </a:r>
              <a:endParaRPr lang="en-US" sz="1550" dirty="0"/>
            </a:p>
            <a:p>
              <a:pPr marL="0" indent="0" algn="l">
                <a:lnSpc>
                  <a:spcPct val="128000"/>
                </a:lnSpc>
                <a:buNone/>
              </a:pPr>
              <a:r>
                <a:rPr lang="en-US" sz="1550" dirty="0">
                  <a:solidFill>
                    <a:srgbClr val="8C9BC4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    memory = memory if memory is not None else []</a:t>
              </a:r>
              <a:endParaRPr lang="en-US" sz="1550" dirty="0"/>
            </a:p>
            <a:p>
              <a:pPr marL="0" indent="0" algn="l">
                <a:lnSpc>
                  <a:spcPct val="128000"/>
                </a:lnSpc>
                <a:buNone/>
              </a:pPr>
              <a:r>
                <a:rPr lang="en-US" sz="1550" dirty="0">
                  <a:solidFill>
                    <a:srgbClr val="E5C07B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    pass</a:t>
              </a:r>
              <a:endParaRPr lang="en-US" sz="1550" dirty="0"/>
            </a:p>
          </p:txBody>
        </p:sp>
        <p:sp>
          <p:nvSpPr>
            <p:cNvPr id="12" name="Shape 10"/>
            <p:cNvSpPr/>
            <p:nvPr/>
          </p:nvSpPr>
          <p:spPr>
            <a:xfrm>
              <a:off x="685800" y="5943600"/>
              <a:ext cx="10817352" cy="548640"/>
            </a:xfrm>
            <a:prstGeom prst="roundRect">
              <a:avLst>
                <a:gd name="adj" fmla="val 16667"/>
              </a:avLst>
            </a:prstGeom>
            <a:solidFill>
              <a:srgbClr val="17163A"/>
            </a:solidFill>
            <a:ln w="12700">
              <a:solidFill>
                <a:srgbClr val="2E3350"/>
              </a:solidFill>
              <a:prstDash val="solid"/>
            </a:ln>
          </p:spPr>
        </p:sp>
        <p:sp>
          <p:nvSpPr>
            <p:cNvPr id="13" name="Text 11"/>
            <p:cNvSpPr txBox="1"/>
            <p:nvPr/>
          </p:nvSpPr>
          <p:spPr>
            <a:xfrm>
              <a:off x="868680" y="5943600"/>
              <a:ext cx="10451592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i="1" dirty="0">
                  <a:solidFill>
                    <a:srgbClr val="F5C542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That pass is the whole assignment</a:t>
              </a:r>
              <a:r>
                <a:rPr lang="en-US" sz="1600" i="1" dirty="0">
                  <a:solidFill>
                    <a:srgbClr val="8C9BC4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 — you already wrote both halves of it, separately, earlier today.</a:t>
              </a:r>
              <a:endParaRPr lang="en-US" sz="1600" dirty="0"/>
            </a:p>
          </p:txBody>
        </p:sp>
      </p:grpSp>
      <p:pic>
        <p:nvPicPr>
          <p:cNvPr id="15" name="Picture 1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07635" y="-55735"/>
            <a:ext cx="1022606" cy="1022606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1786"/>
            <a:ext cx="1645096" cy="712406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507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64739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200" dirty="0">
                <a:solidFill>
                  <a:srgbClr val="8C9B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ALCHEMY 4.0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0881360" y="647395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C9B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50292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kern="0" spc="300" dirty="0">
                <a:solidFill>
                  <a:srgbClr val="8C9B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FORMAT ATLAS MUST FOLLOW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841248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EDEF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replies. That's the whole protocol.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572768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8C9B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our Python code can read what Atlas wants to do, it must always reply one of two ways.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85800" y="2377440"/>
            <a:ext cx="5120640" cy="2286000"/>
          </a:xfrm>
          <a:prstGeom prst="roundRect">
            <a:avLst>
              <a:gd name="adj" fmla="val 4000"/>
            </a:avLst>
          </a:prstGeom>
          <a:solidFill>
            <a:srgbClr val="17163A"/>
          </a:solidFill>
          <a:ln w="19050">
            <a:solidFill>
              <a:srgbClr val="7DD8E0"/>
            </a:solidFill>
            <a:prstDash val="solid"/>
          </a:ln>
        </p:spPr>
      </p:sp>
      <p:pic>
        <p:nvPicPr>
          <p:cNvPr id="8" name="Image 0" descr="/home/claude/deck_build/icons/FaCodeBranch_cy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2606040"/>
            <a:ext cx="502920" cy="50292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737360" y="260604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7DD8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USE: &lt;tool&gt; | &lt;input&gt;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1051560" y="3200400"/>
            <a:ext cx="4572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i="1" dirty="0">
                <a:solidFill>
                  <a:srgbClr val="8C9B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"I need more information — call this tool."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6172200" y="2377440"/>
            <a:ext cx="5330952" cy="2286000"/>
          </a:xfrm>
          <a:prstGeom prst="roundRect">
            <a:avLst>
              <a:gd name="adj" fmla="val 4000"/>
            </a:avLst>
          </a:prstGeom>
          <a:solidFill>
            <a:srgbClr val="17163A"/>
          </a:solidFill>
          <a:ln w="19050">
            <a:solidFill>
              <a:srgbClr val="F5C542"/>
            </a:solidFill>
            <a:prstDash val="solid"/>
          </a:ln>
        </p:spPr>
      </p:sp>
      <p:pic>
        <p:nvPicPr>
          <p:cNvPr id="12" name="Image 1" descr="/home/claude/deck_build/icons/FaCircleCheck_gree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6520" y="2606040"/>
            <a:ext cx="502920" cy="50292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132320" y="260604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C5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ANSWER: &lt;final answer&gt;</a:t>
            </a:r>
            <a:endParaRPr lang="en-US" sz="1600" dirty="0"/>
          </a:p>
        </p:txBody>
      </p:sp>
      <p:sp>
        <p:nvSpPr>
          <p:cNvPr id="14" name="Text 10"/>
          <p:cNvSpPr txBox="1"/>
          <p:nvPr/>
        </p:nvSpPr>
        <p:spPr>
          <a:xfrm>
            <a:off x="6446520" y="3200400"/>
            <a:ext cx="4846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i="1" dirty="0">
                <a:solidFill>
                  <a:srgbClr val="8C9B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"I have everything I need — I am done."</a:t>
            </a:r>
            <a:endParaRPr lang="en-US" sz="1400" dirty="0"/>
          </a:p>
        </p:txBody>
      </p:sp>
      <p:sp>
        <p:nvSpPr>
          <p:cNvPr id="15" name="Text 11"/>
          <p:cNvSpPr txBox="1"/>
          <p:nvPr/>
        </p:nvSpPr>
        <p:spPr>
          <a:xfrm>
            <a:off x="685800" y="489204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00" dirty="0">
                <a:solidFill>
                  <a:srgbClr val="7DD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 →  run the tool  →  append result to memory  →  loop again</a:t>
            </a:r>
            <a:endParaRPr lang="en-US" sz="1200" dirty="0"/>
          </a:p>
        </p:txBody>
      </p:sp>
      <p:sp>
        <p:nvSpPr>
          <p:cNvPr id="16" name="Text 12"/>
          <p:cNvSpPr txBox="1"/>
          <p:nvPr/>
        </p:nvSpPr>
        <p:spPr>
          <a:xfrm>
            <a:off x="6172200" y="4892040"/>
            <a:ext cx="53309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00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  →  stop  →  return the final text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685800" y="5760720"/>
            <a:ext cx="10817352" cy="548640"/>
          </a:xfrm>
          <a:prstGeom prst="roundRect">
            <a:avLst>
              <a:gd name="adj" fmla="val 16667"/>
            </a:avLst>
          </a:prstGeom>
          <a:solidFill>
            <a:srgbClr val="17163A"/>
          </a:solidFill>
          <a:ln w="12700">
            <a:solidFill>
              <a:srgbClr val="2E3350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868680" y="5760720"/>
            <a:ext cx="104515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i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line of text.</a:t>
            </a:r>
            <a:r>
              <a:rPr lang="en-US" sz="1600" i="1" dirty="0">
                <a:solidFill>
                  <a:srgbClr val="8C9B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That's the entire interface between Python and the model's reasoning.</a:t>
            </a:r>
            <a:endParaRPr lang="en-US" sz="1600" dirty="0"/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07635" y="-55735"/>
            <a:ext cx="1022606" cy="1022606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1786"/>
            <a:ext cx="1645096" cy="712406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507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64739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200" dirty="0">
                <a:solidFill>
                  <a:srgbClr val="8C9B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ALCHEMY 4.0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0881360" y="647395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C9B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50292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kern="0" spc="300" dirty="0">
                <a:solidFill>
                  <a:srgbClr val="8C9B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ASSEMBLED FUNCTION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841248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400" b="1" dirty="0">
                <a:solidFill>
                  <a:srgbClr val="EDEF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atlas() — Session 2's loop + Session 3's memory, wired together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685800" y="1691640"/>
            <a:ext cx="7635240" cy="4617720"/>
          </a:xfrm>
          <a:prstGeom prst="roundRect">
            <a:avLst>
              <a:gd name="adj" fmla="val 1980"/>
            </a:avLst>
          </a:prstGeom>
          <a:solidFill>
            <a:srgbClr val="0D0F22"/>
          </a:solidFill>
          <a:ln w="12700">
            <a:solidFill>
              <a:srgbClr val="2E335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86968" y="1819656"/>
            <a:ext cx="146304" cy="146304"/>
          </a:xfrm>
          <a:prstGeom prst="ellipse">
            <a:avLst/>
          </a:prstGeom>
          <a:solidFill>
            <a:srgbClr val="E06C75"/>
          </a:solidFill>
          <a:ln/>
        </p:spPr>
      </p:sp>
      <p:sp>
        <p:nvSpPr>
          <p:cNvPr id="8" name="Shape 6"/>
          <p:cNvSpPr/>
          <p:nvPr/>
        </p:nvSpPr>
        <p:spPr>
          <a:xfrm>
            <a:off x="1106424" y="1819656"/>
            <a:ext cx="146304" cy="146304"/>
          </a:xfrm>
          <a:prstGeom prst="ellipse">
            <a:avLst/>
          </a:prstGeom>
          <a:solidFill>
            <a:srgbClr val="E5C07B"/>
          </a:solidFill>
          <a:ln/>
        </p:spPr>
      </p:sp>
      <p:sp>
        <p:nvSpPr>
          <p:cNvPr id="9" name="Shape 7"/>
          <p:cNvSpPr/>
          <p:nvPr/>
        </p:nvSpPr>
        <p:spPr>
          <a:xfrm>
            <a:off x="1325880" y="1819656"/>
            <a:ext cx="146304" cy="146304"/>
          </a:xfrm>
          <a:prstGeom prst="ellipse">
            <a:avLst/>
          </a:prstGeom>
          <a:solidFill>
            <a:srgbClr val="98C379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60120" y="2075688"/>
            <a:ext cx="713232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250" dirty="0">
                <a:solidFill>
                  <a:srgbClr val="ED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atlas(goal, memory=None, max_steps=5):</a:t>
            </a:r>
            <a:endParaRPr lang="en-US" sz="12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1250" dirty="0">
                <a:solidFill>
                  <a:srgbClr val="E5C0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memory = memory if memory is not None else []</a:t>
            </a:r>
            <a:endParaRPr lang="en-US" sz="12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1250" dirty="0">
                <a:solidFill>
                  <a:srgbClr val="E5C0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memory.append(f"GOAL: {goal}")</a:t>
            </a:r>
            <a:endParaRPr lang="en-US" sz="12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1250" i="1" dirty="0">
                <a:solidFill>
                  <a:srgbClr val="5C6A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system = ("You are Atlas... reply USE: ...|... or ANSWER: ...")</a:t>
            </a:r>
            <a:endParaRPr lang="en-US" sz="1250" dirty="0"/>
          </a:p>
          <a:p>
            <a:pPr marL="0" indent="0" algn="l">
              <a:lnSpc>
                <a:spcPct val="128000"/>
              </a:lnSpc>
              <a:buNone/>
            </a:pPr>
            <a:endParaRPr lang="en-US" sz="12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1250" dirty="0">
                <a:solidFill>
                  <a:srgbClr val="7DD8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step in range(max_steps):</a:t>
            </a:r>
            <a:endParaRPr lang="en-US" sz="12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1250" dirty="0">
                <a:solidFill>
                  <a:srgbClr val="E5C0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transcript = "\n".join(memory)</a:t>
            </a:r>
            <a:endParaRPr lang="en-US" sz="12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1250" dirty="0">
                <a:solidFill>
                  <a:srgbClr val="8C9B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reply = call_llm(transcript, system=system).strip()</a:t>
            </a:r>
            <a:endParaRPr lang="en-US" sz="12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1250" dirty="0">
                <a:solidFill>
                  <a:srgbClr val="E5C0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memory.append(f"ATLAS: {reply}")</a:t>
            </a:r>
            <a:endParaRPr lang="en-US" sz="1250" dirty="0"/>
          </a:p>
          <a:p>
            <a:pPr marL="0" indent="0" algn="l">
              <a:lnSpc>
                <a:spcPct val="128000"/>
              </a:lnSpc>
              <a:buNone/>
            </a:pPr>
            <a:endParaRPr lang="en-US" sz="12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1250" dirty="0">
                <a:solidFill>
                  <a:srgbClr val="7DD8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reply.startswith("ANSWER:"):</a:t>
            </a:r>
            <a:endParaRPr lang="en-US" sz="12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1250" dirty="0">
                <a:solidFill>
                  <a:srgbClr val="8C9B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return reply.replace("ANSWER:", "").strip()</a:t>
            </a:r>
            <a:endParaRPr lang="en-US" sz="12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1250" dirty="0">
                <a:solidFill>
                  <a:srgbClr val="7DD8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reply.startswith("USE:"):</a:t>
            </a:r>
            <a:endParaRPr lang="en-US" sz="12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1250" i="1" dirty="0">
                <a:solidFill>
                  <a:srgbClr val="8C9B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...call the tool, get result...</a:t>
            </a:r>
            <a:endParaRPr lang="en-US" sz="12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1250" dirty="0">
                <a:solidFill>
                  <a:srgbClr val="E5C0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memory.append(f"OBSERVATION: {result}")</a:t>
            </a:r>
            <a:endParaRPr lang="en-US" sz="1250" dirty="0"/>
          </a:p>
          <a:p>
            <a:pPr marL="0" indent="0" algn="l">
              <a:lnSpc>
                <a:spcPct val="128000"/>
              </a:lnSpc>
              <a:buNone/>
            </a:pPr>
            <a:endParaRPr lang="en-US" sz="12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1250" dirty="0">
                <a:solidFill>
                  <a:srgbClr val="8C9B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"Atlas hit max_steps without a final answer."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366760" y="1737360"/>
            <a:ext cx="3136392" cy="1051560"/>
          </a:xfrm>
          <a:prstGeom prst="roundRect">
            <a:avLst>
              <a:gd name="adj" fmla="val 8696"/>
            </a:avLst>
          </a:prstGeom>
          <a:solidFill>
            <a:srgbClr val="17163A"/>
          </a:solidFill>
          <a:ln w="15875">
            <a:solidFill>
              <a:srgbClr val="E5C07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522208" y="1828800"/>
            <a:ext cx="2834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E5C0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Aarav's memory
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8C9B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 every turn, hand the whole thing back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366760" y="3108960"/>
            <a:ext cx="3136392" cy="1051560"/>
          </a:xfrm>
          <a:prstGeom prst="roundRect">
            <a:avLst>
              <a:gd name="adj" fmla="val 8696"/>
            </a:avLst>
          </a:prstGeom>
          <a:solidFill>
            <a:srgbClr val="17163A"/>
          </a:solidFill>
          <a:ln w="15875">
            <a:solidFill>
              <a:srgbClr val="7DD8E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522208" y="3200400"/>
            <a:ext cx="2834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7DD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Arnab's loop
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8C9B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reason → act → observe, until done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366760" y="4937760"/>
            <a:ext cx="3136392" cy="1051560"/>
          </a:xfrm>
          <a:prstGeom prst="roundRect">
            <a:avLst>
              <a:gd name="adj" fmla="val 8696"/>
            </a:avLst>
          </a:prstGeom>
          <a:solidFill>
            <a:srgbClr val="17163A"/>
          </a:solidFill>
          <a:ln w="15875">
            <a:solidFill>
              <a:srgbClr val="F5C54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522208" y="5029200"/>
            <a:ext cx="2834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branch
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8C9B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 stops it; USE runs a tool</a:t>
            </a:r>
            <a:endParaRPr lang="en-US" sz="1200" dirty="0"/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07635" y="-55735"/>
            <a:ext cx="1022606" cy="1022606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1786"/>
            <a:ext cx="1645096" cy="712406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507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64739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200" dirty="0">
                <a:solidFill>
                  <a:srgbClr val="8C9B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ALCHEMY 4.0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0881360" y="647395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C9B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50292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kern="0" spc="300" dirty="0">
                <a:solidFill>
                  <a:srgbClr val="8C9B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 IT THINK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841248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EDEF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Tracing one real run, step by step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572768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8C9B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atlas("What is the capital of Japan? Also, what is 3847 * 219?")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915772" y="2468880"/>
            <a:ext cx="1965960" cy="1828800"/>
          </a:xfrm>
          <a:prstGeom prst="roundRect">
            <a:avLst>
              <a:gd name="adj" fmla="val 5000"/>
            </a:avLst>
          </a:prstGeom>
          <a:solidFill>
            <a:srgbClr val="17163A"/>
          </a:solidFill>
          <a:ln w="15875">
            <a:solidFill>
              <a:srgbClr val="7DD8E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07212" y="260604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7DD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 · REASON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1025500" y="3063240"/>
            <a:ext cx="174650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dirty="0">
                <a:solidFill>
                  <a:srgbClr val="ED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USE: search | capital of japan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890876" y="3300984"/>
            <a:ext cx="114300" cy="164592"/>
          </a:xfrm>
          <a:prstGeom prst="rightArrow">
            <a:avLst/>
          </a:prstGeom>
          <a:solidFill>
            <a:srgbClr val="F5C542"/>
          </a:solidFill>
          <a:ln/>
        </p:spPr>
      </p:sp>
      <p:sp>
        <p:nvSpPr>
          <p:cNvPr id="11" name="Shape 9"/>
          <p:cNvSpPr/>
          <p:nvPr/>
        </p:nvSpPr>
        <p:spPr>
          <a:xfrm>
            <a:off x="3014320" y="2468880"/>
            <a:ext cx="1965960" cy="1828800"/>
          </a:xfrm>
          <a:prstGeom prst="roundRect">
            <a:avLst>
              <a:gd name="adj" fmla="val 5000"/>
            </a:avLst>
          </a:prstGeom>
          <a:solidFill>
            <a:srgbClr val="17163A"/>
          </a:solidFill>
          <a:ln w="15875">
            <a:solidFill>
              <a:srgbClr val="98C379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105760" y="260604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98C3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OBSERVE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3124048" y="3063240"/>
            <a:ext cx="174650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dirty="0">
                <a:solidFill>
                  <a:srgbClr val="ED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Tokyo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989424" y="3300984"/>
            <a:ext cx="114300" cy="164592"/>
          </a:xfrm>
          <a:prstGeom prst="rightArrow">
            <a:avLst/>
          </a:prstGeom>
          <a:solidFill>
            <a:srgbClr val="F5C542"/>
          </a:solidFill>
          <a:ln/>
        </p:spPr>
      </p:sp>
      <p:sp>
        <p:nvSpPr>
          <p:cNvPr id="15" name="Shape 13"/>
          <p:cNvSpPr/>
          <p:nvPr/>
        </p:nvSpPr>
        <p:spPr>
          <a:xfrm>
            <a:off x="5112868" y="2468880"/>
            <a:ext cx="1965960" cy="1828800"/>
          </a:xfrm>
          <a:prstGeom prst="roundRect">
            <a:avLst>
              <a:gd name="adj" fmla="val 5000"/>
            </a:avLst>
          </a:prstGeom>
          <a:solidFill>
            <a:srgbClr val="17163A"/>
          </a:solidFill>
          <a:ln w="15875">
            <a:solidFill>
              <a:srgbClr val="7DD8E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204308" y="260604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7DD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 · REASON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5222596" y="3063240"/>
            <a:ext cx="174650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dirty="0">
                <a:solidFill>
                  <a:srgbClr val="ED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USE: calculator | 3847*219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087972" y="3300984"/>
            <a:ext cx="114300" cy="164592"/>
          </a:xfrm>
          <a:prstGeom prst="rightArrow">
            <a:avLst/>
          </a:prstGeom>
          <a:solidFill>
            <a:srgbClr val="F5C542"/>
          </a:solidFill>
          <a:ln/>
        </p:spPr>
      </p:sp>
      <p:sp>
        <p:nvSpPr>
          <p:cNvPr id="19" name="Shape 17"/>
          <p:cNvSpPr/>
          <p:nvPr/>
        </p:nvSpPr>
        <p:spPr>
          <a:xfrm>
            <a:off x="7211416" y="2468880"/>
            <a:ext cx="1965960" cy="1828800"/>
          </a:xfrm>
          <a:prstGeom prst="roundRect">
            <a:avLst>
              <a:gd name="adj" fmla="val 5000"/>
            </a:avLst>
          </a:prstGeom>
          <a:solidFill>
            <a:srgbClr val="17163A"/>
          </a:solidFill>
          <a:ln w="15875">
            <a:solidFill>
              <a:srgbClr val="98C379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302856" y="260604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98C3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OBSERVE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7321144" y="3063240"/>
            <a:ext cx="174650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dirty="0">
                <a:solidFill>
                  <a:srgbClr val="ED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842493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9186520" y="3300984"/>
            <a:ext cx="114300" cy="164592"/>
          </a:xfrm>
          <a:prstGeom prst="rightArrow">
            <a:avLst/>
          </a:prstGeom>
          <a:solidFill>
            <a:srgbClr val="F5C542"/>
          </a:solidFill>
          <a:ln/>
        </p:spPr>
      </p:sp>
      <p:sp>
        <p:nvSpPr>
          <p:cNvPr id="23" name="Shape 21"/>
          <p:cNvSpPr/>
          <p:nvPr/>
        </p:nvSpPr>
        <p:spPr>
          <a:xfrm>
            <a:off x="9309964" y="2468880"/>
            <a:ext cx="1965960" cy="1828800"/>
          </a:xfrm>
          <a:prstGeom prst="roundRect">
            <a:avLst>
              <a:gd name="adj" fmla="val 5000"/>
            </a:avLst>
          </a:prstGeom>
          <a:solidFill>
            <a:srgbClr val="17163A"/>
          </a:solidFill>
          <a:ln w="15875">
            <a:solidFill>
              <a:srgbClr val="F5C54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401404" y="260604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 · ANSWER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9419692" y="3063240"/>
            <a:ext cx="174650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dirty="0">
                <a:solidFill>
                  <a:srgbClr val="ED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Tokyo; 3847×219 = 842493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85800" y="4709160"/>
            <a:ext cx="10817352" cy="548640"/>
          </a:xfrm>
          <a:prstGeom prst="roundRect">
            <a:avLst>
              <a:gd name="adj" fmla="val 16667"/>
            </a:avLst>
          </a:prstGeom>
          <a:solidFill>
            <a:srgbClr val="17163A"/>
          </a:solidFill>
          <a:ln w="12700">
            <a:solidFill>
              <a:srgbClr val="2E3350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68680" y="4709160"/>
            <a:ext cx="104515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i="1" dirty="0">
                <a:solidFill>
                  <a:srgbClr val="98C3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OBSERVE</a:t>
            </a:r>
            <a:r>
              <a:rPr lang="en-US" sz="1600" i="1" dirty="0">
                <a:solidFill>
                  <a:srgbClr val="8C9B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gets written into memory before the next REASON step even starts.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85800" y="5486400"/>
            <a:ext cx="10817352" cy="822960"/>
          </a:xfrm>
          <a:prstGeom prst="roundRect">
            <a:avLst>
              <a:gd name="adj" fmla="val 11111"/>
            </a:avLst>
          </a:prstGeom>
          <a:solidFill>
            <a:srgbClr val="0D0F22"/>
          </a:solidFill>
          <a:ln w="12700">
            <a:solidFill>
              <a:srgbClr val="2E3350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941832" y="561441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200" dirty="0">
                <a:solidFill>
                  <a:srgbClr val="4A4E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960120" y="5961888"/>
            <a:ext cx="103144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300" dirty="0">
                <a:solidFill>
                  <a:srgbClr val="ED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print(atlas("What is the capital of Japan? Also, what is 3847 * 219?"))</a:t>
            </a:r>
            <a:endParaRPr lang="en-US" sz="1300" dirty="0"/>
          </a:p>
        </p:txBody>
      </p:sp>
      <p:pic>
        <p:nvPicPr>
          <p:cNvPr id="31" name="Picture 3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07635" y="-55735"/>
            <a:ext cx="1022606" cy="1022606"/>
          </a:xfrm>
          <a:prstGeom prst="rect">
            <a:avLst/>
          </a:prstGeom>
        </p:spPr>
      </p:pic>
      <p:pic>
        <p:nvPicPr>
          <p:cNvPr id="32" name="Picture 3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1786"/>
            <a:ext cx="1645096" cy="712406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507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64739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200" dirty="0">
                <a:solidFill>
                  <a:srgbClr val="8C9B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ALCHEMY 4.0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0881360" y="647395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C9B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50292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kern="0" spc="300" dirty="0">
                <a:solidFill>
                  <a:srgbClr val="8C9B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SUCCESS LOOKS LIKE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841248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EDEF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you should see when you run it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572768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8C9B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it. Raise your hand the moment you see that final ANSWER line.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85800" y="2468880"/>
            <a:ext cx="10817352" cy="3017520"/>
          </a:xfrm>
          <a:prstGeom prst="roundRect">
            <a:avLst>
              <a:gd name="adj" fmla="val 3030"/>
            </a:avLst>
          </a:prstGeom>
          <a:solidFill>
            <a:srgbClr val="0D0F22"/>
          </a:solidFill>
          <a:ln w="12700">
            <a:solidFill>
              <a:srgbClr val="2E335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41832" y="259689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200" dirty="0">
                <a:solidFill>
                  <a:srgbClr val="4A4E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2944368"/>
            <a:ext cx="10314432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600" dirty="0">
                <a:solidFill>
                  <a:srgbClr val="8C9B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[step 1] USE: search | capital of japan</a:t>
            </a:r>
            <a:endParaRPr lang="en-US" sz="16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60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-&gt; observed: Tokyo</a:t>
            </a:r>
            <a:endParaRPr lang="en-US" sz="16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600" dirty="0">
                <a:solidFill>
                  <a:srgbClr val="8C9B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[step 2] USE: calculator | 3847*219</a:t>
            </a:r>
            <a:endParaRPr lang="en-US" sz="16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60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-&gt; observed: 842493</a:t>
            </a:r>
            <a:endParaRPr lang="en-US" sz="16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600" dirty="0">
                <a:solidFill>
                  <a:srgbClr val="F5C5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[step 3] ANSWER: The capital of Japan is Tokyo, and 3847 * 219 = 842493.</a:t>
            </a:r>
            <a:endParaRPr lang="en-US" sz="1600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07635" y="-55735"/>
            <a:ext cx="1022606" cy="1022606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1786"/>
            <a:ext cx="1645096" cy="712406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507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64739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200" dirty="0">
                <a:solidFill>
                  <a:srgbClr val="8C9B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ALCHEMY 4.0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0881360" y="647395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C9B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514600"/>
            <a:ext cx="1072591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EDEF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built what the big</a:t>
            </a:r>
            <a:endParaRPr lang="en-US" sz="42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frameworks </a:t>
            </a:r>
            <a:r>
              <a:rPr lang="en-US" sz="4200" b="1" dirty="0" smtClean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sell</a:t>
            </a:r>
            <a:endParaRPr lang="en-US" sz="42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4114800"/>
            <a:ext cx="9445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8C9B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shape — hand-built by you this morning, packaged for production by someone else.</a:t>
            </a:r>
            <a:endParaRPr lang="en-US" sz="1600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07635" y="-55735"/>
            <a:ext cx="1022606" cy="1022606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1786"/>
            <a:ext cx="1645096" cy="712406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507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64739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200" dirty="0">
                <a:solidFill>
                  <a:srgbClr val="8C9B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ALCHEMY 4.0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0881360" y="647395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C9B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50292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kern="0" spc="300" dirty="0">
                <a:solidFill>
                  <a:srgbClr val="8C9B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FRAMEWORK 1 OF 2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841248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EDEF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LangGraph: your loop, drawn as a graph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572768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8C9B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Nodes are steps. Edges are what happens next. Shared state flows through both.</a:t>
            </a:r>
            <a:endParaRPr lang="en-US" sz="1500" dirty="0"/>
          </a:p>
        </p:txBody>
      </p:sp>
      <p:grpSp>
        <p:nvGrpSpPr>
          <p:cNvPr id="21" name="Group 20"/>
          <p:cNvGrpSpPr/>
          <p:nvPr/>
        </p:nvGrpSpPr>
        <p:grpSpPr>
          <a:xfrm>
            <a:off x="868680" y="2157984"/>
            <a:ext cx="10424160" cy="2651760"/>
            <a:chOff x="868680" y="1828800"/>
            <a:chExt cx="10424160" cy="2651760"/>
          </a:xfrm>
        </p:grpSpPr>
        <p:sp>
          <p:nvSpPr>
            <p:cNvPr id="7" name="Shape 5"/>
            <p:cNvSpPr/>
            <p:nvPr/>
          </p:nvSpPr>
          <p:spPr>
            <a:xfrm>
              <a:off x="868680" y="2743200"/>
              <a:ext cx="1920240" cy="1371600"/>
            </a:xfrm>
            <a:prstGeom prst="ellipse">
              <a:avLst/>
            </a:prstGeom>
            <a:solidFill>
              <a:srgbClr val="17163A"/>
            </a:solidFill>
            <a:ln w="22225">
              <a:solidFill>
                <a:srgbClr val="7DD8E0"/>
              </a:solidFill>
              <a:prstDash val="solid"/>
            </a:ln>
          </p:spPr>
        </p:sp>
        <p:sp>
          <p:nvSpPr>
            <p:cNvPr id="8" name="Text 6"/>
            <p:cNvSpPr txBox="1"/>
            <p:nvPr/>
          </p:nvSpPr>
          <p:spPr>
            <a:xfrm>
              <a:off x="868680" y="2743200"/>
              <a:ext cx="1920240" cy="1371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800" b="1" dirty="0">
                  <a:solidFill>
                    <a:srgbClr val="7DD8E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Reason</a:t>
              </a:r>
              <a:endParaRPr lang="en-US" sz="1800" dirty="0"/>
            </a:p>
          </p:txBody>
        </p:sp>
        <p:sp>
          <p:nvSpPr>
            <p:cNvPr id="9" name="Shape 7"/>
            <p:cNvSpPr/>
            <p:nvPr/>
          </p:nvSpPr>
          <p:spPr>
            <a:xfrm>
              <a:off x="5129784" y="1828800"/>
              <a:ext cx="1920240" cy="1371600"/>
            </a:xfrm>
            <a:prstGeom prst="ellipse">
              <a:avLst/>
            </a:prstGeom>
            <a:solidFill>
              <a:srgbClr val="17163A"/>
            </a:solidFill>
            <a:ln w="22225">
              <a:solidFill>
                <a:srgbClr val="7DD8E0"/>
              </a:solidFill>
              <a:prstDash val="solid"/>
            </a:ln>
          </p:spPr>
        </p:sp>
        <p:sp>
          <p:nvSpPr>
            <p:cNvPr id="10" name="Text 8"/>
            <p:cNvSpPr txBox="1"/>
            <p:nvPr/>
          </p:nvSpPr>
          <p:spPr>
            <a:xfrm>
              <a:off x="5129784" y="1828800"/>
              <a:ext cx="1920240" cy="1371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800" b="1" dirty="0">
                  <a:solidFill>
                    <a:srgbClr val="7DD8E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Act</a:t>
              </a:r>
              <a:endParaRPr lang="en-US" sz="1800" dirty="0"/>
            </a:p>
          </p:txBody>
        </p:sp>
        <p:sp>
          <p:nvSpPr>
            <p:cNvPr id="11" name="Shape 9"/>
            <p:cNvSpPr/>
            <p:nvPr/>
          </p:nvSpPr>
          <p:spPr>
            <a:xfrm>
              <a:off x="9372600" y="2743200"/>
              <a:ext cx="1920240" cy="1371600"/>
            </a:xfrm>
            <a:prstGeom prst="ellipse">
              <a:avLst/>
            </a:prstGeom>
            <a:solidFill>
              <a:srgbClr val="17163A"/>
            </a:solidFill>
            <a:ln w="22225">
              <a:solidFill>
                <a:srgbClr val="7DD8E0"/>
              </a:solidFill>
              <a:prstDash val="solid"/>
            </a:ln>
          </p:spPr>
        </p:sp>
        <p:sp>
          <p:nvSpPr>
            <p:cNvPr id="12" name="Text 10"/>
            <p:cNvSpPr txBox="1"/>
            <p:nvPr/>
          </p:nvSpPr>
          <p:spPr>
            <a:xfrm>
              <a:off x="9372600" y="2743200"/>
              <a:ext cx="1920240" cy="1371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800" b="1" dirty="0">
                  <a:solidFill>
                    <a:srgbClr val="7DD8E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Observe</a:t>
              </a:r>
              <a:endParaRPr lang="en-US" sz="1800" dirty="0"/>
            </a:p>
          </p:txBody>
        </p:sp>
        <p:sp>
          <p:nvSpPr>
            <p:cNvPr id="13" name="Shape 11"/>
            <p:cNvSpPr/>
            <p:nvPr/>
          </p:nvSpPr>
          <p:spPr>
            <a:xfrm flipV="1">
              <a:off x="2743200" y="2331720"/>
              <a:ext cx="2468880" cy="685800"/>
            </a:xfrm>
            <a:prstGeom prst="line">
              <a:avLst/>
            </a:prstGeom>
            <a:noFill/>
            <a:ln w="19050">
              <a:solidFill>
                <a:srgbClr val="8C9BC4"/>
              </a:solidFill>
              <a:prstDash val="solid"/>
            </a:ln>
          </p:spPr>
        </p:sp>
        <p:sp>
          <p:nvSpPr>
            <p:cNvPr id="14" name="Shape 12"/>
            <p:cNvSpPr/>
            <p:nvPr/>
          </p:nvSpPr>
          <p:spPr>
            <a:xfrm>
              <a:off x="6949440" y="2331720"/>
              <a:ext cx="2468880" cy="685800"/>
            </a:xfrm>
            <a:prstGeom prst="line">
              <a:avLst/>
            </a:prstGeom>
            <a:noFill/>
            <a:ln w="19050">
              <a:solidFill>
                <a:srgbClr val="8C9BC4"/>
              </a:solidFill>
              <a:prstDash val="solid"/>
            </a:ln>
          </p:spPr>
        </p:sp>
        <p:sp>
          <p:nvSpPr>
            <p:cNvPr id="15" name="Shape 13"/>
            <p:cNvSpPr/>
            <p:nvPr/>
          </p:nvSpPr>
          <p:spPr>
            <a:xfrm>
              <a:off x="2651760" y="4114800"/>
              <a:ext cx="7406640" cy="9144"/>
            </a:xfrm>
            <a:prstGeom prst="line">
              <a:avLst/>
            </a:prstGeom>
            <a:noFill/>
            <a:ln w="19050">
              <a:solidFill>
                <a:srgbClr val="8C9BC4"/>
              </a:solidFill>
              <a:prstDash val="dash"/>
            </a:ln>
          </p:spPr>
        </p:sp>
        <p:sp>
          <p:nvSpPr>
            <p:cNvPr id="16" name="Shape 14"/>
            <p:cNvSpPr/>
            <p:nvPr/>
          </p:nvSpPr>
          <p:spPr>
            <a:xfrm>
              <a:off x="10058400" y="3429000"/>
              <a:ext cx="9144" cy="685800"/>
            </a:xfrm>
            <a:prstGeom prst="line">
              <a:avLst/>
            </a:prstGeom>
            <a:noFill/>
            <a:ln w="19050">
              <a:solidFill>
                <a:srgbClr val="8C9BC4"/>
              </a:solidFill>
              <a:prstDash val="dash"/>
            </a:ln>
          </p:spPr>
        </p:sp>
        <p:sp>
          <p:nvSpPr>
            <p:cNvPr id="17" name="Shape 15"/>
            <p:cNvSpPr/>
            <p:nvPr/>
          </p:nvSpPr>
          <p:spPr>
            <a:xfrm>
              <a:off x="2651760" y="3429000"/>
              <a:ext cx="9144" cy="685800"/>
            </a:xfrm>
            <a:prstGeom prst="line">
              <a:avLst/>
            </a:prstGeom>
            <a:noFill/>
            <a:ln w="19050">
              <a:solidFill>
                <a:srgbClr val="8C9BC4"/>
              </a:solidFill>
              <a:prstDash val="dash"/>
            </a:ln>
          </p:spPr>
        </p:sp>
        <p:sp>
          <p:nvSpPr>
            <p:cNvPr id="18" name="Text 16"/>
            <p:cNvSpPr txBox="1"/>
            <p:nvPr/>
          </p:nvSpPr>
          <p:spPr>
            <a:xfrm>
              <a:off x="4023360" y="4206240"/>
              <a:ext cx="420624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i="1" dirty="0">
                  <a:solidFill>
                    <a:srgbClr val="5C6A94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state flows around the whole graph</a:t>
              </a:r>
              <a:endParaRPr lang="en-US" sz="1400" dirty="0"/>
            </a:p>
          </p:txBody>
        </p:sp>
      </p:grpSp>
      <p:sp>
        <p:nvSpPr>
          <p:cNvPr id="19" name="Shape 17"/>
          <p:cNvSpPr/>
          <p:nvPr/>
        </p:nvSpPr>
        <p:spPr>
          <a:xfrm>
            <a:off x="685800" y="4937760"/>
            <a:ext cx="10817352" cy="548640"/>
          </a:xfrm>
          <a:prstGeom prst="roundRect">
            <a:avLst>
              <a:gd name="adj" fmla="val 16667"/>
            </a:avLst>
          </a:prstGeom>
          <a:solidFill>
            <a:srgbClr val="17163A"/>
          </a:solidFill>
          <a:ln w="12700">
            <a:solidFill>
              <a:srgbClr val="2E335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68680" y="4937760"/>
            <a:ext cx="104515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i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That's your for loop.</a:t>
            </a:r>
            <a:r>
              <a:rPr lang="en-US" sz="1600" i="1" dirty="0">
                <a:solidFill>
                  <a:srgbClr val="8C9B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Just formalized, and drawn as a picture.</a:t>
            </a:r>
            <a:endParaRPr lang="en-US" sz="1600" dirty="0"/>
          </a:p>
        </p:txBody>
      </p:sp>
      <p:pic>
        <p:nvPicPr>
          <p:cNvPr id="22" name="Picture 2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07635" y="-55735"/>
            <a:ext cx="1022606" cy="1022606"/>
          </a:xfrm>
          <a:prstGeom prst="rect">
            <a:avLst/>
          </a:prstGeom>
        </p:spPr>
      </p:pic>
      <p:pic>
        <p:nvPicPr>
          <p:cNvPr id="23" name="Picture 2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1786"/>
            <a:ext cx="1645096" cy="712406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507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64739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200" dirty="0">
                <a:solidFill>
                  <a:srgbClr val="8C9B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ALCHEMY 4.0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0881360" y="647395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C9B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841248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EDEF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Conditional edges: branching on state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572768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8C9B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node can route to a different next step depending on what shared state holds.</a:t>
            </a:r>
            <a:endParaRPr lang="en-US" sz="1500" dirty="0"/>
          </a:p>
        </p:txBody>
      </p:sp>
      <p:sp>
        <p:nvSpPr>
          <p:cNvPr id="10" name="Code 10"/>
          <p:cNvSpPr txBox="1"/>
          <p:nvPr/>
        </p:nvSpPr>
        <p:spPr>
          <a:xfrm>
            <a:off x="685800" y="237744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C5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state["need_more_info"]:  -&gt;  route to Tool node</a:t>
            </a:r>
            <a:endParaRPr lang="en-US" sz="1400" dirty="0"/>
          </a:p>
        </p:txBody>
      </p:sp>
      <p:sp>
        <p:nvSpPr>
          <p:cNvPr id="11" name="Card 11"/>
          <p:cNvSpPr/>
          <p:nvPr/>
        </p:nvSpPr>
        <p:spPr>
          <a:xfrm>
            <a:off x="1737360" y="3200400"/>
            <a:ext cx="3886200" cy="1417320"/>
          </a:xfrm>
          <a:prstGeom prst="roundRect">
            <a:avLst>
              <a:gd name="adj" fmla="val 7692"/>
            </a:avLst>
          </a:prstGeom>
          <a:solidFill>
            <a:srgbClr val="17163A"/>
          </a:solidFill>
          <a:ln w="19050">
            <a:solidFill>
              <a:srgbClr val="7DD8E0"/>
            </a:solidFill>
            <a:prstDash val="solid"/>
          </a:ln>
        </p:spPr>
      </p:sp>
      <p:pic>
        <p:nvPicPr>
          <p:cNvPr id="12" name="Image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5960" y="3429000"/>
            <a:ext cx="502920" cy="502920"/>
          </a:xfrm>
          <a:prstGeom prst="rect">
            <a:avLst/>
          </a:prstGeom>
        </p:spPr>
      </p:pic>
      <p:sp>
        <p:nvSpPr>
          <p:cNvPr id="13" name="Text 13"/>
          <p:cNvSpPr txBox="1"/>
          <p:nvPr/>
        </p:nvSpPr>
        <p:spPr>
          <a:xfrm>
            <a:off x="2606040" y="3383280"/>
            <a:ext cx="2926080" cy="11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7DD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 node</a:t>
            </a:r>
            <a:endParaRPr lang="en-US" sz="12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150" dirty="0">
                <a:solidFill>
                  <a:srgbClr val="8C9B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Runs a tool, writes the result back into state.</a:t>
            </a:r>
            <a:endParaRPr lang="en-US" sz="1150" dirty="0"/>
          </a:p>
        </p:txBody>
      </p:sp>
      <p:sp>
        <p:nvSpPr>
          <p:cNvPr id="14" name="Card 14"/>
          <p:cNvSpPr/>
          <p:nvPr/>
        </p:nvSpPr>
        <p:spPr>
          <a:xfrm>
            <a:off x="6568440" y="3200400"/>
            <a:ext cx="3886200" cy="1417320"/>
          </a:xfrm>
          <a:prstGeom prst="roundRect">
            <a:avLst>
              <a:gd name="adj" fmla="val 7692"/>
            </a:avLst>
          </a:prstGeom>
          <a:solidFill>
            <a:srgbClr val="17163A"/>
          </a:solidFill>
          <a:ln w="19050">
            <a:solidFill>
              <a:srgbClr val="7DD8E0"/>
            </a:solidFill>
            <a:prstDash val="solid"/>
          </a:ln>
        </p:spPr>
      </p:sp>
      <p:pic>
        <p:nvPicPr>
          <p:cNvPr id="15" name="Image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7040" y="3429000"/>
            <a:ext cx="502920" cy="502920"/>
          </a:xfrm>
          <a:prstGeom prst="rect">
            <a:avLst/>
          </a:prstGeom>
        </p:spPr>
      </p:pic>
      <p:sp>
        <p:nvSpPr>
          <p:cNvPr id="16" name="Text 16"/>
          <p:cNvSpPr txBox="1"/>
          <p:nvPr/>
        </p:nvSpPr>
        <p:spPr>
          <a:xfrm>
            <a:off x="7437120" y="3383280"/>
            <a:ext cx="2926080" cy="11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7DD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</a:t>
            </a:r>
            <a:endParaRPr lang="en-US" sz="12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150" dirty="0">
                <a:solidFill>
                  <a:srgbClr val="8C9B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Enough info gathered — the graph halts here.</a:t>
            </a:r>
            <a:endParaRPr lang="en-US" sz="1150" dirty="0"/>
          </a:p>
        </p:txBody>
      </p:sp>
      <p:sp>
        <p:nvSpPr>
          <p:cNvPr id="17" name="Arrow 17"/>
          <p:cNvSpPr/>
          <p:nvPr/>
        </p:nvSpPr>
        <p:spPr>
          <a:xfrm>
            <a:off x="5715000" y="3808476"/>
            <a:ext cx="685800" cy="201168"/>
          </a:xfrm>
          <a:prstGeom prst="rightArrow">
            <a:avLst/>
          </a:prstGeom>
          <a:solidFill>
            <a:srgbClr val="F5C542"/>
          </a:solidFill>
          <a:ln/>
        </p:spPr>
      </p:sp>
      <p:sp>
        <p:nvSpPr>
          <p:cNvPr id="20" name="Shape Q"/>
          <p:cNvSpPr/>
          <p:nvPr/>
        </p:nvSpPr>
        <p:spPr>
          <a:xfrm>
            <a:off x="685800" y="4937760"/>
            <a:ext cx="10817352" cy="548640"/>
          </a:xfrm>
          <a:prstGeom prst="roundRect">
            <a:avLst>
              <a:gd name="adj" fmla="val 16667"/>
            </a:avLst>
          </a:prstGeom>
          <a:solidFill>
            <a:srgbClr val="17163A"/>
          </a:solidFill>
          <a:ln w="12700">
            <a:solidFill>
              <a:srgbClr val="2E3350"/>
            </a:solidFill>
            <a:prstDash val="solid"/>
          </a:ln>
        </p:spPr>
      </p:sp>
      <p:sp>
        <p:nvSpPr>
          <p:cNvPr id="21" name="Text Q"/>
          <p:cNvSpPr txBox="1"/>
          <p:nvPr/>
        </p:nvSpPr>
        <p:spPr>
          <a:xfrm>
            <a:off x="868680" y="4937760"/>
            <a:ext cx="104515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i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That's your if/else —</a:t>
            </a:r>
            <a:r>
              <a:rPr lang="en-US" sz="1600" i="1" dirty="0">
                <a:solidFill>
                  <a:srgbClr val="8C9B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LangGraph just draws it as a labeled edge between nodes.</a:t>
            </a:r>
            <a:endParaRPr lang="en-US" sz="1600" dirty="0"/>
          </a:p>
        </p:txBody>
      </p:sp>
      <p:pic>
        <p:nvPicPr>
          <p:cNvPr id="90" name="Picture 21"/>
          <p:cNvPicPr>
            <a:picLocks noChangeAspect="1"/>
          </p:cNvPicPr>
          <p:nvPr/>
        </p:nvPicPr>
        <p:blipFill>
          <a:blip r:embed="rId4">
            <a:extLst>
              <a:ext uri="{{28A0092B-C50C-407E-A947-70E740481C1C}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1007635" y="-55735"/>
            <a:ext cx="1022606" cy="1022606"/>
          </a:xfrm>
          <a:prstGeom prst="rect">
            <a:avLst/>
          </a:prstGeom>
        </p:spPr>
      </p:pic>
      <p:pic>
        <p:nvPicPr>
          <p:cNvPr id="91" name="Picture 22"/>
          <p:cNvPicPr>
            <a:picLocks noChangeAspect="1"/>
          </p:cNvPicPr>
          <p:nvPr/>
        </p:nvPicPr>
        <p:blipFill>
          <a:blip r:embed="rId5">
            <a:extLst>
              <a:ext uri="{{28A0092B-C50C-407E-A947-70E740481C1C}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-31786"/>
            <a:ext cx="1645096" cy="712406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507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64739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200" dirty="0">
                <a:solidFill>
                  <a:srgbClr val="8C9B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ALCHEMY 4.0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0881360" y="647395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C9B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841248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EDEF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teams reach for LangGraph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572768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8C9B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same loop you built — with three things bolted on at scale.</a:t>
            </a:r>
            <a:endParaRPr lang="en-US" sz="1500" dirty="0"/>
          </a:p>
        </p:txBody>
      </p:sp>
      <p:sp>
        <p:nvSpPr>
          <p:cNvPr id="10" name="Card 10"/>
          <p:cNvSpPr/>
          <p:nvPr/>
        </p:nvSpPr>
        <p:spPr>
          <a:xfrm>
            <a:off x="685800" y="2286000"/>
            <a:ext cx="3352800" cy="2362200"/>
          </a:xfrm>
          <a:prstGeom prst="roundRect">
            <a:avLst>
              <a:gd name="adj" fmla="val 7692"/>
            </a:avLst>
          </a:prstGeom>
          <a:solidFill>
            <a:srgbClr val="17163A"/>
          </a:solidFill>
          <a:ln w="19050">
            <a:solidFill>
              <a:srgbClr val="7DD8E0"/>
            </a:solidFill>
            <a:prstDash val="solid"/>
          </a:ln>
        </p:spPr>
      </p:sp>
      <p:pic>
        <p:nvPicPr>
          <p:cNvPr id="11" name="Image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7880" y="2514600"/>
            <a:ext cx="548640" cy="548640"/>
          </a:xfrm>
          <a:prstGeom prst="rect">
            <a:avLst/>
          </a:prstGeom>
        </p:spPr>
      </p:pic>
      <p:sp>
        <p:nvSpPr>
          <p:cNvPr id="12" name="Text 12"/>
          <p:cNvSpPr txBox="1"/>
          <p:nvPr/>
        </p:nvSpPr>
        <p:spPr>
          <a:xfrm>
            <a:off x="914400" y="3246120"/>
            <a:ext cx="2895600" cy="1312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7DD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Persistent state</a:t>
            </a:r>
            <a:endParaRPr lang="en-US" sz="135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150" dirty="0">
                <a:solidFill>
                  <a:srgbClr val="8C9B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Checkpoints save progress — resume a run exactly where it left off.</a:t>
            </a:r>
            <a:endParaRPr lang="en-US" sz="1150" dirty="0"/>
          </a:p>
        </p:txBody>
      </p:sp>
      <p:sp>
        <p:nvSpPr>
          <p:cNvPr id="13" name="Card 13"/>
          <p:cNvSpPr/>
          <p:nvPr/>
        </p:nvSpPr>
        <p:spPr>
          <a:xfrm>
            <a:off x="4221480" y="2286000"/>
            <a:ext cx="3352800" cy="2362200"/>
          </a:xfrm>
          <a:prstGeom prst="roundRect">
            <a:avLst>
              <a:gd name="adj" fmla="val 7692"/>
            </a:avLst>
          </a:prstGeom>
          <a:solidFill>
            <a:srgbClr val="17163A"/>
          </a:solidFill>
          <a:ln w="19050">
            <a:solidFill>
              <a:srgbClr val="7DD8E0"/>
            </a:solidFill>
            <a:prstDash val="solid"/>
          </a:ln>
        </p:spPr>
      </p:sp>
      <p:pic>
        <p:nvPicPr>
          <p:cNvPr id="14" name="Image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23560" y="2514600"/>
            <a:ext cx="548640" cy="548640"/>
          </a:xfrm>
          <a:prstGeom prst="rect">
            <a:avLst/>
          </a:prstGeom>
        </p:spPr>
      </p:pic>
      <p:sp>
        <p:nvSpPr>
          <p:cNvPr id="15" name="Text 15"/>
          <p:cNvSpPr txBox="1"/>
          <p:nvPr/>
        </p:nvSpPr>
        <p:spPr>
          <a:xfrm>
            <a:off x="4450080" y="3246120"/>
            <a:ext cx="2895600" cy="1312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7DD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Human-in-the-loop</a:t>
            </a:r>
            <a:endParaRPr lang="en-US" sz="135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150" dirty="0">
                <a:solidFill>
                  <a:srgbClr val="8C9B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Pause the graph, wait for approval, then continue from that node.</a:t>
            </a:r>
            <a:endParaRPr lang="en-US" sz="1150" dirty="0"/>
          </a:p>
        </p:txBody>
      </p:sp>
      <p:sp>
        <p:nvSpPr>
          <p:cNvPr id="16" name="Card 16"/>
          <p:cNvSpPr/>
          <p:nvPr/>
        </p:nvSpPr>
        <p:spPr>
          <a:xfrm>
            <a:off x="7757160" y="2286000"/>
            <a:ext cx="3352800" cy="2362200"/>
          </a:xfrm>
          <a:prstGeom prst="roundRect">
            <a:avLst>
              <a:gd name="adj" fmla="val 7692"/>
            </a:avLst>
          </a:prstGeom>
          <a:solidFill>
            <a:srgbClr val="17163A"/>
          </a:solidFill>
          <a:ln w="19050">
            <a:solidFill>
              <a:srgbClr val="7DD8E0"/>
            </a:solidFill>
            <a:prstDash val="solid"/>
          </a:ln>
        </p:spPr>
      </p:sp>
      <p:pic>
        <p:nvPicPr>
          <p:cNvPr id="17" name="Image 1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59240" y="2514600"/>
            <a:ext cx="548640" cy="548640"/>
          </a:xfrm>
          <a:prstGeom prst="rect">
            <a:avLst/>
          </a:prstGeom>
        </p:spPr>
      </p:pic>
      <p:sp>
        <p:nvSpPr>
          <p:cNvPr id="18" name="Text 18"/>
          <p:cNvSpPr txBox="1"/>
          <p:nvPr/>
        </p:nvSpPr>
        <p:spPr>
          <a:xfrm>
            <a:off x="7985760" y="3246120"/>
            <a:ext cx="2895600" cy="1312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7DD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Multi-agent graphs</a:t>
            </a:r>
            <a:endParaRPr lang="en-US" sz="135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150" dirty="0">
                <a:solidFill>
                  <a:srgbClr val="8C9B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Wire several specialized agents into one larger, structured graph.</a:t>
            </a:r>
            <a:endParaRPr lang="en-US" sz="1150" dirty="0"/>
          </a:p>
        </p:txBody>
      </p:sp>
      <p:sp>
        <p:nvSpPr>
          <p:cNvPr id="30" name="Shape Q"/>
          <p:cNvSpPr/>
          <p:nvPr/>
        </p:nvSpPr>
        <p:spPr>
          <a:xfrm>
            <a:off x="685800" y="4937760"/>
            <a:ext cx="10817352" cy="548640"/>
          </a:xfrm>
          <a:prstGeom prst="roundRect">
            <a:avLst>
              <a:gd name="adj" fmla="val 16667"/>
            </a:avLst>
          </a:prstGeom>
          <a:solidFill>
            <a:srgbClr val="17163A"/>
          </a:solidFill>
          <a:ln w="12700">
            <a:solidFill>
              <a:srgbClr val="2E3350"/>
            </a:solidFill>
            <a:prstDash val="solid"/>
          </a:ln>
        </p:spPr>
      </p:sp>
      <p:sp>
        <p:nvSpPr>
          <p:cNvPr id="31" name="Text Q"/>
          <p:cNvSpPr txBox="1"/>
          <p:nvPr/>
        </p:nvSpPr>
        <p:spPr>
          <a:xfrm>
            <a:off x="868680" y="4937760"/>
            <a:ext cx="104515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i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reason → act → observe loop —</a:t>
            </a:r>
            <a:r>
              <a:rPr lang="en-US" sz="1600" i="1" dirty="0">
                <a:solidFill>
                  <a:srgbClr val="8C9B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now able to persist, pause, and scale to many agents.</a:t>
            </a:r>
            <a:endParaRPr lang="en-US" sz="1600" dirty="0"/>
          </a:p>
        </p:txBody>
      </p:sp>
      <p:pic>
        <p:nvPicPr>
          <p:cNvPr id="90" name="Picture 21"/>
          <p:cNvPicPr>
            <a:picLocks noChangeAspect="1"/>
          </p:cNvPicPr>
          <p:nvPr/>
        </p:nvPicPr>
        <p:blipFill>
          <a:blip r:embed="rId5">
            <a:extLst>
              <a:ext uri="{{28A0092B-C50C-407E-A947-70E740481C1C}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1007635" y="-55735"/>
            <a:ext cx="1022606" cy="1022606"/>
          </a:xfrm>
          <a:prstGeom prst="rect">
            <a:avLst/>
          </a:prstGeom>
        </p:spPr>
      </p:pic>
      <p:pic>
        <p:nvPicPr>
          <p:cNvPr id="91" name="Picture 22"/>
          <p:cNvPicPr>
            <a:picLocks noChangeAspect="1"/>
          </p:cNvPicPr>
          <p:nvPr/>
        </p:nvPicPr>
        <p:blipFill>
          <a:blip r:embed="rId6">
            <a:extLst>
              <a:ext uri="{{28A0092B-C50C-407E-A947-70E740481C1C}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-31786"/>
            <a:ext cx="1645096" cy="712406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507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64739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200" dirty="0">
                <a:solidFill>
                  <a:srgbClr val="8C9B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ALCHEMY 4.0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0881360" y="647395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C9B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50292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kern="0" spc="300" dirty="0">
                <a:solidFill>
                  <a:srgbClr val="8C9B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FRAMEWORK 2 OF 2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841248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EDEF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CrewAI: pre-built roles, wired together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572768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8C9B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Agents get a role and a task; CrewAI handles the plumbing between them.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566160" y="2377440"/>
            <a:ext cx="5029200" cy="1005840"/>
          </a:xfrm>
          <a:prstGeom prst="roundRect">
            <a:avLst>
              <a:gd name="adj" fmla="val 9091"/>
            </a:avLst>
          </a:prstGeom>
          <a:solidFill>
            <a:srgbClr val="17163A"/>
          </a:solidFill>
          <a:ln w="19050">
            <a:solidFill>
              <a:srgbClr val="F5C542"/>
            </a:solidFill>
            <a:prstDash val="solid"/>
          </a:ln>
        </p:spPr>
      </p:sp>
      <p:pic>
        <p:nvPicPr>
          <p:cNvPr id="8" name="Image 0" descr="/home/claude/deck_build/icons/FaUserGroup_go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4760" y="2587752"/>
            <a:ext cx="548640" cy="54864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4526280" y="2377440"/>
            <a:ext cx="3931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5C5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Crew([...agents], tasks=[...])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1737360" y="3977640"/>
            <a:ext cx="3657600" cy="1188720"/>
          </a:xfrm>
          <a:prstGeom prst="roundRect">
            <a:avLst>
              <a:gd name="adj" fmla="val 7692"/>
            </a:avLst>
          </a:prstGeom>
          <a:solidFill>
            <a:srgbClr val="17163A"/>
          </a:solidFill>
          <a:ln w="15875">
            <a:solidFill>
              <a:srgbClr val="7DD8E0"/>
            </a:solidFill>
            <a:prstDash val="solid"/>
          </a:ln>
        </p:spPr>
      </p:sp>
      <p:pic>
        <p:nvPicPr>
          <p:cNvPr id="11" name="Image 1" descr="/home/claude/deck_build/icons/magnify_cya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65960" y="4160520"/>
            <a:ext cx="502920" cy="50292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2651760" y="411480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7DD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Researcher
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8C9B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 + goal + backstory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5486400" y="4480560"/>
            <a:ext cx="1219200" cy="182880"/>
          </a:xfrm>
          <a:prstGeom prst="rightArrow">
            <a:avLst/>
          </a:prstGeom>
          <a:solidFill>
            <a:srgbClr val="F5C542"/>
          </a:solidFill>
          <a:ln/>
        </p:spPr>
      </p:sp>
      <p:sp>
        <p:nvSpPr>
          <p:cNvPr id="14" name="Shape 10"/>
          <p:cNvSpPr/>
          <p:nvPr/>
        </p:nvSpPr>
        <p:spPr>
          <a:xfrm>
            <a:off x="6766560" y="3977640"/>
            <a:ext cx="3657600" cy="1188720"/>
          </a:xfrm>
          <a:prstGeom prst="roundRect">
            <a:avLst>
              <a:gd name="adj" fmla="val 7692"/>
            </a:avLst>
          </a:prstGeom>
          <a:solidFill>
            <a:srgbClr val="17163A"/>
          </a:solidFill>
          <a:ln w="15875">
            <a:solidFill>
              <a:srgbClr val="7DD8E0"/>
            </a:solidFill>
            <a:prstDash val="solid"/>
          </a:ln>
        </p:spPr>
      </p:sp>
      <p:pic>
        <p:nvPicPr>
          <p:cNvPr id="15" name="Image 2" descr="/home/claude/deck_build/icons/FaPenNib_cya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95160" y="4160520"/>
            <a:ext cx="502920" cy="50292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7680960" y="411480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7DD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Writer
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8C9B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 + goal + backstory</a:t>
            </a:r>
            <a:endParaRPr lang="en-US" sz="1250" dirty="0"/>
          </a:p>
        </p:txBody>
      </p:sp>
      <p:sp>
        <p:nvSpPr>
          <p:cNvPr id="17" name="Shape 12"/>
          <p:cNvSpPr/>
          <p:nvPr/>
        </p:nvSpPr>
        <p:spPr>
          <a:xfrm>
            <a:off x="3566160" y="3383280"/>
            <a:ext cx="1463040" cy="594360"/>
          </a:xfrm>
          <a:prstGeom prst="line">
            <a:avLst/>
          </a:prstGeom>
          <a:noFill/>
          <a:ln w="19050">
            <a:solidFill>
              <a:srgbClr val="2E3350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6126480" y="3383280"/>
            <a:ext cx="2468880" cy="594360"/>
          </a:xfrm>
          <a:prstGeom prst="line">
            <a:avLst/>
          </a:prstGeom>
          <a:noFill/>
          <a:ln w="19050">
            <a:solidFill>
              <a:srgbClr val="2E3350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685800" y="5486400"/>
            <a:ext cx="10817352" cy="548640"/>
          </a:xfrm>
          <a:prstGeom prst="roundRect">
            <a:avLst>
              <a:gd name="adj" fmla="val 16667"/>
            </a:avLst>
          </a:prstGeom>
          <a:solidFill>
            <a:srgbClr val="17163A"/>
          </a:solidFill>
          <a:ln w="12700">
            <a:solidFill>
              <a:srgbClr val="2E3350"/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868680" y="5486400"/>
            <a:ext cx="104515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i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That's exactly the Researcher → Writer chain</a:t>
            </a:r>
            <a:r>
              <a:rPr lang="en-US" sz="1600" i="1" dirty="0">
                <a:solidFill>
                  <a:srgbClr val="8C9B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you're about to build by hand, next.</a:t>
            </a:r>
            <a:endParaRPr lang="en-US" sz="1600" dirty="0"/>
          </a:p>
        </p:txBody>
      </p:sp>
      <p:pic>
        <p:nvPicPr>
          <p:cNvPr id="21" name="Picture 20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07635" y="-55735"/>
            <a:ext cx="1022606" cy="1022606"/>
          </a:xfrm>
          <a:prstGeom prst="rect">
            <a:avLst/>
          </a:prstGeom>
        </p:spPr>
      </p:pic>
      <p:pic>
        <p:nvPicPr>
          <p:cNvPr id="22" name="Picture 21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1786"/>
            <a:ext cx="1645096" cy="712406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507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64739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200" dirty="0">
                <a:solidFill>
                  <a:srgbClr val="8C9B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ALCHEMY 4.0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0881360" y="647395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C9B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841248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EDEF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Process: sequential vs. hierarchical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572768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8C9B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CrewAI runs tasks two ways — pick whichever matches how the work should flow.</a:t>
            </a:r>
            <a:endParaRPr lang="en-US" sz="1500" dirty="0"/>
          </a:p>
        </p:txBody>
      </p:sp>
      <p:sp>
        <p:nvSpPr>
          <p:cNvPr id="10" name="Card 10"/>
          <p:cNvSpPr/>
          <p:nvPr/>
        </p:nvSpPr>
        <p:spPr>
          <a:xfrm>
            <a:off x="685800" y="2286000"/>
            <a:ext cx="5059680" cy="2362200"/>
          </a:xfrm>
          <a:prstGeom prst="roundRect">
            <a:avLst>
              <a:gd name="adj" fmla="val 6000"/>
            </a:avLst>
          </a:prstGeom>
          <a:solidFill>
            <a:srgbClr val="17163A"/>
          </a:solidFill>
          <a:ln w="19050">
            <a:solidFill>
              <a:srgbClr val="7DD8E0"/>
            </a:solidFill>
            <a:prstDash val="solid"/>
          </a:ln>
        </p:spPr>
      </p:sp>
      <p:pic>
        <p:nvPicPr>
          <p:cNvPr id="11" name="Image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2560320"/>
            <a:ext cx="548640" cy="548640"/>
          </a:xfrm>
          <a:prstGeom prst="rect">
            <a:avLst/>
          </a:prstGeom>
        </p:spPr>
      </p:pic>
      <p:sp>
        <p:nvSpPr>
          <p:cNvPr id="12" name="Text 12"/>
          <p:cNvSpPr txBox="1"/>
          <p:nvPr/>
        </p:nvSpPr>
        <p:spPr>
          <a:xfrm>
            <a:off x="960120" y="3291840"/>
            <a:ext cx="4511040" cy="1264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7DD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Sequential</a:t>
            </a:r>
            <a:endParaRPr lang="en-US" sz="16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400" dirty="0">
                <a:solidFill>
                  <a:srgbClr val="8C9B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1 -&gt; Task 2 -&gt; Task 3. Each agent waits its turn; one's output feeds the next.</a:t>
            </a:r>
            <a:endParaRPr lang="en-US" sz="1400" dirty="0"/>
          </a:p>
        </p:txBody>
      </p:sp>
      <p:sp>
        <p:nvSpPr>
          <p:cNvPr id="13" name="Card 13"/>
          <p:cNvSpPr/>
          <p:nvPr/>
        </p:nvSpPr>
        <p:spPr>
          <a:xfrm>
            <a:off x="6050280" y="2286000"/>
            <a:ext cx="5059680" cy="2362200"/>
          </a:xfrm>
          <a:prstGeom prst="roundRect">
            <a:avLst>
              <a:gd name="adj" fmla="val 6000"/>
            </a:avLst>
          </a:prstGeom>
          <a:solidFill>
            <a:srgbClr val="17163A"/>
          </a:solidFill>
          <a:ln w="19050">
            <a:solidFill>
              <a:srgbClr val="F5C542"/>
            </a:solidFill>
            <a:prstDash val="solid"/>
          </a:ln>
        </p:spPr>
      </p:sp>
      <p:pic>
        <p:nvPicPr>
          <p:cNvPr id="14" name="Image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4600" y="2560320"/>
            <a:ext cx="548640" cy="548640"/>
          </a:xfrm>
          <a:prstGeom prst="rect">
            <a:avLst/>
          </a:prstGeom>
        </p:spPr>
      </p:pic>
      <p:sp>
        <p:nvSpPr>
          <p:cNvPr id="15" name="Text 15"/>
          <p:cNvSpPr txBox="1"/>
          <p:nvPr/>
        </p:nvSpPr>
        <p:spPr>
          <a:xfrm>
            <a:off x="6324600" y="3291840"/>
            <a:ext cx="4511040" cy="1264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Hierarchical</a:t>
            </a:r>
            <a:endParaRPr lang="en-US" sz="16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400" dirty="0">
                <a:solidFill>
                  <a:srgbClr val="8C9B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manager agent plans, delegates, and reviews work from the rest of the crew.</a:t>
            </a:r>
            <a:endParaRPr lang="en-US" sz="1400" dirty="0"/>
          </a:p>
        </p:txBody>
      </p:sp>
      <p:sp>
        <p:nvSpPr>
          <p:cNvPr id="20" name="Shape Q"/>
          <p:cNvSpPr/>
          <p:nvPr/>
        </p:nvSpPr>
        <p:spPr>
          <a:xfrm>
            <a:off x="685800" y="4937760"/>
            <a:ext cx="10817352" cy="548640"/>
          </a:xfrm>
          <a:prstGeom prst="roundRect">
            <a:avLst>
              <a:gd name="adj" fmla="val 16667"/>
            </a:avLst>
          </a:prstGeom>
          <a:solidFill>
            <a:srgbClr val="17163A"/>
          </a:solidFill>
          <a:ln w="12700">
            <a:solidFill>
              <a:srgbClr val="2E3350"/>
            </a:solidFill>
            <a:prstDash val="solid"/>
          </a:ln>
        </p:spPr>
      </p:sp>
      <p:sp>
        <p:nvSpPr>
          <p:cNvPr id="21" name="Text Q"/>
          <p:cNvSpPr txBox="1"/>
          <p:nvPr/>
        </p:nvSpPr>
        <p:spPr>
          <a:xfrm>
            <a:off x="868680" y="4937760"/>
            <a:ext cx="104515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i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You'll wire Sequential for your own crew next —</a:t>
            </a:r>
            <a:r>
              <a:rPr lang="en-US" sz="1600" i="1" dirty="0">
                <a:solidFill>
                  <a:srgbClr val="8C9B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Hierarchical unlocks once one agent must manage others.</a:t>
            </a:r>
            <a:endParaRPr lang="en-US" sz="1600" dirty="0"/>
          </a:p>
        </p:txBody>
      </p:sp>
      <p:pic>
        <p:nvPicPr>
          <p:cNvPr id="90" name="Picture 21"/>
          <p:cNvPicPr>
            <a:picLocks noChangeAspect="1"/>
          </p:cNvPicPr>
          <p:nvPr/>
        </p:nvPicPr>
        <p:blipFill>
          <a:blip r:embed="rId4">
            <a:extLst>
              <a:ext uri="{{28A0092B-C50C-407E-A947-70E740481C1C}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1007635" y="-55735"/>
            <a:ext cx="1022606" cy="1022606"/>
          </a:xfrm>
          <a:prstGeom prst="rect">
            <a:avLst/>
          </a:prstGeom>
        </p:spPr>
      </p:pic>
      <p:pic>
        <p:nvPicPr>
          <p:cNvPr id="91" name="Picture 22"/>
          <p:cNvPicPr>
            <a:picLocks noChangeAspect="1"/>
          </p:cNvPicPr>
          <p:nvPr/>
        </p:nvPicPr>
        <p:blipFill>
          <a:blip r:embed="rId5">
            <a:extLst>
              <a:ext uri="{{28A0092B-C50C-407E-A947-70E740481C1C}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-31786"/>
            <a:ext cx="1645096" cy="712406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507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64739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200" dirty="0">
                <a:solidFill>
                  <a:srgbClr val="8C9B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ALCHEMY 4.0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0881360" y="647395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C9B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841248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EDEF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Built-in tools and guardrails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572768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8C9B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CrewAI adds on top of agents and tasks, so a crew survives production.</a:t>
            </a:r>
            <a:endParaRPr lang="en-US" sz="1500" dirty="0"/>
          </a:p>
        </p:txBody>
      </p:sp>
      <p:sp>
        <p:nvSpPr>
          <p:cNvPr id="10" name="Card 10"/>
          <p:cNvSpPr/>
          <p:nvPr/>
        </p:nvSpPr>
        <p:spPr>
          <a:xfrm>
            <a:off x="685800" y="2286000"/>
            <a:ext cx="3352800" cy="2362200"/>
          </a:xfrm>
          <a:prstGeom prst="roundRect">
            <a:avLst>
              <a:gd name="adj" fmla="val 7692"/>
            </a:avLst>
          </a:prstGeom>
          <a:solidFill>
            <a:srgbClr val="17163A"/>
          </a:solidFill>
          <a:ln w="19050">
            <a:solidFill>
              <a:srgbClr val="7DD8E0"/>
            </a:solidFill>
            <a:prstDash val="solid"/>
          </a:ln>
        </p:spPr>
      </p:sp>
      <p:pic>
        <p:nvPicPr>
          <p:cNvPr id="11" name="Image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7880" y="2514600"/>
            <a:ext cx="548640" cy="548640"/>
          </a:xfrm>
          <a:prstGeom prst="rect">
            <a:avLst/>
          </a:prstGeom>
        </p:spPr>
      </p:pic>
      <p:sp>
        <p:nvSpPr>
          <p:cNvPr id="12" name="Text 12"/>
          <p:cNvSpPr txBox="1"/>
          <p:nvPr/>
        </p:nvSpPr>
        <p:spPr>
          <a:xfrm>
            <a:off x="914400" y="3246120"/>
            <a:ext cx="2895600" cy="1312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7DD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Structured outputs</a:t>
            </a:r>
            <a:endParaRPr lang="en-US" sz="16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400" dirty="0">
                <a:solidFill>
                  <a:srgbClr val="8C9B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Tasks can require exact JSON or Pydantic shapes, not just free text.</a:t>
            </a:r>
            <a:endParaRPr lang="en-US" sz="1400" dirty="0"/>
          </a:p>
        </p:txBody>
      </p:sp>
      <p:sp>
        <p:nvSpPr>
          <p:cNvPr id="13" name="Card 13"/>
          <p:cNvSpPr/>
          <p:nvPr/>
        </p:nvSpPr>
        <p:spPr>
          <a:xfrm>
            <a:off x="4221480" y="2286000"/>
            <a:ext cx="3352800" cy="2362200"/>
          </a:xfrm>
          <a:prstGeom prst="roundRect">
            <a:avLst>
              <a:gd name="adj" fmla="val 7692"/>
            </a:avLst>
          </a:prstGeom>
          <a:solidFill>
            <a:srgbClr val="17163A"/>
          </a:solidFill>
          <a:ln w="19050">
            <a:solidFill>
              <a:srgbClr val="7DD8E0"/>
            </a:solidFill>
            <a:prstDash val="solid"/>
          </a:ln>
        </p:spPr>
      </p:sp>
      <p:pic>
        <p:nvPicPr>
          <p:cNvPr id="14" name="Image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23560" y="2514600"/>
            <a:ext cx="548640" cy="548640"/>
          </a:xfrm>
          <a:prstGeom prst="rect">
            <a:avLst/>
          </a:prstGeom>
        </p:spPr>
      </p:pic>
      <p:sp>
        <p:nvSpPr>
          <p:cNvPr id="15" name="Text 15"/>
          <p:cNvSpPr txBox="1"/>
          <p:nvPr/>
        </p:nvSpPr>
        <p:spPr>
          <a:xfrm>
            <a:off x="4450080" y="3246120"/>
            <a:ext cx="2895600" cy="1312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7DD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Built-in tool integrations</a:t>
            </a:r>
            <a:endParaRPr lang="en-US" sz="16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400" dirty="0">
                <a:solidFill>
                  <a:srgbClr val="8C9B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search, file I/O, APIs — agents call them like any other tool.</a:t>
            </a:r>
            <a:endParaRPr lang="en-US" sz="1400" dirty="0"/>
          </a:p>
        </p:txBody>
      </p:sp>
      <p:sp>
        <p:nvSpPr>
          <p:cNvPr id="16" name="Card 16"/>
          <p:cNvSpPr/>
          <p:nvPr/>
        </p:nvSpPr>
        <p:spPr>
          <a:xfrm>
            <a:off x="7757160" y="2286000"/>
            <a:ext cx="3352800" cy="2362200"/>
          </a:xfrm>
          <a:prstGeom prst="roundRect">
            <a:avLst>
              <a:gd name="adj" fmla="val 7692"/>
            </a:avLst>
          </a:prstGeom>
          <a:solidFill>
            <a:srgbClr val="17163A"/>
          </a:solidFill>
          <a:ln w="19050">
            <a:solidFill>
              <a:srgbClr val="7DD8E0"/>
            </a:solidFill>
            <a:prstDash val="solid"/>
          </a:ln>
        </p:spPr>
      </p:sp>
      <p:pic>
        <p:nvPicPr>
          <p:cNvPr id="17" name="Image 1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59240" y="2514600"/>
            <a:ext cx="548640" cy="548640"/>
          </a:xfrm>
          <a:prstGeom prst="rect">
            <a:avLst/>
          </a:prstGeom>
        </p:spPr>
      </p:pic>
      <p:sp>
        <p:nvSpPr>
          <p:cNvPr id="18" name="Text 18"/>
          <p:cNvSpPr txBox="1"/>
          <p:nvPr/>
        </p:nvSpPr>
        <p:spPr>
          <a:xfrm>
            <a:off x="7985760" y="3246120"/>
            <a:ext cx="2895600" cy="1312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7DD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Guardrails</a:t>
            </a:r>
            <a:endParaRPr lang="en-US" sz="16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400" dirty="0">
                <a:solidFill>
                  <a:srgbClr val="8C9B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Retries, validation, and max iterations stop a crew from spinning forever.</a:t>
            </a:r>
            <a:endParaRPr lang="en-US" sz="1400" dirty="0"/>
          </a:p>
        </p:txBody>
      </p:sp>
      <p:sp>
        <p:nvSpPr>
          <p:cNvPr id="30" name="Shape Q"/>
          <p:cNvSpPr/>
          <p:nvPr/>
        </p:nvSpPr>
        <p:spPr>
          <a:xfrm>
            <a:off x="685800" y="4937760"/>
            <a:ext cx="10817352" cy="548640"/>
          </a:xfrm>
          <a:prstGeom prst="roundRect">
            <a:avLst>
              <a:gd name="adj" fmla="val 16667"/>
            </a:avLst>
          </a:prstGeom>
          <a:solidFill>
            <a:srgbClr val="17163A"/>
          </a:solidFill>
          <a:ln w="12700">
            <a:solidFill>
              <a:srgbClr val="2E3350"/>
            </a:solidFill>
            <a:prstDash val="solid"/>
          </a:ln>
        </p:spPr>
      </p:sp>
      <p:sp>
        <p:nvSpPr>
          <p:cNvPr id="31" name="Text Q"/>
          <p:cNvSpPr txBox="1"/>
          <p:nvPr/>
        </p:nvSpPr>
        <p:spPr>
          <a:xfrm>
            <a:off x="868680" y="4937760"/>
            <a:ext cx="104515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i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the production layer —</a:t>
            </a:r>
            <a:r>
              <a:rPr lang="en-US" sz="1600" i="1" dirty="0">
                <a:solidFill>
                  <a:srgbClr val="8C9B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wrapped around the exact loop you built by hand this morning.</a:t>
            </a:r>
            <a:endParaRPr lang="en-US" sz="1600" dirty="0"/>
          </a:p>
        </p:txBody>
      </p:sp>
      <p:pic>
        <p:nvPicPr>
          <p:cNvPr id="90" name="Picture 21"/>
          <p:cNvPicPr>
            <a:picLocks noChangeAspect="1"/>
          </p:cNvPicPr>
          <p:nvPr/>
        </p:nvPicPr>
        <p:blipFill>
          <a:blip r:embed="rId5">
            <a:extLst>
              <a:ext uri="{{28A0092B-C50C-407E-A947-70E740481C1C}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1007635" y="-55735"/>
            <a:ext cx="1022606" cy="1022606"/>
          </a:xfrm>
          <a:prstGeom prst="rect">
            <a:avLst/>
          </a:prstGeom>
        </p:spPr>
      </p:pic>
      <p:pic>
        <p:nvPicPr>
          <p:cNvPr id="91" name="Picture 22"/>
          <p:cNvPicPr>
            <a:picLocks noChangeAspect="1"/>
          </p:cNvPicPr>
          <p:nvPr/>
        </p:nvPicPr>
        <p:blipFill>
          <a:blip r:embed="rId6">
            <a:extLst>
              <a:ext uri="{{28A0092B-C50C-407E-A947-70E740481C1C}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-31786"/>
            <a:ext cx="1645096" cy="712406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507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64739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200" dirty="0">
                <a:solidFill>
                  <a:srgbClr val="8C9B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ALCHEMY 4.0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0881360" y="647395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C9B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667079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kern="0" spc="300" dirty="0">
                <a:solidFill>
                  <a:srgbClr val="8C9B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ENGINE, DIFFERENT PACKAGING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120793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EDEF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are not behind these </a:t>
            </a:r>
            <a:r>
              <a:rPr lang="en-US" sz="3000" b="1" dirty="0" smtClean="0">
                <a:solidFill>
                  <a:srgbClr val="EDEF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572768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8C9B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You're ahead of most people who only know pip install and a tutorial.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85800" y="2377440"/>
            <a:ext cx="5120640" cy="3383280"/>
          </a:xfrm>
          <a:prstGeom prst="roundRect">
            <a:avLst>
              <a:gd name="adj" fmla="val 2703"/>
            </a:avLst>
          </a:prstGeom>
          <a:solidFill>
            <a:srgbClr val="17163A"/>
          </a:solidFill>
          <a:ln w="19050">
            <a:solidFill>
              <a:srgbClr val="F5C54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51560" y="25603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C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Hand-built (you, this morning)</a:t>
            </a:r>
            <a:endParaRPr lang="en-US" sz="1600" dirty="0">
              <a:solidFill>
                <a:srgbClr val="FFC000"/>
              </a:solidFill>
            </a:endParaRPr>
          </a:p>
        </p:txBody>
      </p:sp>
      <p:pic>
        <p:nvPicPr>
          <p:cNvPr id="9" name="Image 0" descr="/home/claude/deck_build/icons/FaCircleCheck_g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3182112"/>
            <a:ext cx="384048" cy="384048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709928" y="3063240"/>
            <a:ext cx="382219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50" dirty="0">
                <a:solidFill>
                  <a:srgbClr val="8C9B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know why memory works</a:t>
            </a:r>
            <a:endParaRPr lang="en-US" sz="1550" dirty="0"/>
          </a:p>
        </p:txBody>
      </p:sp>
      <p:sp>
        <p:nvSpPr>
          <p:cNvPr id="11" name="Shape 8"/>
          <p:cNvSpPr/>
          <p:nvPr/>
        </p:nvSpPr>
        <p:spPr>
          <a:xfrm>
            <a:off x="1051560" y="3758184"/>
            <a:ext cx="4480560" cy="9144"/>
          </a:xfrm>
          <a:prstGeom prst="line">
            <a:avLst/>
          </a:prstGeom>
          <a:noFill/>
          <a:ln w="9525">
            <a:solidFill>
              <a:srgbClr val="2E3350"/>
            </a:solidFill>
            <a:prstDash val="solid"/>
          </a:ln>
        </p:spPr>
      </p:sp>
      <p:pic>
        <p:nvPicPr>
          <p:cNvPr id="12" name="Image 1" descr="/home/claude/deck_build/icons/FaCircleCheck_g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3895344"/>
            <a:ext cx="384048" cy="384048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709928" y="3776472"/>
            <a:ext cx="382219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50" dirty="0">
                <a:solidFill>
                  <a:srgbClr val="8C9B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know why a tool call can fail</a:t>
            </a:r>
            <a:endParaRPr lang="en-US" sz="1550" dirty="0"/>
          </a:p>
        </p:txBody>
      </p:sp>
      <p:sp>
        <p:nvSpPr>
          <p:cNvPr id="14" name="Shape 10"/>
          <p:cNvSpPr/>
          <p:nvPr/>
        </p:nvSpPr>
        <p:spPr>
          <a:xfrm>
            <a:off x="1051560" y="4471416"/>
            <a:ext cx="4480560" cy="9144"/>
          </a:xfrm>
          <a:prstGeom prst="line">
            <a:avLst/>
          </a:prstGeom>
          <a:noFill/>
          <a:ln w="9525">
            <a:solidFill>
              <a:srgbClr val="2E3350"/>
            </a:solidFill>
            <a:prstDash val="solid"/>
          </a:ln>
        </p:spPr>
      </p:sp>
      <p:pic>
        <p:nvPicPr>
          <p:cNvPr id="15" name="Image 2" descr="/home/claude/deck_build/icons/FaCircleCheck_g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4608576"/>
            <a:ext cx="384048" cy="384048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709928" y="4489704"/>
            <a:ext cx="382219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50" dirty="0">
                <a:solidFill>
                  <a:srgbClr val="8C9B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can fix it when it breaks</a:t>
            </a:r>
            <a:endParaRPr lang="en-US" sz="1550" dirty="0"/>
          </a:p>
        </p:txBody>
      </p:sp>
      <p:sp>
        <p:nvSpPr>
          <p:cNvPr id="17" name="Shape 12"/>
          <p:cNvSpPr/>
          <p:nvPr/>
        </p:nvSpPr>
        <p:spPr>
          <a:xfrm>
            <a:off x="6172200" y="2377440"/>
            <a:ext cx="5330952" cy="3383280"/>
          </a:xfrm>
          <a:prstGeom prst="roundRect">
            <a:avLst>
              <a:gd name="adj" fmla="val 2703"/>
            </a:avLst>
          </a:prstGeom>
          <a:solidFill>
            <a:srgbClr val="17163A"/>
          </a:solidFill>
          <a:ln w="12700">
            <a:solidFill>
              <a:srgbClr val="2E3350"/>
            </a:solidFill>
            <a:prstDash val="solid"/>
          </a:ln>
        </p:spPr>
      </p:sp>
      <p:sp>
        <p:nvSpPr>
          <p:cNvPr id="18" name="Text 13"/>
          <p:cNvSpPr txBox="1"/>
          <p:nvPr/>
        </p:nvSpPr>
        <p:spPr>
          <a:xfrm>
            <a:off x="6446520" y="256032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C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Framework user (tutorial only)</a:t>
            </a:r>
            <a:endParaRPr lang="en-US" sz="1600" dirty="0">
              <a:solidFill>
                <a:srgbClr val="FFC000"/>
              </a:solidFill>
            </a:endParaRPr>
          </a:p>
        </p:txBody>
      </p:sp>
      <p:pic>
        <p:nvPicPr>
          <p:cNvPr id="19" name="Image 3" descr="/home/claude/deck_build/icons/FaXmark_r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6520" y="3182112"/>
            <a:ext cx="384048" cy="384048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7104888" y="3063240"/>
            <a:ext cx="418795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50" dirty="0">
                <a:solidFill>
                  <a:srgbClr val="8C9B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black box that mostly works</a:t>
            </a:r>
            <a:endParaRPr lang="en-US" sz="1550" dirty="0"/>
          </a:p>
        </p:txBody>
      </p:sp>
      <p:sp>
        <p:nvSpPr>
          <p:cNvPr id="21" name="Shape 15"/>
          <p:cNvSpPr/>
          <p:nvPr/>
        </p:nvSpPr>
        <p:spPr>
          <a:xfrm>
            <a:off x="6446520" y="3758184"/>
            <a:ext cx="4846320" cy="9144"/>
          </a:xfrm>
          <a:prstGeom prst="line">
            <a:avLst/>
          </a:prstGeom>
          <a:noFill/>
          <a:ln w="9525">
            <a:solidFill>
              <a:srgbClr val="2E3350"/>
            </a:solidFill>
            <a:prstDash val="solid"/>
          </a:ln>
        </p:spPr>
      </p:sp>
      <p:pic>
        <p:nvPicPr>
          <p:cNvPr id="22" name="Image 4" descr="/home/claude/deck_build/icons/FaXmark_r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6520" y="3895344"/>
            <a:ext cx="384048" cy="384048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7104888" y="3776472"/>
            <a:ext cx="418795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50" dirty="0">
                <a:solidFill>
                  <a:srgbClr val="8C9B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idea what's inside the loop</a:t>
            </a:r>
            <a:endParaRPr lang="en-US" sz="1550" dirty="0"/>
          </a:p>
        </p:txBody>
      </p:sp>
      <p:sp>
        <p:nvSpPr>
          <p:cNvPr id="24" name="Shape 17"/>
          <p:cNvSpPr/>
          <p:nvPr/>
        </p:nvSpPr>
        <p:spPr>
          <a:xfrm>
            <a:off x="6446520" y="4471416"/>
            <a:ext cx="4846320" cy="9144"/>
          </a:xfrm>
          <a:prstGeom prst="line">
            <a:avLst/>
          </a:prstGeom>
          <a:noFill/>
          <a:ln w="9525">
            <a:solidFill>
              <a:srgbClr val="2E3350"/>
            </a:solidFill>
            <a:prstDash val="solid"/>
          </a:ln>
        </p:spPr>
      </p:sp>
      <p:pic>
        <p:nvPicPr>
          <p:cNvPr id="25" name="Image 5" descr="/home/claude/deck_build/icons/FaXmark_r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6520" y="4608576"/>
            <a:ext cx="384048" cy="384048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7104888" y="4489704"/>
            <a:ext cx="418795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50" dirty="0">
                <a:solidFill>
                  <a:srgbClr val="8C9B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Stuck when it breaks</a:t>
            </a:r>
            <a:endParaRPr lang="en-US" sz="1550" dirty="0"/>
          </a:p>
        </p:txBody>
      </p:sp>
      <p:pic>
        <p:nvPicPr>
          <p:cNvPr id="27" name="Picture 2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07635" y="-55735"/>
            <a:ext cx="1022606" cy="1022606"/>
          </a:xfrm>
          <a:prstGeom prst="rect">
            <a:avLst/>
          </a:prstGeom>
        </p:spPr>
      </p:pic>
      <p:pic>
        <p:nvPicPr>
          <p:cNvPr id="28" name="Picture 27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1786"/>
            <a:ext cx="1645096" cy="712406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507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64739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200" dirty="0">
                <a:solidFill>
                  <a:srgbClr val="8C9B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ALCHEMY 4.0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0881360" y="647395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C9B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841248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EDEF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agent, too many jobs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572768"/>
            <a:ext cx="10634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8C9B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Cramming research, writing, and checking into one prompt is where quality drops</a:t>
            </a:r>
            <a:r>
              <a:rPr lang="en-US" sz="1500" dirty="0" smtClean="0">
                <a:solidFill>
                  <a:srgbClr val="8C9B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Why single agen</a:t>
            </a:r>
            <a:r>
              <a:rPr lang="en-US" sz="1500" dirty="0" smtClean="0">
                <a:solidFill>
                  <a:srgbClr val="8C9B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 does not work always…</a:t>
            </a:r>
            <a:endParaRPr lang="en-US" sz="1500" dirty="0"/>
          </a:p>
        </p:txBody>
      </p:sp>
      <p:sp>
        <p:nvSpPr>
          <p:cNvPr id="10" name="Card 10"/>
          <p:cNvSpPr/>
          <p:nvPr/>
        </p:nvSpPr>
        <p:spPr>
          <a:xfrm>
            <a:off x="685800" y="2286000"/>
            <a:ext cx="3352800" cy="2362200"/>
          </a:xfrm>
          <a:prstGeom prst="roundRect">
            <a:avLst>
              <a:gd name="adj" fmla="val 7692"/>
            </a:avLst>
          </a:prstGeom>
          <a:solidFill>
            <a:srgbClr val="17163A"/>
          </a:solidFill>
          <a:ln w="19050">
            <a:solidFill>
              <a:srgbClr val="7DD8E0"/>
            </a:solidFill>
            <a:prstDash val="solid"/>
          </a:ln>
        </p:spPr>
      </p:sp>
      <p:pic>
        <p:nvPicPr>
          <p:cNvPr id="11" name="Image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7880" y="2514600"/>
            <a:ext cx="548640" cy="548640"/>
          </a:xfrm>
          <a:prstGeom prst="rect">
            <a:avLst/>
          </a:prstGeom>
        </p:spPr>
      </p:pic>
      <p:sp>
        <p:nvSpPr>
          <p:cNvPr id="12" name="Text 12"/>
          <p:cNvSpPr txBox="1"/>
          <p:nvPr/>
        </p:nvSpPr>
        <p:spPr>
          <a:xfrm>
            <a:off x="914400" y="3246120"/>
            <a:ext cx="2895600" cy="1312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7DD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 overload</a:t>
            </a:r>
            <a:endParaRPr lang="en-US" sz="16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400" dirty="0">
                <a:solidFill>
                  <a:srgbClr val="8C9B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long prompt juggles role, tools, and history — details get lost.</a:t>
            </a:r>
            <a:endParaRPr lang="en-US" sz="1400" dirty="0"/>
          </a:p>
        </p:txBody>
      </p:sp>
      <p:sp>
        <p:nvSpPr>
          <p:cNvPr id="13" name="Card 13"/>
          <p:cNvSpPr/>
          <p:nvPr/>
        </p:nvSpPr>
        <p:spPr>
          <a:xfrm>
            <a:off x="4221480" y="2286000"/>
            <a:ext cx="3352800" cy="2362200"/>
          </a:xfrm>
          <a:prstGeom prst="roundRect">
            <a:avLst>
              <a:gd name="adj" fmla="val 7692"/>
            </a:avLst>
          </a:prstGeom>
          <a:solidFill>
            <a:srgbClr val="17163A"/>
          </a:solidFill>
          <a:ln w="19050">
            <a:solidFill>
              <a:srgbClr val="7DD8E0"/>
            </a:solidFill>
            <a:prstDash val="solid"/>
          </a:ln>
        </p:spPr>
      </p:sp>
      <p:pic>
        <p:nvPicPr>
          <p:cNvPr id="14" name="Image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23560" y="2514600"/>
            <a:ext cx="548640" cy="548640"/>
          </a:xfrm>
          <a:prstGeom prst="rect">
            <a:avLst/>
          </a:prstGeom>
        </p:spPr>
      </p:pic>
      <p:sp>
        <p:nvSpPr>
          <p:cNvPr id="15" name="Text 15"/>
          <p:cNvSpPr txBox="1"/>
          <p:nvPr/>
        </p:nvSpPr>
        <p:spPr>
          <a:xfrm>
            <a:off x="4450080" y="3246120"/>
            <a:ext cx="2895600" cy="1312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7DD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Blurred goals</a:t>
            </a:r>
            <a:endParaRPr lang="en-US" sz="16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400" dirty="0">
                <a:solidFill>
                  <a:srgbClr val="8C9B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jack-of-all-trades agent optimizes for everything, and nothing well.</a:t>
            </a:r>
            <a:endParaRPr lang="en-US" sz="1400" dirty="0"/>
          </a:p>
        </p:txBody>
      </p:sp>
      <p:sp>
        <p:nvSpPr>
          <p:cNvPr id="16" name="Card 16"/>
          <p:cNvSpPr/>
          <p:nvPr/>
        </p:nvSpPr>
        <p:spPr>
          <a:xfrm>
            <a:off x="7757160" y="2286000"/>
            <a:ext cx="3352800" cy="2362200"/>
          </a:xfrm>
          <a:prstGeom prst="roundRect">
            <a:avLst>
              <a:gd name="adj" fmla="val 7692"/>
            </a:avLst>
          </a:prstGeom>
          <a:solidFill>
            <a:srgbClr val="17163A"/>
          </a:solidFill>
          <a:ln w="19050">
            <a:solidFill>
              <a:srgbClr val="7DD8E0"/>
            </a:solidFill>
            <a:prstDash val="solid"/>
          </a:ln>
        </p:spPr>
      </p:sp>
      <p:pic>
        <p:nvPicPr>
          <p:cNvPr id="17" name="Image 1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59240" y="2514600"/>
            <a:ext cx="548640" cy="548640"/>
          </a:xfrm>
          <a:prstGeom prst="rect">
            <a:avLst/>
          </a:prstGeom>
        </p:spPr>
      </p:pic>
      <p:sp>
        <p:nvSpPr>
          <p:cNvPr id="18" name="Text 18"/>
          <p:cNvSpPr txBox="1"/>
          <p:nvPr/>
        </p:nvSpPr>
        <p:spPr>
          <a:xfrm>
            <a:off x="7985760" y="3246120"/>
            <a:ext cx="2895600" cy="1312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7DD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 to debug</a:t>
            </a:r>
            <a:endParaRPr lang="en-US" sz="16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400" dirty="0">
                <a:solidFill>
                  <a:srgbClr val="8C9B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one giant agent fails, you can’t tell which part of the job broke.</a:t>
            </a:r>
            <a:endParaRPr lang="en-US" sz="1400" dirty="0"/>
          </a:p>
        </p:txBody>
      </p:sp>
      <p:sp>
        <p:nvSpPr>
          <p:cNvPr id="30" name="Shape Q"/>
          <p:cNvSpPr/>
          <p:nvPr/>
        </p:nvSpPr>
        <p:spPr>
          <a:xfrm>
            <a:off x="685800" y="4937760"/>
            <a:ext cx="10817352" cy="548640"/>
          </a:xfrm>
          <a:prstGeom prst="roundRect">
            <a:avLst>
              <a:gd name="adj" fmla="val 16667"/>
            </a:avLst>
          </a:prstGeom>
          <a:solidFill>
            <a:srgbClr val="17163A"/>
          </a:solidFill>
          <a:ln w="12700">
            <a:solidFill>
              <a:srgbClr val="2E3350"/>
            </a:solidFill>
            <a:prstDash val="solid"/>
          </a:ln>
        </p:spPr>
      </p:sp>
      <p:sp>
        <p:nvSpPr>
          <p:cNvPr id="31" name="Text Q"/>
          <p:cNvSpPr txBox="1"/>
          <p:nvPr/>
        </p:nvSpPr>
        <p:spPr>
          <a:xfrm>
            <a:off x="868680" y="4937760"/>
            <a:ext cx="104515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i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fix isn’t a smarter prompt —</a:t>
            </a:r>
            <a:r>
              <a:rPr lang="en-US" sz="1600" i="1" dirty="0">
                <a:solidFill>
                  <a:srgbClr val="8C9B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it’s splitting the job across focused agents.</a:t>
            </a:r>
            <a:endParaRPr lang="en-US" sz="1600" dirty="0"/>
          </a:p>
        </p:txBody>
      </p:sp>
      <p:pic>
        <p:nvPicPr>
          <p:cNvPr id="90" name="Picture 21"/>
          <p:cNvPicPr>
            <a:picLocks noChangeAspect="1"/>
          </p:cNvPicPr>
          <p:nvPr/>
        </p:nvPicPr>
        <p:blipFill>
          <a:blip r:embed="rId5">
            <a:extLst>
              <a:ext uri="{{28A0092B-C50C-407E-A947-70E740481C1C}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1007635" y="-55735"/>
            <a:ext cx="1022606" cy="1022606"/>
          </a:xfrm>
          <a:prstGeom prst="rect">
            <a:avLst/>
          </a:prstGeom>
        </p:spPr>
      </p:pic>
      <p:pic>
        <p:nvPicPr>
          <p:cNvPr id="91" name="Picture 22"/>
          <p:cNvPicPr>
            <a:picLocks noChangeAspect="1"/>
          </p:cNvPicPr>
          <p:nvPr/>
        </p:nvPicPr>
        <p:blipFill>
          <a:blip r:embed="rId6">
            <a:extLst>
              <a:ext uri="{{28A0092B-C50C-407E-A947-70E740481C1C}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-31786"/>
            <a:ext cx="1645096" cy="712406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507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64739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200" dirty="0">
                <a:solidFill>
                  <a:srgbClr val="8C9B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ALCHEMY 4.0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0881360" y="647395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C9B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841248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EDEF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every job needs the same brain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572768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Multi-model: </a:t>
            </a:r>
            <a:r>
              <a:rPr lang="en-US" sz="1500" dirty="0">
                <a:solidFill>
                  <a:srgbClr val="8C9B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cheaper, faster models for simple jobs; bigger ones for the hard calls.</a:t>
            </a:r>
            <a:endParaRPr lang="en-US" sz="1500" dirty="0"/>
          </a:p>
        </p:txBody>
      </p:sp>
      <p:sp>
        <p:nvSpPr>
          <p:cNvPr id="10" name="Card 10"/>
          <p:cNvSpPr/>
          <p:nvPr/>
        </p:nvSpPr>
        <p:spPr>
          <a:xfrm>
            <a:off x="685800" y="2286000"/>
            <a:ext cx="5059680" cy="2362200"/>
          </a:xfrm>
          <a:prstGeom prst="roundRect">
            <a:avLst>
              <a:gd name="adj" fmla="val 6000"/>
            </a:avLst>
          </a:prstGeom>
          <a:solidFill>
            <a:srgbClr val="17163A"/>
          </a:solidFill>
          <a:ln w="19050">
            <a:solidFill>
              <a:srgbClr val="7DD8E0"/>
            </a:solidFill>
            <a:prstDash val="solid"/>
          </a:ln>
        </p:spPr>
      </p:sp>
      <p:pic>
        <p:nvPicPr>
          <p:cNvPr id="11" name="Image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2560320"/>
            <a:ext cx="548640" cy="548640"/>
          </a:xfrm>
          <a:prstGeom prst="rect">
            <a:avLst/>
          </a:prstGeom>
        </p:spPr>
      </p:pic>
      <p:sp>
        <p:nvSpPr>
          <p:cNvPr id="12" name="Text 12"/>
          <p:cNvSpPr txBox="1"/>
          <p:nvPr/>
        </p:nvSpPr>
        <p:spPr>
          <a:xfrm>
            <a:off x="960120" y="3291840"/>
            <a:ext cx="4511040" cy="1264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7DD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Small, fast model</a:t>
            </a:r>
            <a:endParaRPr lang="en-US" sz="16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400" dirty="0">
                <a:solidFill>
                  <a:srgbClr val="8C9B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Great for routing, formatting, and simple lookups — cheap enough to call constantly.</a:t>
            </a:r>
            <a:endParaRPr lang="en-US" sz="1400" dirty="0"/>
          </a:p>
        </p:txBody>
      </p:sp>
      <p:sp>
        <p:nvSpPr>
          <p:cNvPr id="13" name="Card 13"/>
          <p:cNvSpPr/>
          <p:nvPr/>
        </p:nvSpPr>
        <p:spPr>
          <a:xfrm>
            <a:off x="6050280" y="2286000"/>
            <a:ext cx="5059680" cy="2362200"/>
          </a:xfrm>
          <a:prstGeom prst="roundRect">
            <a:avLst>
              <a:gd name="adj" fmla="val 6000"/>
            </a:avLst>
          </a:prstGeom>
          <a:solidFill>
            <a:srgbClr val="17163A"/>
          </a:solidFill>
          <a:ln w="19050">
            <a:solidFill>
              <a:srgbClr val="F5C542"/>
            </a:solidFill>
            <a:prstDash val="solid"/>
          </a:ln>
        </p:spPr>
      </p:sp>
      <p:pic>
        <p:nvPicPr>
          <p:cNvPr id="14" name="Image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4600" y="2560320"/>
            <a:ext cx="548640" cy="548640"/>
          </a:xfrm>
          <a:prstGeom prst="rect">
            <a:avLst/>
          </a:prstGeom>
        </p:spPr>
      </p:pic>
      <p:sp>
        <p:nvSpPr>
          <p:cNvPr id="15" name="Text 15"/>
          <p:cNvSpPr txBox="1"/>
          <p:nvPr/>
        </p:nvSpPr>
        <p:spPr>
          <a:xfrm>
            <a:off x="6324600" y="3291840"/>
            <a:ext cx="4511040" cy="1264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Large, careful model</a:t>
            </a:r>
            <a:endParaRPr lang="en-US" sz="16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400" dirty="0">
                <a:solidFill>
                  <a:srgbClr val="8C9B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Worth the cost for planning, multi-step reasoning, and judgment calls that need nuance.</a:t>
            </a:r>
            <a:endParaRPr lang="en-US" sz="1400" dirty="0"/>
          </a:p>
        </p:txBody>
      </p:sp>
      <p:sp>
        <p:nvSpPr>
          <p:cNvPr id="20" name="Shape Q"/>
          <p:cNvSpPr/>
          <p:nvPr/>
        </p:nvSpPr>
        <p:spPr>
          <a:xfrm>
            <a:off x="685800" y="4937760"/>
            <a:ext cx="10817352" cy="548640"/>
          </a:xfrm>
          <a:prstGeom prst="roundRect">
            <a:avLst>
              <a:gd name="adj" fmla="val 16667"/>
            </a:avLst>
          </a:prstGeom>
          <a:solidFill>
            <a:srgbClr val="17163A"/>
          </a:solidFill>
          <a:ln w="12700">
            <a:solidFill>
              <a:srgbClr val="2E3350"/>
            </a:solidFill>
            <a:prstDash val="solid"/>
          </a:ln>
        </p:spPr>
      </p:sp>
      <p:sp>
        <p:nvSpPr>
          <p:cNvPr id="21" name="Text Q"/>
          <p:cNvSpPr txBox="1"/>
          <p:nvPr/>
        </p:nvSpPr>
        <p:spPr>
          <a:xfrm>
            <a:off x="868680" y="4937760"/>
            <a:ext cx="104515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i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the small model by default —</a:t>
            </a:r>
            <a:r>
              <a:rPr lang="en-US" sz="1600" i="1" dirty="0">
                <a:solidFill>
                  <a:srgbClr val="8C9B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reach for the large one only when the job actually needs it.</a:t>
            </a:r>
            <a:endParaRPr lang="en-US" sz="1600" dirty="0"/>
          </a:p>
        </p:txBody>
      </p:sp>
      <p:pic>
        <p:nvPicPr>
          <p:cNvPr id="90" name="Picture 21"/>
          <p:cNvPicPr>
            <a:picLocks noChangeAspect="1"/>
          </p:cNvPicPr>
          <p:nvPr/>
        </p:nvPicPr>
        <p:blipFill>
          <a:blip r:embed="rId4">
            <a:extLst>
              <a:ext uri="{{28A0092B-C50C-407E-A947-70E740481C1C}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1007635" y="-55735"/>
            <a:ext cx="1022606" cy="1022606"/>
          </a:xfrm>
          <a:prstGeom prst="rect">
            <a:avLst/>
          </a:prstGeom>
        </p:spPr>
      </p:pic>
      <p:pic>
        <p:nvPicPr>
          <p:cNvPr id="91" name="Picture 22"/>
          <p:cNvPicPr>
            <a:picLocks noChangeAspect="1"/>
          </p:cNvPicPr>
          <p:nvPr/>
        </p:nvPicPr>
        <p:blipFill>
          <a:blip r:embed="rId5">
            <a:extLst>
              <a:ext uri="{{28A0092B-C50C-407E-A947-70E740481C1C}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-31786"/>
            <a:ext cx="1645096" cy="712406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507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64739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200" dirty="0">
                <a:solidFill>
                  <a:srgbClr val="8C9B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ALCHEMY 4.0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0881360" y="647395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C9B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841248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EDEF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ways to wire a crew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572768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8C9B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idea, different traffic control between agents.</a:t>
            </a:r>
            <a:endParaRPr lang="en-US" sz="1500" dirty="0"/>
          </a:p>
        </p:txBody>
      </p:sp>
      <p:sp>
        <p:nvSpPr>
          <p:cNvPr id="10" name="Card 10"/>
          <p:cNvSpPr/>
          <p:nvPr/>
        </p:nvSpPr>
        <p:spPr>
          <a:xfrm>
            <a:off x="685800" y="2286000"/>
            <a:ext cx="3352800" cy="2362200"/>
          </a:xfrm>
          <a:prstGeom prst="roundRect">
            <a:avLst>
              <a:gd name="adj" fmla="val 7692"/>
            </a:avLst>
          </a:prstGeom>
          <a:solidFill>
            <a:srgbClr val="17163A"/>
          </a:solidFill>
          <a:ln w="19050">
            <a:solidFill>
              <a:srgbClr val="7DD8E0"/>
            </a:solidFill>
            <a:prstDash val="solid"/>
          </a:ln>
        </p:spPr>
      </p:sp>
      <p:pic>
        <p:nvPicPr>
          <p:cNvPr id="11" name="Image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7880" y="2514600"/>
            <a:ext cx="548640" cy="548640"/>
          </a:xfrm>
          <a:prstGeom prst="rect">
            <a:avLst/>
          </a:prstGeom>
        </p:spPr>
      </p:pic>
      <p:sp>
        <p:nvSpPr>
          <p:cNvPr id="12" name="Text 12"/>
          <p:cNvSpPr txBox="1"/>
          <p:nvPr/>
        </p:nvSpPr>
        <p:spPr>
          <a:xfrm>
            <a:off x="914400" y="3246120"/>
            <a:ext cx="2895600" cy="1312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7DD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Sequential</a:t>
            </a:r>
            <a:endParaRPr lang="en-US" sz="16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400" dirty="0">
                <a:solidFill>
                  <a:srgbClr val="8C9B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1 → Task 2 → Task 3. Each agent waits its turn, one output feeds the next.</a:t>
            </a:r>
            <a:endParaRPr lang="en-US" sz="1400" dirty="0"/>
          </a:p>
        </p:txBody>
      </p:sp>
      <p:sp>
        <p:nvSpPr>
          <p:cNvPr id="13" name="Card 13"/>
          <p:cNvSpPr/>
          <p:nvPr/>
        </p:nvSpPr>
        <p:spPr>
          <a:xfrm>
            <a:off x="4221480" y="2286000"/>
            <a:ext cx="3352800" cy="2362200"/>
          </a:xfrm>
          <a:prstGeom prst="roundRect">
            <a:avLst>
              <a:gd name="adj" fmla="val 7692"/>
            </a:avLst>
          </a:prstGeom>
          <a:solidFill>
            <a:srgbClr val="17163A"/>
          </a:solidFill>
          <a:ln w="19050">
            <a:solidFill>
              <a:srgbClr val="7DD8E0"/>
            </a:solidFill>
            <a:prstDash val="solid"/>
          </a:ln>
        </p:spPr>
      </p:sp>
      <p:pic>
        <p:nvPicPr>
          <p:cNvPr id="14" name="Image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23560" y="2514600"/>
            <a:ext cx="548640" cy="548640"/>
          </a:xfrm>
          <a:prstGeom prst="rect">
            <a:avLst/>
          </a:prstGeom>
        </p:spPr>
      </p:pic>
      <p:sp>
        <p:nvSpPr>
          <p:cNvPr id="15" name="Text 15"/>
          <p:cNvSpPr txBox="1"/>
          <p:nvPr/>
        </p:nvSpPr>
        <p:spPr>
          <a:xfrm>
            <a:off x="4450080" y="3246120"/>
            <a:ext cx="2895600" cy="1312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7DD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Hierarchical</a:t>
            </a:r>
            <a:endParaRPr lang="en-US" sz="16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400" dirty="0">
                <a:solidFill>
                  <a:srgbClr val="8C9B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manager agent plans, delegates, and reviews everyone else’s work.</a:t>
            </a:r>
            <a:endParaRPr lang="en-US" sz="1400" dirty="0"/>
          </a:p>
        </p:txBody>
      </p:sp>
      <p:sp>
        <p:nvSpPr>
          <p:cNvPr id="16" name="Card 16"/>
          <p:cNvSpPr/>
          <p:nvPr/>
        </p:nvSpPr>
        <p:spPr>
          <a:xfrm>
            <a:off x="7757160" y="2286000"/>
            <a:ext cx="3352800" cy="2362200"/>
          </a:xfrm>
          <a:prstGeom prst="roundRect">
            <a:avLst>
              <a:gd name="adj" fmla="val 7692"/>
            </a:avLst>
          </a:prstGeom>
          <a:solidFill>
            <a:srgbClr val="17163A"/>
          </a:solidFill>
          <a:ln w="19050">
            <a:solidFill>
              <a:srgbClr val="7DD8E0"/>
            </a:solidFill>
            <a:prstDash val="solid"/>
          </a:ln>
        </p:spPr>
      </p:sp>
      <p:pic>
        <p:nvPicPr>
          <p:cNvPr id="17" name="Image 1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59240" y="2514600"/>
            <a:ext cx="548640" cy="548640"/>
          </a:xfrm>
          <a:prstGeom prst="rect">
            <a:avLst/>
          </a:prstGeom>
        </p:spPr>
      </p:pic>
      <p:sp>
        <p:nvSpPr>
          <p:cNvPr id="18" name="Text 18"/>
          <p:cNvSpPr txBox="1"/>
          <p:nvPr/>
        </p:nvSpPr>
        <p:spPr>
          <a:xfrm>
            <a:off x="7985760" y="3246120"/>
            <a:ext cx="2895600" cy="1312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7DD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Parallel / debate</a:t>
            </a:r>
            <a:endParaRPr lang="en-US" sz="16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400" dirty="0">
                <a:solidFill>
                  <a:srgbClr val="8C9B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Agents work at once, then compare notes or vote on the best answer.</a:t>
            </a:r>
            <a:endParaRPr lang="en-US" sz="1400" dirty="0"/>
          </a:p>
        </p:txBody>
      </p:sp>
      <p:sp>
        <p:nvSpPr>
          <p:cNvPr id="30" name="Shape Q"/>
          <p:cNvSpPr/>
          <p:nvPr/>
        </p:nvSpPr>
        <p:spPr>
          <a:xfrm>
            <a:off x="685800" y="4937760"/>
            <a:ext cx="10817352" cy="548640"/>
          </a:xfrm>
          <a:prstGeom prst="roundRect">
            <a:avLst>
              <a:gd name="adj" fmla="val 16667"/>
            </a:avLst>
          </a:prstGeom>
          <a:solidFill>
            <a:srgbClr val="17163A"/>
          </a:solidFill>
          <a:ln w="12700">
            <a:solidFill>
              <a:srgbClr val="2E3350"/>
            </a:solidFill>
            <a:prstDash val="solid"/>
          </a:ln>
        </p:spPr>
      </p:sp>
      <p:sp>
        <p:nvSpPr>
          <p:cNvPr id="31" name="Text Q"/>
          <p:cNvSpPr txBox="1"/>
          <p:nvPr/>
        </p:nvSpPr>
        <p:spPr>
          <a:xfrm>
            <a:off x="868680" y="4937760"/>
            <a:ext cx="104515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i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already wired Sequential in CrewAI —</a:t>
            </a:r>
            <a:r>
              <a:rPr lang="en-US" sz="1600" i="1" dirty="0">
                <a:solidFill>
                  <a:srgbClr val="8C9B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Hierarchical and Parallel scale the same idea further.</a:t>
            </a:r>
            <a:endParaRPr lang="en-US" sz="1600" dirty="0"/>
          </a:p>
        </p:txBody>
      </p:sp>
      <p:pic>
        <p:nvPicPr>
          <p:cNvPr id="90" name="Picture 21"/>
          <p:cNvPicPr>
            <a:picLocks noChangeAspect="1"/>
          </p:cNvPicPr>
          <p:nvPr/>
        </p:nvPicPr>
        <p:blipFill>
          <a:blip r:embed="rId5">
            <a:extLst>
              <a:ext uri="{{28A0092B-C50C-407E-A947-70E740481C1C}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1007635" y="-55735"/>
            <a:ext cx="1022606" cy="1022606"/>
          </a:xfrm>
          <a:prstGeom prst="rect">
            <a:avLst/>
          </a:prstGeom>
        </p:spPr>
      </p:pic>
      <p:pic>
        <p:nvPicPr>
          <p:cNvPr id="91" name="Picture 22"/>
          <p:cNvPicPr>
            <a:picLocks noChangeAspect="1"/>
          </p:cNvPicPr>
          <p:nvPr/>
        </p:nvPicPr>
        <p:blipFill>
          <a:blip r:embed="rId6">
            <a:extLst>
              <a:ext uri="{{28A0092B-C50C-407E-A947-70E740481C1C}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-31786"/>
            <a:ext cx="1645096" cy="712406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507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64739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200" dirty="0">
                <a:solidFill>
                  <a:srgbClr val="8C9B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ALCHEMY 4.0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0881360" y="647395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C9B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841248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EDEF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 the role to the model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572768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dirty="0" smtClean="0">
                <a:solidFill>
                  <a:schemeClr val="bg1"/>
                </a:solidFill>
              </a:rPr>
              <a:t>Multi agent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Card 10"/>
          <p:cNvSpPr/>
          <p:nvPr/>
        </p:nvSpPr>
        <p:spPr>
          <a:xfrm>
            <a:off x="685800" y="2286000"/>
            <a:ext cx="3352800" cy="2362200"/>
          </a:xfrm>
          <a:prstGeom prst="roundRect">
            <a:avLst>
              <a:gd name="adj" fmla="val 7692"/>
            </a:avLst>
          </a:prstGeom>
          <a:solidFill>
            <a:srgbClr val="17163A"/>
          </a:solidFill>
          <a:ln w="19050">
            <a:solidFill>
              <a:srgbClr val="7DD8E0"/>
            </a:solidFill>
            <a:prstDash val="solid"/>
          </a:ln>
        </p:spPr>
      </p:sp>
      <p:pic>
        <p:nvPicPr>
          <p:cNvPr id="11" name="Image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7880" y="2514600"/>
            <a:ext cx="548640" cy="548640"/>
          </a:xfrm>
          <a:prstGeom prst="rect">
            <a:avLst/>
          </a:prstGeom>
        </p:spPr>
      </p:pic>
      <p:sp>
        <p:nvSpPr>
          <p:cNvPr id="12" name="Text 12"/>
          <p:cNvSpPr txBox="1"/>
          <p:nvPr/>
        </p:nvSpPr>
        <p:spPr>
          <a:xfrm>
            <a:off x="914400" y="3246120"/>
            <a:ext cx="2895600" cy="1312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7DD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Planner → big-picture model</a:t>
            </a:r>
            <a:endParaRPr lang="en-US" sz="16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400" dirty="0">
                <a:solidFill>
                  <a:srgbClr val="8C9B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Breaking the task apart takes reasoning — spend your best model here.</a:t>
            </a:r>
            <a:endParaRPr lang="en-US" sz="1400" dirty="0"/>
          </a:p>
        </p:txBody>
      </p:sp>
      <p:sp>
        <p:nvSpPr>
          <p:cNvPr id="13" name="Card 13"/>
          <p:cNvSpPr/>
          <p:nvPr/>
        </p:nvSpPr>
        <p:spPr>
          <a:xfrm>
            <a:off x="4221480" y="2286000"/>
            <a:ext cx="3352800" cy="2362200"/>
          </a:xfrm>
          <a:prstGeom prst="roundRect">
            <a:avLst>
              <a:gd name="adj" fmla="val 7692"/>
            </a:avLst>
          </a:prstGeom>
          <a:solidFill>
            <a:srgbClr val="17163A"/>
          </a:solidFill>
          <a:ln w="19050">
            <a:solidFill>
              <a:srgbClr val="7DD8E0"/>
            </a:solidFill>
            <a:prstDash val="solid"/>
          </a:ln>
        </p:spPr>
      </p:sp>
      <p:pic>
        <p:nvPicPr>
          <p:cNvPr id="14" name="Image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23560" y="2514600"/>
            <a:ext cx="548640" cy="548640"/>
          </a:xfrm>
          <a:prstGeom prst="rect">
            <a:avLst/>
          </a:prstGeom>
        </p:spPr>
      </p:pic>
      <p:sp>
        <p:nvSpPr>
          <p:cNvPr id="15" name="Text 15"/>
          <p:cNvSpPr txBox="1"/>
          <p:nvPr/>
        </p:nvSpPr>
        <p:spPr>
          <a:xfrm>
            <a:off x="4450080" y="3246120"/>
            <a:ext cx="2895600" cy="1312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7DD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Specialist → fast, cheap model</a:t>
            </a:r>
            <a:endParaRPr lang="en-US" sz="16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400" dirty="0">
                <a:solidFill>
                  <a:srgbClr val="8C9B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and drafting are narrow jobs; a lighter model is plenty.</a:t>
            </a:r>
            <a:endParaRPr lang="en-US" sz="1400" dirty="0"/>
          </a:p>
        </p:txBody>
      </p:sp>
      <p:sp>
        <p:nvSpPr>
          <p:cNvPr id="16" name="Card 16"/>
          <p:cNvSpPr/>
          <p:nvPr/>
        </p:nvSpPr>
        <p:spPr>
          <a:xfrm>
            <a:off x="7757160" y="2286000"/>
            <a:ext cx="3352800" cy="2362200"/>
          </a:xfrm>
          <a:prstGeom prst="roundRect">
            <a:avLst>
              <a:gd name="adj" fmla="val 7692"/>
            </a:avLst>
          </a:prstGeom>
          <a:solidFill>
            <a:srgbClr val="17163A"/>
          </a:solidFill>
          <a:ln w="19050">
            <a:solidFill>
              <a:srgbClr val="7DD8E0"/>
            </a:solidFill>
            <a:prstDash val="solid"/>
          </a:ln>
        </p:spPr>
      </p:sp>
      <p:pic>
        <p:nvPicPr>
          <p:cNvPr id="17" name="Image 1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59240" y="2514600"/>
            <a:ext cx="548640" cy="548640"/>
          </a:xfrm>
          <a:prstGeom prst="rect">
            <a:avLst/>
          </a:prstGeom>
        </p:spPr>
      </p:pic>
      <p:sp>
        <p:nvSpPr>
          <p:cNvPr id="18" name="Text 18"/>
          <p:cNvSpPr txBox="1"/>
          <p:nvPr/>
        </p:nvSpPr>
        <p:spPr>
          <a:xfrm>
            <a:off x="7985760" y="3246120"/>
            <a:ext cx="2895600" cy="1312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7DD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Checker → small model</a:t>
            </a:r>
            <a:endParaRPr lang="en-US" sz="16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400" dirty="0">
                <a:solidFill>
                  <a:srgbClr val="8C9B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 or reject is a simple call — no need for your priciest model.</a:t>
            </a:r>
            <a:endParaRPr lang="en-US" sz="1400" dirty="0"/>
          </a:p>
        </p:txBody>
      </p:sp>
      <p:sp>
        <p:nvSpPr>
          <p:cNvPr id="30" name="Shape Q"/>
          <p:cNvSpPr/>
          <p:nvPr/>
        </p:nvSpPr>
        <p:spPr>
          <a:xfrm>
            <a:off x="685800" y="4937760"/>
            <a:ext cx="10817352" cy="548640"/>
          </a:xfrm>
          <a:prstGeom prst="roundRect">
            <a:avLst>
              <a:gd name="adj" fmla="val 16667"/>
            </a:avLst>
          </a:prstGeom>
          <a:solidFill>
            <a:srgbClr val="17163A"/>
          </a:solidFill>
          <a:ln w="12700">
            <a:solidFill>
              <a:srgbClr val="2E3350"/>
            </a:solidFill>
            <a:prstDash val="solid"/>
          </a:ln>
        </p:spPr>
      </p:sp>
      <p:sp>
        <p:nvSpPr>
          <p:cNvPr id="31" name="Text Q"/>
          <p:cNvSpPr txBox="1"/>
          <p:nvPr/>
        </p:nvSpPr>
        <p:spPr>
          <a:xfrm>
            <a:off x="868680" y="4937760"/>
            <a:ext cx="104515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i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Multi-agent decides who does the work —</a:t>
            </a:r>
            <a:r>
              <a:rPr lang="en-US" sz="1600" i="1" dirty="0">
                <a:solidFill>
                  <a:srgbClr val="8C9B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multi-model decides how much brain each job needs.</a:t>
            </a:r>
            <a:endParaRPr lang="en-US" sz="1600" dirty="0"/>
          </a:p>
        </p:txBody>
      </p:sp>
      <p:pic>
        <p:nvPicPr>
          <p:cNvPr id="90" name="Picture 21"/>
          <p:cNvPicPr>
            <a:picLocks noChangeAspect="1"/>
          </p:cNvPicPr>
          <p:nvPr/>
        </p:nvPicPr>
        <p:blipFill>
          <a:blip r:embed="rId5">
            <a:extLst>
              <a:ext uri="{{28A0092B-C50C-407E-A947-70E740481C1C}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1007635" y="-55735"/>
            <a:ext cx="1022606" cy="1022606"/>
          </a:xfrm>
          <a:prstGeom prst="rect">
            <a:avLst/>
          </a:prstGeom>
        </p:spPr>
      </p:pic>
      <p:pic>
        <p:nvPicPr>
          <p:cNvPr id="91" name="Picture 22"/>
          <p:cNvPicPr>
            <a:picLocks noChangeAspect="1"/>
          </p:cNvPicPr>
          <p:nvPr/>
        </p:nvPicPr>
        <p:blipFill>
          <a:blip r:embed="rId6">
            <a:extLst>
              <a:ext uri="{{28A0092B-C50C-407E-A947-70E740481C1C}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-31786"/>
            <a:ext cx="1645096" cy="712406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507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64739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200" dirty="0">
                <a:solidFill>
                  <a:srgbClr val="8C9B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ALCHEMY 4.0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0881360" y="647395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C9B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666904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kern="0" spc="300" dirty="0" smtClean="0">
                <a:solidFill>
                  <a:srgbClr val="8C9B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</a:t>
            </a:r>
            <a:r>
              <a:rPr lang="en-US" sz="1300" kern="0" spc="300" dirty="0">
                <a:solidFill>
                  <a:srgbClr val="8C9B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OR A TEAM?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04677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EDEF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agent doesn't have to do everything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572768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8C9B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planner can delegate to specialists — just like a real team.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727448" y="2377440"/>
            <a:ext cx="2743200" cy="868680"/>
          </a:xfrm>
          <a:prstGeom prst="roundRect">
            <a:avLst>
              <a:gd name="adj" fmla="val 10526"/>
            </a:avLst>
          </a:prstGeom>
          <a:solidFill>
            <a:srgbClr val="17163A"/>
          </a:solidFill>
          <a:ln w="19050">
            <a:solidFill>
              <a:srgbClr val="F5C542"/>
            </a:solidFill>
            <a:prstDash val="solid"/>
          </a:ln>
        </p:spPr>
      </p:sp>
      <p:pic>
        <p:nvPicPr>
          <p:cNvPr id="8" name="Image 0" descr="/home/claude/deck_build/icons/FaSitemap_go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0" y="2542032"/>
            <a:ext cx="530352" cy="530352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5577840" y="2377440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Planner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 flipH="1">
            <a:off x="2935224" y="3237846"/>
            <a:ext cx="3145536" cy="739793"/>
          </a:xfrm>
          <a:prstGeom prst="line">
            <a:avLst/>
          </a:prstGeom>
          <a:noFill/>
          <a:ln w="19050">
            <a:solidFill>
              <a:srgbClr val="2E335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554480" y="3977640"/>
            <a:ext cx="2743200" cy="1051560"/>
          </a:xfrm>
          <a:prstGeom prst="roundRect">
            <a:avLst>
              <a:gd name="adj" fmla="val 8696"/>
            </a:avLst>
          </a:prstGeom>
          <a:solidFill>
            <a:srgbClr val="17163A"/>
          </a:solidFill>
          <a:ln w="15875">
            <a:solidFill>
              <a:srgbClr val="7DD8E0"/>
            </a:solidFill>
            <a:prstDash val="solid"/>
          </a:ln>
        </p:spPr>
      </p:sp>
      <p:pic>
        <p:nvPicPr>
          <p:cNvPr id="12" name="Image 1" descr="/home/claude/deck_build/icons/magnify_cya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83080" y="4187952"/>
            <a:ext cx="548640" cy="54864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2468880" y="3977640"/>
            <a:ext cx="1737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7DD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Researcher</a:t>
            </a:r>
            <a:endParaRPr lang="en-US" sz="1600" dirty="0"/>
          </a:p>
        </p:txBody>
      </p:sp>
      <p:sp>
        <p:nvSpPr>
          <p:cNvPr id="14" name="Shape 10"/>
          <p:cNvSpPr/>
          <p:nvPr/>
        </p:nvSpPr>
        <p:spPr>
          <a:xfrm>
            <a:off x="6099048" y="3246120"/>
            <a:ext cx="9144" cy="731520"/>
          </a:xfrm>
          <a:prstGeom prst="line">
            <a:avLst/>
          </a:prstGeom>
          <a:noFill/>
          <a:ln w="19050">
            <a:solidFill>
              <a:srgbClr val="2E3350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4727448" y="3977640"/>
            <a:ext cx="2743200" cy="1051560"/>
          </a:xfrm>
          <a:prstGeom prst="roundRect">
            <a:avLst>
              <a:gd name="adj" fmla="val 8696"/>
            </a:avLst>
          </a:prstGeom>
          <a:solidFill>
            <a:srgbClr val="17163A"/>
          </a:solidFill>
          <a:ln w="15875">
            <a:solidFill>
              <a:srgbClr val="7DD8E0"/>
            </a:solidFill>
            <a:prstDash val="solid"/>
          </a:ln>
        </p:spPr>
      </p:sp>
      <p:pic>
        <p:nvPicPr>
          <p:cNvPr id="16" name="Image 2" descr="/home/claude/deck_build/icons/FaPenNib_cya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56048" y="4187952"/>
            <a:ext cx="548640" cy="54864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5641848" y="3977640"/>
            <a:ext cx="1737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7DD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Writer</a:t>
            </a:r>
            <a:endParaRPr lang="en-US" sz="1600" dirty="0"/>
          </a:p>
        </p:txBody>
      </p:sp>
      <p:sp>
        <p:nvSpPr>
          <p:cNvPr id="18" name="Shape 13"/>
          <p:cNvSpPr/>
          <p:nvPr/>
        </p:nvSpPr>
        <p:spPr>
          <a:xfrm>
            <a:off x="6099048" y="3246120"/>
            <a:ext cx="3163824" cy="731520"/>
          </a:xfrm>
          <a:prstGeom prst="line">
            <a:avLst/>
          </a:prstGeom>
          <a:noFill/>
          <a:ln w="19050">
            <a:solidFill>
              <a:srgbClr val="2E3350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7891272" y="3977640"/>
            <a:ext cx="2743200" cy="1051560"/>
          </a:xfrm>
          <a:prstGeom prst="roundRect">
            <a:avLst>
              <a:gd name="adj" fmla="val 8696"/>
            </a:avLst>
          </a:prstGeom>
          <a:solidFill>
            <a:srgbClr val="17163A"/>
          </a:solidFill>
          <a:ln w="15875">
            <a:solidFill>
              <a:srgbClr val="7DD8E0"/>
            </a:solidFill>
            <a:prstDash val="solid"/>
          </a:ln>
        </p:spPr>
      </p:sp>
      <p:pic>
        <p:nvPicPr>
          <p:cNvPr id="20" name="Image 3" descr="/home/claude/deck_build/icons/FaCircleCheck_gree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19872" y="4187952"/>
            <a:ext cx="548640" cy="54864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8805672" y="3977640"/>
            <a:ext cx="1737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7DD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Checker</a:t>
            </a:r>
            <a:endParaRPr lang="en-US" sz="1600" dirty="0"/>
          </a:p>
        </p:txBody>
      </p:sp>
      <p:sp>
        <p:nvSpPr>
          <p:cNvPr id="22" name="Shape 16"/>
          <p:cNvSpPr/>
          <p:nvPr/>
        </p:nvSpPr>
        <p:spPr>
          <a:xfrm>
            <a:off x="685800" y="5440680"/>
            <a:ext cx="10817352" cy="640080"/>
          </a:xfrm>
          <a:prstGeom prst="roundRect">
            <a:avLst>
              <a:gd name="adj" fmla="val 14286"/>
            </a:avLst>
          </a:prstGeom>
          <a:solidFill>
            <a:srgbClr val="17163A"/>
          </a:solidFill>
          <a:ln w="12700">
            <a:solidFill>
              <a:srgbClr val="2E3350"/>
            </a:solidFill>
            <a:prstDash val="solid"/>
          </a:ln>
        </p:spPr>
      </p:sp>
      <p:sp>
        <p:nvSpPr>
          <p:cNvPr id="23" name="Text 17"/>
          <p:cNvSpPr txBox="1"/>
          <p:nvPr/>
        </p:nvSpPr>
        <p:spPr>
          <a:xfrm>
            <a:off x="868680" y="5440680"/>
            <a:ext cx="104515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i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specialist is small, focused, and good at exactly one job</a:t>
            </a:r>
            <a:r>
              <a:rPr lang="en-US" sz="1600" i="1" dirty="0">
                <a:solidFill>
                  <a:srgbClr val="8C9B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instead of one generalist trying to do all of it.</a:t>
            </a:r>
            <a:endParaRPr lang="en-US" sz="1600" dirty="0"/>
          </a:p>
        </p:txBody>
      </p:sp>
      <p:pic>
        <p:nvPicPr>
          <p:cNvPr id="24" name="Picture 23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07635" y="-55735"/>
            <a:ext cx="1022606" cy="1022606"/>
          </a:xfrm>
          <a:prstGeom prst="rect">
            <a:avLst/>
          </a:prstGeom>
        </p:spPr>
      </p:pic>
      <p:pic>
        <p:nvPicPr>
          <p:cNvPr id="25" name="Picture 24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1786"/>
            <a:ext cx="1645096" cy="712406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507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64739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200" dirty="0">
                <a:solidFill>
                  <a:srgbClr val="8C9B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ALCHEMY 4.0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0881360" y="647395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C9B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841248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EDEF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Crew Relay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572768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8C9B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Task: "Make a one-line ad for a new campus café."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85800" y="2423160"/>
            <a:ext cx="2464308" cy="2194560"/>
          </a:xfrm>
          <a:prstGeom prst="roundRect">
            <a:avLst>
              <a:gd name="adj" fmla="val 4167"/>
            </a:avLst>
          </a:prstGeom>
          <a:solidFill>
            <a:srgbClr val="17163A"/>
          </a:solidFill>
          <a:ln w="19050">
            <a:solidFill>
              <a:srgbClr val="F5C542"/>
            </a:solidFill>
            <a:prstDash val="solid"/>
          </a:ln>
        </p:spPr>
      </p:sp>
      <p:pic>
        <p:nvPicPr>
          <p:cNvPr id="8" name="Image 0" descr="/home/claude/deck_build/icons/FaClipboardList_go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5054" y="2715768"/>
            <a:ext cx="685800" cy="68580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795528" y="3566160"/>
            <a:ext cx="22448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Planner</a:t>
            </a:r>
            <a:endParaRPr 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850392" y="3950208"/>
            <a:ext cx="21351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250" dirty="0">
                <a:solidFill>
                  <a:srgbClr val="8C9B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Breaks the task into pieces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3470148" y="2423160"/>
            <a:ext cx="2464308" cy="2194560"/>
          </a:xfrm>
          <a:prstGeom prst="roundRect">
            <a:avLst>
              <a:gd name="adj" fmla="val 4167"/>
            </a:avLst>
          </a:prstGeom>
          <a:solidFill>
            <a:srgbClr val="17163A"/>
          </a:solidFill>
          <a:ln w="19050">
            <a:solidFill>
              <a:srgbClr val="7DD8E0"/>
            </a:solidFill>
            <a:prstDash val="solid"/>
          </a:ln>
        </p:spPr>
      </p:sp>
      <p:pic>
        <p:nvPicPr>
          <p:cNvPr id="12" name="Image 1" descr="/home/claude/deck_build/icons/magnify_cya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59402" y="2715768"/>
            <a:ext cx="685800" cy="68580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3579876" y="3566160"/>
            <a:ext cx="22448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7DD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Researcher</a:t>
            </a:r>
            <a:endParaRPr lang="en-US" sz="1700" dirty="0"/>
          </a:p>
        </p:txBody>
      </p:sp>
      <p:sp>
        <p:nvSpPr>
          <p:cNvPr id="14" name="Text 10"/>
          <p:cNvSpPr txBox="1"/>
          <p:nvPr/>
        </p:nvSpPr>
        <p:spPr>
          <a:xfrm>
            <a:off x="3634740" y="3950208"/>
            <a:ext cx="21351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250" dirty="0">
                <a:solidFill>
                  <a:srgbClr val="8C9B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Finds one fact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6254496" y="2423160"/>
            <a:ext cx="2464308" cy="2194560"/>
          </a:xfrm>
          <a:prstGeom prst="roundRect">
            <a:avLst>
              <a:gd name="adj" fmla="val 4167"/>
            </a:avLst>
          </a:prstGeom>
          <a:solidFill>
            <a:srgbClr val="17163A"/>
          </a:solidFill>
          <a:ln w="19050">
            <a:solidFill>
              <a:srgbClr val="7DD8E0"/>
            </a:solidFill>
            <a:prstDash val="solid"/>
          </a:ln>
        </p:spPr>
      </p:sp>
      <p:pic>
        <p:nvPicPr>
          <p:cNvPr id="16" name="Image 2" descr="/home/claude/deck_build/icons/FaPenNib_cya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43750" y="2715768"/>
            <a:ext cx="685800" cy="68580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364224" y="3566160"/>
            <a:ext cx="22448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7DD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Writer</a:t>
            </a:r>
            <a:endParaRPr lang="en-US" sz="1700" dirty="0"/>
          </a:p>
        </p:txBody>
      </p:sp>
      <p:sp>
        <p:nvSpPr>
          <p:cNvPr id="18" name="Text 13"/>
          <p:cNvSpPr txBox="1"/>
          <p:nvPr/>
        </p:nvSpPr>
        <p:spPr>
          <a:xfrm>
            <a:off x="6419088" y="3950208"/>
            <a:ext cx="21351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250" dirty="0">
                <a:solidFill>
                  <a:srgbClr val="8C9B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Turns it into a line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9038844" y="2423160"/>
            <a:ext cx="2464308" cy="2194560"/>
          </a:xfrm>
          <a:prstGeom prst="roundRect">
            <a:avLst>
              <a:gd name="adj" fmla="val 4167"/>
            </a:avLst>
          </a:prstGeom>
          <a:solidFill>
            <a:srgbClr val="17163A"/>
          </a:solidFill>
          <a:ln w="19050">
            <a:solidFill>
              <a:srgbClr val="98C379"/>
            </a:solidFill>
            <a:prstDash val="solid"/>
          </a:ln>
        </p:spPr>
      </p:sp>
      <p:pic>
        <p:nvPicPr>
          <p:cNvPr id="20" name="Image 3" descr="/home/claude/deck_build/icons/FaCircleCheck_gree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28098" y="2715768"/>
            <a:ext cx="685800" cy="68580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9148572" y="3566160"/>
            <a:ext cx="22448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98C3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Checker</a:t>
            </a:r>
            <a:endParaRPr lang="en-US" sz="1700" dirty="0"/>
          </a:p>
        </p:txBody>
      </p:sp>
      <p:sp>
        <p:nvSpPr>
          <p:cNvPr id="22" name="Text 16"/>
          <p:cNvSpPr txBox="1"/>
          <p:nvPr/>
        </p:nvSpPr>
        <p:spPr>
          <a:xfrm>
            <a:off x="9203436" y="3950208"/>
            <a:ext cx="21351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250" dirty="0">
                <a:solidFill>
                  <a:srgbClr val="8C9B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Approves, or sends it back</a:t>
            </a:r>
            <a:endParaRPr lang="en-US" sz="1250" dirty="0"/>
          </a:p>
        </p:txBody>
      </p:sp>
      <p:sp>
        <p:nvSpPr>
          <p:cNvPr id="23" name="Shape 17"/>
          <p:cNvSpPr/>
          <p:nvPr/>
        </p:nvSpPr>
        <p:spPr>
          <a:xfrm>
            <a:off x="685800" y="4937760"/>
            <a:ext cx="10817352" cy="594360"/>
          </a:xfrm>
          <a:prstGeom prst="roundRect">
            <a:avLst>
              <a:gd name="adj" fmla="val 15385"/>
            </a:avLst>
          </a:prstGeom>
          <a:solidFill>
            <a:srgbClr val="17163A"/>
          </a:solidFill>
          <a:ln w="12700">
            <a:solidFill>
              <a:srgbClr val="2E3350"/>
            </a:solidFill>
            <a:prstDash val="solid"/>
          </a:ln>
        </p:spPr>
      </p:sp>
      <p:sp>
        <p:nvSpPr>
          <p:cNvPr id="24" name="Text 18"/>
          <p:cNvSpPr txBox="1"/>
          <p:nvPr/>
        </p:nvSpPr>
        <p:spPr>
          <a:xfrm>
            <a:off x="868680" y="4937760"/>
            <a:ext cx="104515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i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single agent did the whole job.</a:t>
            </a:r>
            <a:r>
              <a:rPr lang="en-US" sz="1600" i="1" dirty="0">
                <a:solidFill>
                  <a:srgbClr val="8C9B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That's the entire idea behind multi-agent systems.</a:t>
            </a:r>
            <a:endParaRPr lang="en-US" sz="1600" dirty="0"/>
          </a:p>
        </p:txBody>
      </p:sp>
      <p:pic>
        <p:nvPicPr>
          <p:cNvPr id="25" name="Picture 24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07635" y="-55735"/>
            <a:ext cx="1022606" cy="1022606"/>
          </a:xfrm>
          <a:prstGeom prst="rect">
            <a:avLst/>
          </a:prstGeom>
        </p:spPr>
      </p:pic>
      <p:pic>
        <p:nvPicPr>
          <p:cNvPr id="26" name="Picture 25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1786"/>
            <a:ext cx="1645096" cy="712406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507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64739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200" dirty="0">
                <a:solidFill>
                  <a:srgbClr val="8C9B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ALCHEMY 4.0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0881360" y="647395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C9B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841248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EDEF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researcher() — same call_llm, a narrower job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737360" y="2468880"/>
            <a:ext cx="8714232" cy="1920240"/>
          </a:xfrm>
          <a:prstGeom prst="roundRect">
            <a:avLst>
              <a:gd name="adj" fmla="val 4762"/>
            </a:avLst>
          </a:prstGeom>
          <a:solidFill>
            <a:srgbClr val="0D0F22"/>
          </a:solidFill>
          <a:ln w="12700">
            <a:solidFill>
              <a:srgbClr val="2E335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938528" y="2596896"/>
            <a:ext cx="146304" cy="146304"/>
          </a:xfrm>
          <a:prstGeom prst="ellipse">
            <a:avLst/>
          </a:prstGeom>
          <a:solidFill>
            <a:srgbClr val="E06C75"/>
          </a:solidFill>
          <a:ln/>
        </p:spPr>
      </p:sp>
      <p:sp>
        <p:nvSpPr>
          <p:cNvPr id="8" name="Shape 6"/>
          <p:cNvSpPr/>
          <p:nvPr/>
        </p:nvSpPr>
        <p:spPr>
          <a:xfrm>
            <a:off x="2157984" y="2596896"/>
            <a:ext cx="146304" cy="146304"/>
          </a:xfrm>
          <a:prstGeom prst="ellipse">
            <a:avLst/>
          </a:prstGeom>
          <a:solidFill>
            <a:srgbClr val="E5C07B"/>
          </a:solidFill>
          <a:ln/>
        </p:spPr>
      </p:sp>
      <p:sp>
        <p:nvSpPr>
          <p:cNvPr id="9" name="Shape 7"/>
          <p:cNvSpPr/>
          <p:nvPr/>
        </p:nvSpPr>
        <p:spPr>
          <a:xfrm>
            <a:off x="2377440" y="2596896"/>
            <a:ext cx="146304" cy="146304"/>
          </a:xfrm>
          <a:prstGeom prst="ellipse">
            <a:avLst/>
          </a:prstGeom>
          <a:solidFill>
            <a:srgbClr val="98C379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2011680" y="2852928"/>
            <a:ext cx="821131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700" dirty="0">
                <a:solidFill>
                  <a:srgbClr val="ED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researcher(topic):</a:t>
            </a:r>
            <a:endParaRPr lang="en-US" sz="170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1700" dirty="0">
                <a:solidFill>
                  <a:srgbClr val="8C9B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call_llm(</a:t>
            </a:r>
            <a:endParaRPr lang="en-US" sz="170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1700" dirty="0">
                <a:solidFill>
                  <a:srgbClr val="8C9B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"Give one interesting fact about: " + topic,</a:t>
            </a:r>
            <a:endParaRPr lang="en-US" sz="170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1700" dirty="0">
                <a:solidFill>
                  <a:srgbClr val="8C9B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system="You are a researcher. One short fact only.")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685800" y="4663440"/>
            <a:ext cx="10817352" cy="594360"/>
          </a:xfrm>
          <a:prstGeom prst="roundRect">
            <a:avLst>
              <a:gd name="adj" fmla="val 15385"/>
            </a:avLst>
          </a:prstGeom>
          <a:solidFill>
            <a:srgbClr val="17163A"/>
          </a:solidFill>
          <a:ln w="12700">
            <a:solidFill>
              <a:srgbClr val="2E335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68680" y="4663440"/>
            <a:ext cx="104515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i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Nothing new here</a:t>
            </a:r>
            <a:r>
              <a:rPr lang="en-US" sz="1600" i="1" dirty="0">
                <a:solidFill>
                  <a:srgbClr val="8C9B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just call_llm again, with a system prompt that narrows what it's allowed to say.</a:t>
            </a:r>
            <a:endParaRPr lang="en-US" sz="1600" dirty="0"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07635" y="-55735"/>
            <a:ext cx="1022606" cy="1022606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1786"/>
            <a:ext cx="1645096" cy="712406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507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64739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200" dirty="0">
                <a:solidFill>
                  <a:srgbClr val="8C9B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ALCHEMY 4.0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0881360" y="647395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C9B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50292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kern="0" spc="300" dirty="0">
                <a:solidFill>
                  <a:srgbClr val="8C9B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TURN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841248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EDEF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writer(fact) — your turn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572768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8C9B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Spec, not a fill-in-the-blank:</a:t>
            </a:r>
            <a:endParaRPr lang="en-US" sz="1500" dirty="0"/>
          </a:p>
        </p:txBody>
      </p:sp>
      <p:pic>
        <p:nvPicPr>
          <p:cNvPr id="7" name="Image 0" descr="/home/claude/deck_build/icons/FaLightbulb_go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299716"/>
            <a:ext cx="384048" cy="384048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344168" y="2194560"/>
            <a:ext cx="101589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50" dirty="0">
                <a:solidFill>
                  <a:srgbClr val="8C9B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 the fact the researcher hands you</a:t>
            </a:r>
            <a:endParaRPr lang="en-US" sz="1550" dirty="0"/>
          </a:p>
        </p:txBody>
      </p:sp>
      <p:sp>
        <p:nvSpPr>
          <p:cNvPr id="9" name="Shape 6"/>
          <p:cNvSpPr/>
          <p:nvPr/>
        </p:nvSpPr>
        <p:spPr>
          <a:xfrm>
            <a:off x="685800" y="2862072"/>
            <a:ext cx="10817352" cy="9144"/>
          </a:xfrm>
          <a:prstGeom prst="line">
            <a:avLst/>
          </a:prstGeom>
          <a:noFill/>
          <a:ln w="9525">
            <a:solidFill>
              <a:srgbClr val="2E3350"/>
            </a:solidFill>
            <a:prstDash val="solid"/>
          </a:ln>
        </p:spPr>
      </p:sp>
      <p:pic>
        <p:nvPicPr>
          <p:cNvPr id="10" name="Image 1" descr="/home/claude/deck_build/icons/FaLightbulb_go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985516"/>
            <a:ext cx="384048" cy="38404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344168" y="2880360"/>
            <a:ext cx="101589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50" dirty="0">
                <a:solidFill>
                  <a:srgbClr val="8C9B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 it into something — caption, tagline, one-liner, your call</a:t>
            </a:r>
            <a:endParaRPr lang="en-US" sz="1550" dirty="0"/>
          </a:p>
        </p:txBody>
      </p:sp>
      <p:sp>
        <p:nvSpPr>
          <p:cNvPr id="12" name="Shape 8"/>
          <p:cNvSpPr/>
          <p:nvPr/>
        </p:nvSpPr>
        <p:spPr>
          <a:xfrm>
            <a:off x="685800" y="3547872"/>
            <a:ext cx="10817352" cy="9144"/>
          </a:xfrm>
          <a:prstGeom prst="line">
            <a:avLst/>
          </a:prstGeom>
          <a:noFill/>
          <a:ln w="9525">
            <a:solidFill>
              <a:srgbClr val="2E3350"/>
            </a:solidFill>
            <a:prstDash val="solid"/>
          </a:ln>
        </p:spPr>
      </p:sp>
      <p:pic>
        <p:nvPicPr>
          <p:cNvPr id="13" name="Image 2" descr="/home/claude/deck_build/icons/FaLightbulb_go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671316"/>
            <a:ext cx="384048" cy="384048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344168" y="3566160"/>
            <a:ext cx="101589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50" dirty="0">
                <a:solidFill>
                  <a:srgbClr val="8C9B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Give it its own system prompt that tells it to act like a writer, not a researcher</a:t>
            </a:r>
            <a:endParaRPr lang="en-US" sz="1550" dirty="0"/>
          </a:p>
        </p:txBody>
      </p:sp>
      <p:sp>
        <p:nvSpPr>
          <p:cNvPr id="15" name="Shape 10"/>
          <p:cNvSpPr/>
          <p:nvPr/>
        </p:nvSpPr>
        <p:spPr>
          <a:xfrm>
            <a:off x="3108960" y="4663440"/>
            <a:ext cx="5971032" cy="1097280"/>
          </a:xfrm>
          <a:prstGeom prst="roundRect">
            <a:avLst>
              <a:gd name="adj" fmla="val 8333"/>
            </a:avLst>
          </a:prstGeom>
          <a:solidFill>
            <a:srgbClr val="0D0F22"/>
          </a:solidFill>
          <a:ln w="12700">
            <a:solidFill>
              <a:srgbClr val="2E3350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3310128" y="4791456"/>
            <a:ext cx="146304" cy="146304"/>
          </a:xfrm>
          <a:prstGeom prst="ellipse">
            <a:avLst/>
          </a:prstGeom>
          <a:solidFill>
            <a:srgbClr val="E06C75"/>
          </a:solidFill>
          <a:ln/>
        </p:spPr>
      </p:sp>
      <p:sp>
        <p:nvSpPr>
          <p:cNvPr id="17" name="Shape 12"/>
          <p:cNvSpPr/>
          <p:nvPr/>
        </p:nvSpPr>
        <p:spPr>
          <a:xfrm>
            <a:off x="3529584" y="4791456"/>
            <a:ext cx="146304" cy="146304"/>
          </a:xfrm>
          <a:prstGeom prst="ellipse">
            <a:avLst/>
          </a:prstGeom>
          <a:solidFill>
            <a:srgbClr val="E5C07B"/>
          </a:solidFill>
          <a:ln/>
        </p:spPr>
      </p:sp>
      <p:sp>
        <p:nvSpPr>
          <p:cNvPr id="18" name="Shape 13"/>
          <p:cNvSpPr/>
          <p:nvPr/>
        </p:nvSpPr>
        <p:spPr>
          <a:xfrm>
            <a:off x="3749040" y="4791456"/>
            <a:ext cx="146304" cy="146304"/>
          </a:xfrm>
          <a:prstGeom prst="ellipse">
            <a:avLst/>
          </a:prstGeom>
          <a:solidFill>
            <a:srgbClr val="98C379"/>
          </a:solidFill>
          <a:ln/>
        </p:spPr>
      </p:sp>
      <p:sp>
        <p:nvSpPr>
          <p:cNvPr id="19" name="Text 14"/>
          <p:cNvSpPr txBox="1"/>
          <p:nvPr/>
        </p:nvSpPr>
        <p:spPr>
          <a:xfrm>
            <a:off x="3383280" y="5047488"/>
            <a:ext cx="54681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600" dirty="0">
                <a:solidFill>
                  <a:srgbClr val="ED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writer(fact):</a:t>
            </a:r>
            <a:endParaRPr lang="en-US" sz="160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1600" dirty="0">
                <a:solidFill>
                  <a:srgbClr val="E5C0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pass</a:t>
            </a:r>
            <a:endParaRPr lang="en-US" sz="1600" dirty="0"/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07635" y="-55735"/>
            <a:ext cx="1022606" cy="1022606"/>
          </a:xfrm>
          <a:prstGeom prst="rect">
            <a:avLst/>
          </a:prstGeom>
        </p:spPr>
      </p:pic>
      <p:pic>
        <p:nvPicPr>
          <p:cNvPr id="21" name="Picture 20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1786"/>
            <a:ext cx="1645096" cy="712406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507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64739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200" dirty="0">
                <a:solidFill>
                  <a:srgbClr val="8C9B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ALCHEMY 4.0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0881360" y="647395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C9B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704614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kern="0" spc="300" dirty="0">
                <a:solidFill>
                  <a:srgbClr val="8C9B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RESEARCHER → WRITER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225296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EDEF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Chaining: one agent's output is the next one's input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685800" y="2331720"/>
            <a:ext cx="2286000" cy="1051560"/>
          </a:xfrm>
          <a:prstGeom prst="roundRect">
            <a:avLst>
              <a:gd name="adj" fmla="val 8696"/>
            </a:avLst>
          </a:prstGeom>
          <a:solidFill>
            <a:srgbClr val="17163A"/>
          </a:solidFill>
          <a:ln w="15875">
            <a:solidFill>
              <a:srgbClr val="8C9BC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24688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8C9B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topic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88036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8C9B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"the campus canteen"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999232" y="2766060"/>
            <a:ext cx="201168" cy="182880"/>
          </a:xfrm>
          <a:prstGeom prst="rightArrow">
            <a:avLst/>
          </a:prstGeom>
          <a:solidFill>
            <a:srgbClr val="F5C542"/>
          </a:solidFill>
          <a:ln/>
        </p:spPr>
      </p:sp>
      <p:sp>
        <p:nvSpPr>
          <p:cNvPr id="10" name="Shape 8"/>
          <p:cNvSpPr/>
          <p:nvPr/>
        </p:nvSpPr>
        <p:spPr>
          <a:xfrm>
            <a:off x="3227832" y="2331720"/>
            <a:ext cx="2468880" cy="1051560"/>
          </a:xfrm>
          <a:prstGeom prst="roundRect">
            <a:avLst>
              <a:gd name="adj" fmla="val 8696"/>
            </a:avLst>
          </a:prstGeom>
          <a:solidFill>
            <a:srgbClr val="17163A"/>
          </a:solidFill>
          <a:ln w="15875">
            <a:solidFill>
              <a:srgbClr val="7DD8E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227832" y="246888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7DD8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researcher()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3319272" y="28803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8C9B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finds one fact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724144" y="2766060"/>
            <a:ext cx="201168" cy="182880"/>
          </a:xfrm>
          <a:prstGeom prst="rightArrow">
            <a:avLst/>
          </a:prstGeom>
          <a:solidFill>
            <a:srgbClr val="F5C542"/>
          </a:solidFill>
          <a:ln/>
        </p:spPr>
      </p:sp>
      <p:sp>
        <p:nvSpPr>
          <p:cNvPr id="14" name="Shape 12"/>
          <p:cNvSpPr/>
          <p:nvPr/>
        </p:nvSpPr>
        <p:spPr>
          <a:xfrm>
            <a:off x="5952744" y="2331720"/>
            <a:ext cx="1828800" cy="1051560"/>
          </a:xfrm>
          <a:prstGeom prst="roundRect">
            <a:avLst>
              <a:gd name="adj" fmla="val 8696"/>
            </a:avLst>
          </a:prstGeom>
          <a:solidFill>
            <a:srgbClr val="17163A"/>
          </a:solidFill>
          <a:ln w="15875">
            <a:solidFill>
              <a:srgbClr val="8C9BC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952744" y="24688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8C9B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fact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044184" y="288036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8C9B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 string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808976" y="2766060"/>
            <a:ext cx="201168" cy="182880"/>
          </a:xfrm>
          <a:prstGeom prst="rightArrow">
            <a:avLst/>
          </a:prstGeom>
          <a:solidFill>
            <a:srgbClr val="F5C542"/>
          </a:solidFill>
          <a:ln/>
        </p:spPr>
      </p:sp>
      <p:sp>
        <p:nvSpPr>
          <p:cNvPr id="18" name="Shape 16"/>
          <p:cNvSpPr/>
          <p:nvPr/>
        </p:nvSpPr>
        <p:spPr>
          <a:xfrm>
            <a:off x="8037576" y="2331720"/>
            <a:ext cx="2468880" cy="1051560"/>
          </a:xfrm>
          <a:prstGeom prst="roundRect">
            <a:avLst>
              <a:gd name="adj" fmla="val 8696"/>
            </a:avLst>
          </a:prstGeom>
          <a:solidFill>
            <a:srgbClr val="17163A"/>
          </a:solidFill>
          <a:ln w="15875">
            <a:solidFill>
              <a:srgbClr val="F5C54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037576" y="246888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C5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writer()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8129016" y="28803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8C9B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makes a caption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85800" y="3840480"/>
            <a:ext cx="10817352" cy="1371600"/>
          </a:xfrm>
          <a:prstGeom prst="roundRect">
            <a:avLst>
              <a:gd name="adj" fmla="val 6667"/>
            </a:avLst>
          </a:prstGeom>
          <a:solidFill>
            <a:srgbClr val="0D0F22"/>
          </a:solidFill>
          <a:ln w="12700">
            <a:solidFill>
              <a:srgbClr val="2E3350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41832" y="396849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200" dirty="0">
                <a:solidFill>
                  <a:srgbClr val="4A4E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960120" y="4315968"/>
            <a:ext cx="103144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500" dirty="0">
                <a:solidFill>
                  <a:srgbClr val="8C9B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Researcher found: The campus canteen never closes before midnight.</a:t>
            </a:r>
            <a:endParaRPr lang="en-US" sz="15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500" dirty="0">
                <a:solidFill>
                  <a:srgbClr val="F5C5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Writer wrote: Midnight cravings? We've got you.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685800" y="5532120"/>
            <a:ext cx="10817352" cy="594360"/>
          </a:xfrm>
          <a:prstGeom prst="roundRect">
            <a:avLst>
              <a:gd name="adj" fmla="val 15385"/>
            </a:avLst>
          </a:prstGeom>
          <a:solidFill>
            <a:srgbClr val="17163A"/>
          </a:solidFill>
          <a:ln w="12700">
            <a:solidFill>
              <a:srgbClr val="2E335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68680" y="5532120"/>
            <a:ext cx="104515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i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small, focused calls</a:t>
            </a:r>
            <a:r>
              <a:rPr lang="en-US" sz="1600" i="1" dirty="0">
                <a:solidFill>
                  <a:srgbClr val="8C9B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easier to test, swap out, and debug than one giant prompt trying to do both jobs.</a:t>
            </a:r>
            <a:endParaRPr lang="en-US" sz="1600" dirty="0"/>
          </a:p>
        </p:txBody>
      </p:sp>
      <p:pic>
        <p:nvPicPr>
          <p:cNvPr id="26" name="Picture 2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07635" y="-55735"/>
            <a:ext cx="1022606" cy="1022606"/>
          </a:xfrm>
          <a:prstGeom prst="rect">
            <a:avLst/>
          </a:prstGeom>
        </p:spPr>
      </p:pic>
      <p:pic>
        <p:nvPicPr>
          <p:cNvPr id="27" name="Picture 2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1786"/>
            <a:ext cx="1645096" cy="712406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507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64739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200" dirty="0">
                <a:solidFill>
                  <a:srgbClr val="8C9B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ALCHEMY 4.0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0881360" y="647395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C9B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606040"/>
            <a:ext cx="1072591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4800" b="1" dirty="0">
                <a:solidFill>
                  <a:srgbClr val="EDEF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Now build </a:t>
            </a:r>
            <a:r>
              <a:rPr lang="en-US" sz="4800" b="1" dirty="0" smtClean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yours</a:t>
            </a:r>
            <a:endParaRPr lang="en-US" sz="4800" dirty="0"/>
          </a:p>
        </p:txBody>
      </p:sp>
      <p:sp>
        <p:nvSpPr>
          <p:cNvPr id="6" name="Text 4"/>
          <p:cNvSpPr txBox="1"/>
          <p:nvPr/>
        </p:nvSpPr>
        <p:spPr>
          <a:xfrm>
            <a:off x="1645920" y="3977640"/>
            <a:ext cx="88971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8C9B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 one string — GOAL — and Atlas stops being a workshop mascot and becomes something useful to you, today.</a:t>
            </a:r>
            <a:endParaRPr lang="en-US" sz="1600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07635" y="-55735"/>
            <a:ext cx="1022606" cy="1022606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1786"/>
            <a:ext cx="1645096" cy="712406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507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64739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200" dirty="0">
                <a:solidFill>
                  <a:srgbClr val="8C9B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ALCHEMY 4.0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0881360" y="647395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C9B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672739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kern="0" spc="300" dirty="0">
                <a:solidFill>
                  <a:srgbClr val="8C9B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PICK YOUR TIER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170652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200" b="1" dirty="0" smtClean="0">
                <a:solidFill>
                  <a:srgbClr val="EDEFFA"/>
                </a:solidFill>
                <a:latin typeface="Arial" pitchFamily="34" charset="0"/>
                <a:cs typeface="Arial" pitchFamily="34" charset="-120"/>
              </a:rPr>
              <a:t>What all can Atlas do?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685800" y="2423160"/>
            <a:ext cx="3392424" cy="2834640"/>
          </a:xfrm>
          <a:prstGeom prst="roundRect">
            <a:avLst>
              <a:gd name="adj" fmla="val 3226"/>
            </a:avLst>
          </a:prstGeom>
          <a:solidFill>
            <a:srgbClr val="17163A"/>
          </a:solidFill>
          <a:ln w="19050">
            <a:solidFill>
              <a:srgbClr val="7DD8E0"/>
            </a:solidFill>
            <a:prstDash val="solid"/>
          </a:ln>
        </p:spPr>
      </p:sp>
      <p:pic>
        <p:nvPicPr>
          <p:cNvPr id="8" name="Image 0" descr="/home/claude/deck_build/icons/FaLayerGroup_cy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9112" y="2715768"/>
            <a:ext cx="685800" cy="68580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795528" y="3566160"/>
            <a:ext cx="3172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 smtClean="0">
                <a:solidFill>
                  <a:srgbClr val="7DD8E0"/>
                </a:solidFill>
                <a:latin typeface="Arial" pitchFamily="34" charset="0"/>
                <a:cs typeface="Arial" pitchFamily="34" charset="-120"/>
              </a:rPr>
              <a:t>A personal assistant</a:t>
            </a:r>
            <a:endParaRPr 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822548" y="3950208"/>
            <a:ext cx="3063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endParaRPr lang="en-US" sz="1250" dirty="0" smtClean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250" dirty="0" smtClean="0">
                <a:solidFill>
                  <a:srgbClr val="8C9B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</a:t>
            </a:r>
            <a:r>
              <a:rPr lang="en-US" sz="1250" dirty="0">
                <a:solidFill>
                  <a:srgbClr val="8C9B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exams Mon/Wed/Fri + football Saturday — plan my week."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4398264" y="2423160"/>
            <a:ext cx="3392424" cy="2834640"/>
          </a:xfrm>
          <a:prstGeom prst="roundRect">
            <a:avLst>
              <a:gd name="adj" fmla="val 3226"/>
            </a:avLst>
          </a:prstGeom>
          <a:solidFill>
            <a:srgbClr val="17163A"/>
          </a:solidFill>
          <a:ln w="19050">
            <a:solidFill>
              <a:srgbClr val="7DD8E0"/>
            </a:solidFill>
            <a:prstDash val="solid"/>
          </a:ln>
        </p:spPr>
      </p:sp>
      <p:pic>
        <p:nvPicPr>
          <p:cNvPr id="12" name="Image 1" descr="/home/claude/deck_build/icons/magnify_cya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51576" y="2715768"/>
            <a:ext cx="685800" cy="68580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507992" y="3566160"/>
            <a:ext cx="3172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 smtClean="0">
                <a:solidFill>
                  <a:srgbClr val="7DD8E0"/>
                </a:solidFill>
                <a:latin typeface="Arial" pitchFamily="34" charset="0"/>
                <a:cs typeface="Arial" pitchFamily="34" charset="-120"/>
              </a:rPr>
              <a:t>A research bot</a:t>
            </a:r>
            <a:endParaRPr lang="en-US" sz="1700" dirty="0"/>
          </a:p>
        </p:txBody>
      </p:sp>
      <p:sp>
        <p:nvSpPr>
          <p:cNvPr id="14" name="Text 10"/>
          <p:cNvSpPr txBox="1"/>
          <p:nvPr/>
        </p:nvSpPr>
        <p:spPr>
          <a:xfrm>
            <a:off x="4562856" y="4114800"/>
            <a:ext cx="3063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250" dirty="0" smtClean="0">
                <a:solidFill>
                  <a:srgbClr val="8C9B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Point </a:t>
            </a:r>
            <a:r>
              <a:rPr lang="en-US" sz="1250" dirty="0">
                <a:solidFill>
                  <a:srgbClr val="8C9B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Atlas at a topic you care about and have it dig + summarize.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8110728" y="2423160"/>
            <a:ext cx="3392424" cy="2834640"/>
          </a:xfrm>
          <a:prstGeom prst="roundRect">
            <a:avLst>
              <a:gd name="adj" fmla="val 3226"/>
            </a:avLst>
          </a:prstGeom>
          <a:solidFill>
            <a:srgbClr val="17163A"/>
          </a:solidFill>
          <a:ln w="19050">
            <a:solidFill>
              <a:srgbClr val="F5C542"/>
            </a:solidFill>
            <a:prstDash val="solid"/>
          </a:ln>
        </p:spPr>
      </p:sp>
      <p:pic>
        <p:nvPicPr>
          <p:cNvPr id="16" name="Image 2" descr="/home/claude/deck_build/icons/FaRocket_gol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64040" y="2715768"/>
            <a:ext cx="685800" cy="68580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220456" y="3566160"/>
            <a:ext cx="3172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 smtClean="0">
                <a:solidFill>
                  <a:srgbClr val="F5C542"/>
                </a:solidFill>
                <a:latin typeface="Arial" pitchFamily="34" charset="0"/>
                <a:cs typeface="Arial" pitchFamily="34" charset="-120"/>
              </a:rPr>
              <a:t>Your own crew</a:t>
            </a:r>
            <a:endParaRPr lang="en-US" sz="1700" dirty="0"/>
          </a:p>
        </p:txBody>
      </p:sp>
      <p:sp>
        <p:nvSpPr>
          <p:cNvPr id="18" name="Text 13"/>
          <p:cNvSpPr txBox="1"/>
          <p:nvPr/>
        </p:nvSpPr>
        <p:spPr>
          <a:xfrm>
            <a:off x="8275320" y="4114800"/>
            <a:ext cx="3063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250" dirty="0">
                <a:solidFill>
                  <a:srgbClr val="8C9B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3-agent crew. Add a Checker to Researcher → Writer and review its own work.</a:t>
            </a:r>
            <a:endParaRPr lang="en-US" sz="1250" dirty="0"/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07635" y="-55735"/>
            <a:ext cx="1022606" cy="1022606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1786"/>
            <a:ext cx="1645096" cy="712406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507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64739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200" dirty="0">
                <a:solidFill>
                  <a:srgbClr val="8C9B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ALCHEMY 4.0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0881360" y="647395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C9B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658393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kern="0" spc="300" dirty="0">
                <a:solidFill>
                  <a:srgbClr val="8C9B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STILL STUCK? ASK YOURSELF...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077795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700" b="1" dirty="0">
                <a:solidFill>
                  <a:srgbClr val="EDEF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What's the most annoying, repetitive thing in your week?</a:t>
            </a:r>
            <a:endParaRPr lang="en-US" sz="2700" dirty="0"/>
          </a:p>
        </p:txBody>
      </p:sp>
      <p:grpSp>
        <p:nvGrpSpPr>
          <p:cNvPr id="16" name="Group 15"/>
          <p:cNvGrpSpPr/>
          <p:nvPr/>
        </p:nvGrpSpPr>
        <p:grpSpPr>
          <a:xfrm>
            <a:off x="685800" y="1874520"/>
            <a:ext cx="10817352" cy="2880360"/>
            <a:chOff x="685800" y="2331720"/>
            <a:chExt cx="10817352" cy="2880360"/>
          </a:xfrm>
        </p:grpSpPr>
        <p:pic>
          <p:nvPicPr>
            <p:cNvPr id="6" name="Image 0" descr="/home/claude/deck_build/icons/FaLightbulb_gold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85800" y="2574036"/>
              <a:ext cx="384048" cy="384048"/>
            </a:xfrm>
            <a:prstGeom prst="rect">
              <a:avLst/>
            </a:prstGeom>
          </p:spPr>
        </p:pic>
        <p:sp>
          <p:nvSpPr>
            <p:cNvPr id="7" name="Text 4"/>
            <p:cNvSpPr txBox="1"/>
            <p:nvPr/>
          </p:nvSpPr>
          <p:spPr>
            <a:xfrm>
              <a:off x="1344168" y="2331720"/>
              <a:ext cx="10158984" cy="9601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550" dirty="0">
                  <a:solidFill>
                    <a:srgbClr val="8C9BC4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What's actually in the mess menu today vs. what I'm craving?</a:t>
              </a:r>
              <a:endParaRPr lang="en-US" sz="1550" dirty="0"/>
            </a:p>
          </p:txBody>
        </p:sp>
        <p:sp>
          <p:nvSpPr>
            <p:cNvPr id="8" name="Shape 5"/>
            <p:cNvSpPr/>
            <p:nvPr/>
          </p:nvSpPr>
          <p:spPr>
            <a:xfrm>
              <a:off x="685800" y="3273552"/>
              <a:ext cx="10817352" cy="9144"/>
            </a:xfrm>
            <a:prstGeom prst="line">
              <a:avLst/>
            </a:prstGeom>
            <a:noFill/>
            <a:ln w="9525">
              <a:solidFill>
                <a:srgbClr val="2E3350"/>
              </a:solidFill>
              <a:prstDash val="solid"/>
            </a:ln>
          </p:spPr>
        </p:sp>
        <p:pic>
          <p:nvPicPr>
            <p:cNvPr id="9" name="Image 1" descr="/home/claude/deck_build/icons/FaLightbulb_gold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85800" y="3534156"/>
              <a:ext cx="384048" cy="384048"/>
            </a:xfrm>
            <a:prstGeom prst="rect">
              <a:avLst/>
            </a:prstGeom>
          </p:spPr>
        </p:pic>
        <p:sp>
          <p:nvSpPr>
            <p:cNvPr id="10" name="Text 6"/>
            <p:cNvSpPr txBox="1"/>
            <p:nvPr/>
          </p:nvSpPr>
          <p:spPr>
            <a:xfrm>
              <a:off x="1344168" y="3291840"/>
              <a:ext cx="10158984" cy="9601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550" dirty="0">
                  <a:solidFill>
                    <a:srgbClr val="8C9BC4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Splitting a canteen bill three ways without doing the maths myself.</a:t>
              </a:r>
              <a:endParaRPr lang="en-US" sz="1550" dirty="0"/>
            </a:p>
          </p:txBody>
        </p:sp>
        <p:sp>
          <p:nvSpPr>
            <p:cNvPr id="11" name="Shape 7"/>
            <p:cNvSpPr/>
            <p:nvPr/>
          </p:nvSpPr>
          <p:spPr>
            <a:xfrm>
              <a:off x="685800" y="4233672"/>
              <a:ext cx="10817352" cy="9144"/>
            </a:xfrm>
            <a:prstGeom prst="line">
              <a:avLst/>
            </a:prstGeom>
            <a:noFill/>
            <a:ln w="9525">
              <a:solidFill>
                <a:srgbClr val="2E3350"/>
              </a:solidFill>
              <a:prstDash val="solid"/>
            </a:ln>
          </p:spPr>
        </p:sp>
        <p:pic>
          <p:nvPicPr>
            <p:cNvPr id="12" name="Image 2" descr="/home/claude/deck_build/icons/FaLightbulb_gold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85800" y="4494276"/>
              <a:ext cx="384048" cy="384048"/>
            </a:xfrm>
            <a:prstGeom prst="rect">
              <a:avLst/>
            </a:prstGeom>
          </p:spPr>
        </p:pic>
        <p:sp>
          <p:nvSpPr>
            <p:cNvPr id="13" name="Text 8"/>
            <p:cNvSpPr txBox="1"/>
            <p:nvPr/>
          </p:nvSpPr>
          <p:spPr>
            <a:xfrm>
              <a:off x="1344168" y="4251960"/>
              <a:ext cx="10158984" cy="9601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550" dirty="0">
                  <a:solidFill>
                    <a:srgbClr val="8C9BC4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Turning a 15-slide lecture deck into 3 bullet points I'll actually read.</a:t>
              </a:r>
              <a:endParaRPr lang="en-US" sz="1550" dirty="0"/>
            </a:p>
          </p:txBody>
        </p:sp>
      </p:grpSp>
      <p:grpSp>
        <p:nvGrpSpPr>
          <p:cNvPr id="19" name="Group 18"/>
          <p:cNvGrpSpPr/>
          <p:nvPr/>
        </p:nvGrpSpPr>
        <p:grpSpPr>
          <a:xfrm>
            <a:off x="658368" y="4926112"/>
            <a:ext cx="10817352" cy="548640"/>
            <a:chOff x="685800" y="5532120"/>
            <a:chExt cx="10817352" cy="548640"/>
          </a:xfrm>
        </p:grpSpPr>
        <p:sp>
          <p:nvSpPr>
            <p:cNvPr id="14" name="Shape 9"/>
            <p:cNvSpPr/>
            <p:nvPr/>
          </p:nvSpPr>
          <p:spPr>
            <a:xfrm>
              <a:off x="685800" y="5532120"/>
              <a:ext cx="10817352" cy="548640"/>
            </a:xfrm>
            <a:prstGeom prst="roundRect">
              <a:avLst>
                <a:gd name="adj" fmla="val 16667"/>
              </a:avLst>
            </a:prstGeom>
            <a:solidFill>
              <a:srgbClr val="17163A"/>
            </a:solidFill>
            <a:ln w="12700">
              <a:solidFill>
                <a:srgbClr val="2E3350"/>
              </a:solidFill>
              <a:prstDash val="solid"/>
            </a:ln>
          </p:spPr>
        </p:sp>
        <p:sp>
          <p:nvSpPr>
            <p:cNvPr id="15" name="Text 10"/>
            <p:cNvSpPr txBox="1"/>
            <p:nvPr/>
          </p:nvSpPr>
          <p:spPr>
            <a:xfrm>
              <a:off x="868680" y="5532120"/>
              <a:ext cx="10451592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i="1" dirty="0">
                  <a:solidFill>
                    <a:srgbClr val="F5C542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Say it in one sentence</a:t>
              </a:r>
              <a:r>
                <a:rPr lang="en-US" sz="1600" i="1" dirty="0">
                  <a:solidFill>
                    <a:srgbClr val="8C9BC4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 — that's your GOAL. Type it in.</a:t>
              </a:r>
              <a:endParaRPr lang="en-US" sz="1600" dirty="0"/>
            </a:p>
          </p:txBody>
        </p:sp>
      </p:grpSp>
      <p:pic>
        <p:nvPicPr>
          <p:cNvPr id="17" name="Picture 1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07635" y="-55735"/>
            <a:ext cx="1022606" cy="1022606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3077"/>
            <a:ext cx="1645096" cy="712406"/>
          </a:xfrm>
          <a:prstGeom prst="rect">
            <a:avLst/>
          </a:prstGeom>
        </p:spPr>
      </p:pic>
      <p:grpSp>
        <p:nvGrpSpPr>
          <p:cNvPr id="20" name="Group 19"/>
          <p:cNvGrpSpPr/>
          <p:nvPr/>
        </p:nvGrpSpPr>
        <p:grpSpPr>
          <a:xfrm>
            <a:off x="639668" y="5754080"/>
            <a:ext cx="10817352" cy="548640"/>
            <a:chOff x="685800" y="5532120"/>
            <a:chExt cx="10817352" cy="548640"/>
          </a:xfrm>
        </p:grpSpPr>
        <p:sp>
          <p:nvSpPr>
            <p:cNvPr id="21" name="Shape 9"/>
            <p:cNvSpPr/>
            <p:nvPr/>
          </p:nvSpPr>
          <p:spPr>
            <a:xfrm>
              <a:off x="685800" y="5532120"/>
              <a:ext cx="10817352" cy="548640"/>
            </a:xfrm>
            <a:prstGeom prst="roundRect">
              <a:avLst>
                <a:gd name="adj" fmla="val 16667"/>
              </a:avLst>
            </a:prstGeom>
            <a:solidFill>
              <a:srgbClr val="17163A"/>
            </a:solidFill>
            <a:ln w="12700">
              <a:solidFill>
                <a:srgbClr val="2E3350"/>
              </a:solidFill>
              <a:prstDash val="solid"/>
            </a:ln>
          </p:spPr>
        </p:sp>
        <p:sp>
          <p:nvSpPr>
            <p:cNvPr id="22" name="Text 10"/>
            <p:cNvSpPr txBox="1"/>
            <p:nvPr/>
          </p:nvSpPr>
          <p:spPr>
            <a:xfrm>
              <a:off x="868680" y="5532120"/>
              <a:ext cx="10451592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i="1" dirty="0">
                  <a:solidFill>
                    <a:srgbClr val="F5C542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LETS CODE!</a:t>
              </a:r>
            </a:p>
          </p:txBody>
        </p:sp>
      </p:grp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507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64739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200" dirty="0">
                <a:solidFill>
                  <a:srgbClr val="8C9B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ALCHEMY 4.0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0881360" y="647395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C9B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841248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000" b="1" dirty="0" smtClean="0">
                <a:solidFill>
                  <a:srgbClr val="EDEF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</a:t>
            </a:r>
            <a:r>
              <a:rPr lang="en-US" sz="3000" b="1" dirty="0">
                <a:solidFill>
                  <a:srgbClr val="EDEF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three things, in this order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685800" y="2423160"/>
            <a:ext cx="3392424" cy="2560320"/>
          </a:xfrm>
          <a:prstGeom prst="roundRect">
            <a:avLst>
              <a:gd name="adj" fmla="val 3571"/>
            </a:avLst>
          </a:prstGeom>
          <a:solidFill>
            <a:srgbClr val="17163A"/>
          </a:solidFill>
          <a:ln w="19050">
            <a:solidFill>
              <a:srgbClr val="7DD8E0"/>
            </a:solidFill>
            <a:prstDash val="solid"/>
          </a:ln>
        </p:spPr>
      </p:sp>
      <p:pic>
        <p:nvPicPr>
          <p:cNvPr id="7" name="Image 0" descr="/home/claude/deck_build/icons/FaComment_cy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9112" y="2715768"/>
            <a:ext cx="685800" cy="68580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795528" y="3566160"/>
            <a:ext cx="3172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7DD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What you changed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850392" y="3950208"/>
            <a:ext cx="3063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250" dirty="0">
                <a:solidFill>
                  <a:srgbClr val="8C9B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GOAL, or the tool you added. One sentence.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398264" y="2423160"/>
            <a:ext cx="3392424" cy="2560320"/>
          </a:xfrm>
          <a:prstGeom prst="roundRect">
            <a:avLst>
              <a:gd name="adj" fmla="val 3571"/>
            </a:avLst>
          </a:prstGeom>
          <a:solidFill>
            <a:srgbClr val="17163A"/>
          </a:solidFill>
          <a:ln w="19050">
            <a:solidFill>
              <a:srgbClr val="F5C542"/>
            </a:solidFill>
            <a:prstDash val="solid"/>
          </a:ln>
        </p:spPr>
      </p:sp>
      <p:pic>
        <p:nvPicPr>
          <p:cNvPr id="11" name="Image 1" descr="/home/claude/deck_build/icons/FaMicrophone_gol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51576" y="2715768"/>
            <a:ext cx="685800" cy="68580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507992" y="3566160"/>
            <a:ext cx="3172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What Atlas did</a:t>
            </a:r>
            <a:endParaRPr lang="en-US" sz="1700" dirty="0"/>
          </a:p>
        </p:txBody>
      </p:sp>
      <p:sp>
        <p:nvSpPr>
          <p:cNvPr id="13" name="Text 9"/>
          <p:cNvSpPr txBox="1"/>
          <p:nvPr/>
        </p:nvSpPr>
        <p:spPr>
          <a:xfrm>
            <a:off x="4562856" y="3950208"/>
            <a:ext cx="3063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250" dirty="0">
                <a:solidFill>
                  <a:srgbClr val="8C9B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it live, or show the output you already got.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110728" y="2423160"/>
            <a:ext cx="3392424" cy="2560320"/>
          </a:xfrm>
          <a:prstGeom prst="roundRect">
            <a:avLst>
              <a:gd name="adj" fmla="val 3571"/>
            </a:avLst>
          </a:prstGeom>
          <a:solidFill>
            <a:srgbClr val="17163A"/>
          </a:solidFill>
          <a:ln w="19050">
            <a:solidFill>
              <a:srgbClr val="E06C75"/>
            </a:solidFill>
            <a:prstDash val="solid"/>
          </a:ln>
        </p:spPr>
      </p:sp>
      <p:pic>
        <p:nvPicPr>
          <p:cNvPr id="15" name="Image 2" descr="/home/claude/deck_build/icons/FaTriangleExclamation_r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64040" y="2715768"/>
            <a:ext cx="685800" cy="68580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8220456" y="3566160"/>
            <a:ext cx="3172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E06C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One surprise or bug</a:t>
            </a:r>
            <a:endParaRPr lang="en-US" sz="1700" dirty="0"/>
          </a:p>
        </p:txBody>
      </p:sp>
      <p:sp>
        <p:nvSpPr>
          <p:cNvPr id="17" name="Text 12"/>
          <p:cNvSpPr txBox="1"/>
          <p:nvPr/>
        </p:nvSpPr>
        <p:spPr>
          <a:xfrm>
            <a:off x="8275320" y="3950208"/>
            <a:ext cx="3063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250" dirty="0">
                <a:solidFill>
                  <a:srgbClr val="8C9B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real bug is more valuable to this room than a perfect run.</a:t>
            </a:r>
            <a:endParaRPr lang="en-US" sz="1250" dirty="0"/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07635" y="-55735"/>
            <a:ext cx="1022606" cy="1022606"/>
          </a:xfrm>
          <a:prstGeom prst="rect">
            <a:avLst/>
          </a:prstGeom>
        </p:spPr>
      </p:pic>
      <p:pic>
        <p:nvPicPr>
          <p:cNvPr id="21" name="Picture 20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3077"/>
            <a:ext cx="1645096" cy="712406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0507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64739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200" dirty="0">
                <a:solidFill>
                  <a:srgbClr val="8C9B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ALCHEMY 4.0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0881360" y="647395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C9B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841248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EDEF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errors → fixes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947672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kern="0" spc="2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SYMPTOM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6172200" y="1947672"/>
            <a:ext cx="5330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kern="0" spc="2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8" name="Shape 6"/>
          <p:cNvSpPr/>
          <p:nvPr/>
        </p:nvSpPr>
        <p:spPr>
          <a:xfrm>
            <a:off x="685800" y="2331720"/>
            <a:ext cx="5120640" cy="722376"/>
          </a:xfrm>
          <a:prstGeom prst="roundRect">
            <a:avLst>
              <a:gd name="adj" fmla="val 12658"/>
            </a:avLst>
          </a:prstGeom>
          <a:solidFill>
            <a:srgbClr val="17163A"/>
          </a:solidFill>
          <a:ln w="12700">
            <a:solidFill>
              <a:srgbClr val="E06C75"/>
            </a:solidFill>
            <a:prstDash val="solid"/>
          </a:ln>
        </p:spPr>
      </p:sp>
      <p:pic>
        <p:nvPicPr>
          <p:cNvPr id="9" name="Image 0" descr="/home/claude/deck_build/icons/FaTriangleExclamation_r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" y="2528316"/>
            <a:ext cx="329184" cy="329184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307592" y="2331720"/>
            <a:ext cx="434340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EDEF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Assembled Atlas prints 'Stopped'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72200" y="2331720"/>
            <a:ext cx="5330952" cy="722376"/>
          </a:xfrm>
          <a:prstGeom prst="roundRect">
            <a:avLst>
              <a:gd name="adj" fmla="val 12658"/>
            </a:avLst>
          </a:prstGeom>
          <a:solidFill>
            <a:srgbClr val="17163A"/>
          </a:solidFill>
          <a:ln w="12700">
            <a:solidFill>
              <a:srgbClr val="98C379"/>
            </a:solidFill>
            <a:prstDash val="solid"/>
          </a:ln>
        </p:spPr>
      </p:sp>
      <p:pic>
        <p:nvPicPr>
          <p:cNvPr id="12" name="Image 1" descr="/home/claude/deck_build/icons/FaCircleCheck_gree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6792" y="2528316"/>
            <a:ext cx="329184" cy="329184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6793992" y="2331720"/>
            <a:ext cx="457200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EDEF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Raise max_steps, or simplify the GOAL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85800" y="3200400"/>
            <a:ext cx="5120640" cy="722376"/>
          </a:xfrm>
          <a:prstGeom prst="roundRect">
            <a:avLst>
              <a:gd name="adj" fmla="val 12658"/>
            </a:avLst>
          </a:prstGeom>
          <a:solidFill>
            <a:srgbClr val="17163A"/>
          </a:solidFill>
          <a:ln w="12700">
            <a:solidFill>
              <a:srgbClr val="E06C75"/>
            </a:solidFill>
            <a:prstDash val="solid"/>
          </a:ln>
        </p:spPr>
      </p:sp>
      <p:pic>
        <p:nvPicPr>
          <p:cNvPr id="15" name="Image 2" descr="/home/claude/deck_build/icons/FaTriangleExclamation_r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" y="3396996"/>
            <a:ext cx="329184" cy="329184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307592" y="3200400"/>
            <a:ext cx="434340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EDEF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project throws an error</a:t>
            </a:r>
            <a:endParaRPr lang="en-US" sz="1300" dirty="0"/>
          </a:p>
        </p:txBody>
      </p:sp>
      <p:sp>
        <p:nvSpPr>
          <p:cNvPr id="17" name="Shape 12"/>
          <p:cNvSpPr/>
          <p:nvPr/>
        </p:nvSpPr>
        <p:spPr>
          <a:xfrm>
            <a:off x="6172200" y="3200400"/>
            <a:ext cx="5330952" cy="722376"/>
          </a:xfrm>
          <a:prstGeom prst="roundRect">
            <a:avLst>
              <a:gd name="adj" fmla="val 12658"/>
            </a:avLst>
          </a:prstGeom>
          <a:solidFill>
            <a:srgbClr val="17163A"/>
          </a:solidFill>
          <a:ln w="12700">
            <a:solidFill>
              <a:srgbClr val="98C379"/>
            </a:solidFill>
            <a:prstDash val="solid"/>
          </a:ln>
        </p:spPr>
      </p:sp>
      <p:pic>
        <p:nvPicPr>
          <p:cNvPr id="18" name="Image 3" descr="/home/claude/deck_build/icons/FaCircleCheck_gree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6792" y="3396996"/>
            <a:ext cx="329184" cy="329184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6793992" y="3200400"/>
            <a:ext cx="457200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EDEF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Almost always a typo in GOAL or a tool name</a:t>
            </a:r>
            <a:endParaRPr lang="en-US" sz="1300" dirty="0"/>
          </a:p>
        </p:txBody>
      </p:sp>
      <p:sp>
        <p:nvSpPr>
          <p:cNvPr id="20" name="Shape 14"/>
          <p:cNvSpPr/>
          <p:nvPr/>
        </p:nvSpPr>
        <p:spPr>
          <a:xfrm>
            <a:off x="685800" y="4069080"/>
            <a:ext cx="5120640" cy="722376"/>
          </a:xfrm>
          <a:prstGeom prst="roundRect">
            <a:avLst>
              <a:gd name="adj" fmla="val 12658"/>
            </a:avLst>
          </a:prstGeom>
          <a:solidFill>
            <a:srgbClr val="17163A"/>
          </a:solidFill>
          <a:ln w="12700">
            <a:solidFill>
              <a:srgbClr val="E06C75"/>
            </a:solidFill>
            <a:prstDash val="solid"/>
          </a:ln>
        </p:spPr>
      </p:sp>
      <p:pic>
        <p:nvPicPr>
          <p:cNvPr id="21" name="Image 4" descr="/home/claude/deck_build/icons/FaTriangleExclamation_r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" y="4265676"/>
            <a:ext cx="329184" cy="329184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1307592" y="4069080"/>
            <a:ext cx="434340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EDEF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429 / rate limit / slow response</a:t>
            </a:r>
            <a:endParaRPr lang="en-US" sz="1300" dirty="0"/>
          </a:p>
        </p:txBody>
      </p:sp>
      <p:sp>
        <p:nvSpPr>
          <p:cNvPr id="23" name="Shape 16"/>
          <p:cNvSpPr/>
          <p:nvPr/>
        </p:nvSpPr>
        <p:spPr>
          <a:xfrm>
            <a:off x="6172200" y="4069080"/>
            <a:ext cx="5330952" cy="722376"/>
          </a:xfrm>
          <a:prstGeom prst="roundRect">
            <a:avLst>
              <a:gd name="adj" fmla="val 12658"/>
            </a:avLst>
          </a:prstGeom>
          <a:solidFill>
            <a:srgbClr val="17163A"/>
          </a:solidFill>
          <a:ln w="12700">
            <a:solidFill>
              <a:srgbClr val="98C379"/>
            </a:solidFill>
            <a:prstDash val="solid"/>
          </a:ln>
        </p:spPr>
      </p:sp>
      <p:pic>
        <p:nvPicPr>
          <p:cNvPr id="24" name="Image 5" descr="/home/claude/deck_build/icons/FaCircleCheck_gree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6792" y="4265676"/>
            <a:ext cx="329184" cy="329184"/>
          </a:xfrm>
          <a:prstGeom prst="rect">
            <a:avLst/>
          </a:prstGeom>
        </p:spPr>
      </p:pic>
      <p:sp>
        <p:nvSpPr>
          <p:cNvPr id="25" name="Text 17"/>
          <p:cNvSpPr txBox="1"/>
          <p:nvPr/>
        </p:nvSpPr>
        <p:spPr>
          <a:xfrm>
            <a:off x="6793992" y="4069080"/>
            <a:ext cx="457200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EDEF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Wait ~20s, or move to the pooled backup key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685800" y="4937760"/>
            <a:ext cx="5120640" cy="722376"/>
          </a:xfrm>
          <a:prstGeom prst="roundRect">
            <a:avLst>
              <a:gd name="adj" fmla="val 12658"/>
            </a:avLst>
          </a:prstGeom>
          <a:solidFill>
            <a:srgbClr val="17163A"/>
          </a:solidFill>
          <a:ln w="12700">
            <a:solidFill>
              <a:srgbClr val="E06C75"/>
            </a:solidFill>
            <a:prstDash val="solid"/>
          </a:ln>
        </p:spPr>
      </p:sp>
      <p:pic>
        <p:nvPicPr>
          <p:cNvPr id="27" name="Image 6" descr="/home/claude/deck_build/icons/FaTriangleExclamation_r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" y="5134356"/>
            <a:ext cx="329184" cy="329184"/>
          </a:xfrm>
          <a:prstGeom prst="rect">
            <a:avLst/>
          </a:prstGeom>
        </p:spPr>
      </p:pic>
      <p:sp>
        <p:nvSpPr>
          <p:cNvPr id="28" name="Text 19"/>
          <p:cNvSpPr txBox="1"/>
          <p:nvPr/>
        </p:nvSpPr>
        <p:spPr>
          <a:xfrm>
            <a:off x="1307592" y="4937760"/>
            <a:ext cx="434340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EDEF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Room wants to pip install crewai/langgraph live</a:t>
            </a:r>
            <a:endParaRPr lang="en-US" sz="1300" dirty="0"/>
          </a:p>
        </p:txBody>
      </p:sp>
      <p:sp>
        <p:nvSpPr>
          <p:cNvPr id="29" name="Shape 20"/>
          <p:cNvSpPr/>
          <p:nvPr/>
        </p:nvSpPr>
        <p:spPr>
          <a:xfrm>
            <a:off x="6172200" y="4937760"/>
            <a:ext cx="5330952" cy="722376"/>
          </a:xfrm>
          <a:prstGeom prst="roundRect">
            <a:avLst>
              <a:gd name="adj" fmla="val 12658"/>
            </a:avLst>
          </a:prstGeom>
          <a:solidFill>
            <a:srgbClr val="17163A"/>
          </a:solidFill>
          <a:ln w="12700">
            <a:solidFill>
              <a:srgbClr val="98C379"/>
            </a:solidFill>
            <a:prstDash val="solid"/>
          </a:ln>
        </p:spPr>
      </p:sp>
      <p:pic>
        <p:nvPicPr>
          <p:cNvPr id="30" name="Image 7" descr="/home/claude/deck_build/icons/FaCircleCheck_gree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6792" y="5134356"/>
            <a:ext cx="329184" cy="329184"/>
          </a:xfrm>
          <a:prstGeom prst="rect">
            <a:avLst/>
          </a:prstGeom>
        </p:spPr>
      </p:pic>
      <p:sp>
        <p:nvSpPr>
          <p:cNvPr id="31" name="Text 21"/>
          <p:cNvSpPr txBox="1"/>
          <p:nvPr/>
        </p:nvSpPr>
        <p:spPr>
          <a:xfrm>
            <a:off x="6793992" y="4937760"/>
            <a:ext cx="457200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EDEF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Redirect — light today, no installs, on purpose</a:t>
            </a:r>
            <a:endParaRPr lang="en-US" sz="1300" dirty="0"/>
          </a:p>
        </p:txBody>
      </p:sp>
      <p:pic>
        <p:nvPicPr>
          <p:cNvPr id="32" name="Picture 3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07635" y="-55735"/>
            <a:ext cx="1022606" cy="1022606"/>
          </a:xfrm>
          <a:prstGeom prst="rect">
            <a:avLst/>
          </a:prstGeom>
        </p:spPr>
      </p:pic>
      <p:pic>
        <p:nvPicPr>
          <p:cNvPr id="33" name="Picture 32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1786"/>
            <a:ext cx="1645096" cy="712406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0507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64739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200" dirty="0">
                <a:solidFill>
                  <a:srgbClr val="8C9B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ALCHEMY 4.0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0881360" y="647395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C9B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841248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EDEF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line of code this </a:t>
            </a:r>
            <a:r>
              <a:rPr lang="en-US" sz="3000" b="1" dirty="0" smtClean="0">
                <a:solidFill>
                  <a:srgbClr val="EDEF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morning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417320"/>
            <a:ext cx="10817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own agent by </a:t>
            </a:r>
            <a:r>
              <a:rPr lang="en-US" sz="3000" b="1" dirty="0" smtClean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tonight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1051560" y="3383280"/>
            <a:ext cx="10058400" cy="9144"/>
          </a:xfrm>
          <a:prstGeom prst="line">
            <a:avLst/>
          </a:prstGeom>
          <a:noFill/>
          <a:ln w="25400">
            <a:solidFill>
              <a:srgbClr val="2E335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95528" y="3127248"/>
            <a:ext cx="512064" cy="512064"/>
          </a:xfrm>
          <a:prstGeom prst="ellipse">
            <a:avLst/>
          </a:prstGeom>
          <a:solidFill>
            <a:srgbClr val="17163A"/>
          </a:solidFill>
          <a:ln w="31750">
            <a:solidFill>
              <a:srgbClr val="7DD8E0"/>
            </a:solidFill>
            <a:prstDash val="solid"/>
          </a:ln>
        </p:spPr>
      </p:sp>
      <p:pic>
        <p:nvPicPr>
          <p:cNvPr id="9" name="Image 0" descr="/home/claude/deck_build/icons/FaComment_cy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824" y="3209544"/>
            <a:ext cx="347472" cy="347472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45720" y="24231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EDEF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9:00 AM</a:t>
            </a:r>
            <a:endParaRPr lang="en-US" sz="1350" dirty="0"/>
          </a:p>
        </p:txBody>
      </p:sp>
      <p:sp>
        <p:nvSpPr>
          <p:cNvPr id="11" name="Text 8"/>
          <p:cNvSpPr txBox="1"/>
          <p:nvPr/>
        </p:nvSpPr>
        <p:spPr>
          <a:xfrm>
            <a:off x="45720" y="276148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8C9B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call_llm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3310128" y="3127248"/>
            <a:ext cx="512064" cy="512064"/>
          </a:xfrm>
          <a:prstGeom prst="ellipse">
            <a:avLst/>
          </a:prstGeom>
          <a:solidFill>
            <a:srgbClr val="17163A"/>
          </a:solidFill>
          <a:ln w="31750">
            <a:solidFill>
              <a:srgbClr val="7DD8E0"/>
            </a:solidFill>
            <a:prstDash val="solid"/>
          </a:ln>
        </p:spPr>
      </p:sp>
      <p:pic>
        <p:nvPicPr>
          <p:cNvPr id="13" name="Image 1" descr="/home/claude/deck_build/icons/bullseye_gol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92424" y="3209544"/>
            <a:ext cx="347472" cy="347472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2560320" y="38404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EDEF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1</a:t>
            </a:r>
            <a:endParaRPr lang="en-US" sz="1350" dirty="0"/>
          </a:p>
        </p:txBody>
      </p:sp>
      <p:sp>
        <p:nvSpPr>
          <p:cNvPr id="15" name="Text 11"/>
          <p:cNvSpPr txBox="1"/>
          <p:nvPr/>
        </p:nvSpPr>
        <p:spPr>
          <a:xfrm>
            <a:off x="2560320" y="41605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8C9B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goal</a:t>
            </a:r>
            <a:endParaRPr lang="en-US" sz="1400" dirty="0"/>
          </a:p>
        </p:txBody>
      </p:sp>
      <p:sp>
        <p:nvSpPr>
          <p:cNvPr id="16" name="Shape 12"/>
          <p:cNvSpPr/>
          <p:nvPr/>
        </p:nvSpPr>
        <p:spPr>
          <a:xfrm>
            <a:off x="5824728" y="3127248"/>
            <a:ext cx="512064" cy="512064"/>
          </a:xfrm>
          <a:prstGeom prst="ellipse">
            <a:avLst/>
          </a:prstGeom>
          <a:solidFill>
            <a:srgbClr val="17163A"/>
          </a:solidFill>
          <a:ln w="31750">
            <a:solidFill>
              <a:srgbClr val="7DD8E0"/>
            </a:solidFill>
            <a:prstDash val="solid"/>
          </a:ln>
        </p:spPr>
      </p:sp>
      <p:pic>
        <p:nvPicPr>
          <p:cNvPr id="17" name="Image 2" descr="/home/claude/deck_build/icons/wrench_cya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07024" y="3209544"/>
            <a:ext cx="347472" cy="347472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5074920" y="24231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EDEF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2</a:t>
            </a:r>
            <a:endParaRPr lang="en-US" sz="1350" dirty="0"/>
          </a:p>
        </p:txBody>
      </p:sp>
      <p:sp>
        <p:nvSpPr>
          <p:cNvPr id="19" name="Text 14"/>
          <p:cNvSpPr txBox="1"/>
          <p:nvPr/>
        </p:nvSpPr>
        <p:spPr>
          <a:xfrm>
            <a:off x="5074920" y="276148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8C9B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 + loop</a:t>
            </a:r>
            <a:endParaRPr lang="en-US" sz="1400" dirty="0"/>
          </a:p>
        </p:txBody>
      </p:sp>
      <p:sp>
        <p:nvSpPr>
          <p:cNvPr id="20" name="Shape 15"/>
          <p:cNvSpPr/>
          <p:nvPr/>
        </p:nvSpPr>
        <p:spPr>
          <a:xfrm>
            <a:off x="8339328" y="3127248"/>
            <a:ext cx="512064" cy="512064"/>
          </a:xfrm>
          <a:prstGeom prst="ellipse">
            <a:avLst/>
          </a:prstGeom>
          <a:solidFill>
            <a:srgbClr val="17163A"/>
          </a:solidFill>
          <a:ln w="31750">
            <a:solidFill>
              <a:srgbClr val="7DD8E0"/>
            </a:solidFill>
            <a:prstDash val="solid"/>
          </a:ln>
        </p:spPr>
      </p:sp>
      <p:pic>
        <p:nvPicPr>
          <p:cNvPr id="21" name="Image 3" descr="/home/claude/deck_build/icons/notebook_gol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21624" y="3209544"/>
            <a:ext cx="347472" cy="347472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589520" y="38404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EDEF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3</a:t>
            </a:r>
            <a:endParaRPr lang="en-US" sz="1350" dirty="0"/>
          </a:p>
        </p:txBody>
      </p:sp>
      <p:sp>
        <p:nvSpPr>
          <p:cNvPr id="23" name="Text 17"/>
          <p:cNvSpPr txBox="1"/>
          <p:nvPr/>
        </p:nvSpPr>
        <p:spPr>
          <a:xfrm>
            <a:off x="7589520" y="41605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8C9B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</a:t>
            </a:r>
            <a:endParaRPr lang="en-US" sz="1400" dirty="0"/>
          </a:p>
        </p:txBody>
      </p:sp>
      <p:sp>
        <p:nvSpPr>
          <p:cNvPr id="24" name="Shape 18"/>
          <p:cNvSpPr/>
          <p:nvPr/>
        </p:nvSpPr>
        <p:spPr>
          <a:xfrm>
            <a:off x="10853928" y="3127248"/>
            <a:ext cx="512064" cy="512064"/>
          </a:xfrm>
          <a:prstGeom prst="ellipse">
            <a:avLst/>
          </a:prstGeom>
          <a:solidFill>
            <a:srgbClr val="17163A"/>
          </a:solidFill>
          <a:ln w="31750">
            <a:solidFill>
              <a:srgbClr val="F5C542"/>
            </a:solidFill>
            <a:prstDash val="solid"/>
          </a:ln>
        </p:spPr>
      </p:sp>
      <p:pic>
        <p:nvPicPr>
          <p:cNvPr id="25" name="Image 4" descr="/home/claude/deck_build/icons/FaRocket_gol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936224" y="3209544"/>
            <a:ext cx="347472" cy="347472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10104120" y="24231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Right now</a:t>
            </a:r>
            <a:endParaRPr lang="en-US" sz="1350" dirty="0"/>
          </a:p>
        </p:txBody>
      </p:sp>
      <p:sp>
        <p:nvSpPr>
          <p:cNvPr id="27" name="Text 20"/>
          <p:cNvSpPr txBox="1"/>
          <p:nvPr/>
        </p:nvSpPr>
        <p:spPr>
          <a:xfrm>
            <a:off x="10104120" y="276148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8C9B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own agent</a:t>
            </a:r>
            <a:endParaRPr lang="en-US" sz="1400" dirty="0"/>
          </a:p>
        </p:txBody>
      </p:sp>
      <p:sp>
        <p:nvSpPr>
          <p:cNvPr id="28" name="Shape 21"/>
          <p:cNvSpPr/>
          <p:nvPr/>
        </p:nvSpPr>
        <p:spPr>
          <a:xfrm>
            <a:off x="685800" y="5022233"/>
            <a:ext cx="10817352" cy="685800"/>
          </a:xfrm>
          <a:prstGeom prst="roundRect">
            <a:avLst>
              <a:gd name="adj" fmla="val 13333"/>
            </a:avLst>
          </a:prstGeom>
          <a:solidFill>
            <a:srgbClr val="17163A"/>
          </a:solidFill>
          <a:ln w="12700">
            <a:solidFill>
              <a:srgbClr val="2E3350"/>
            </a:solidFill>
            <a:prstDash val="solid"/>
          </a:ln>
        </p:spPr>
      </p:sp>
      <p:sp>
        <p:nvSpPr>
          <p:cNvPr id="29" name="Text 22"/>
          <p:cNvSpPr txBox="1"/>
          <p:nvPr/>
        </p:nvSpPr>
        <p:spPr>
          <a:xfrm>
            <a:off x="868680" y="5022233"/>
            <a:ext cx="104515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i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shape, same four blocks, same loop</a:t>
            </a:r>
            <a:r>
              <a:rPr lang="en-US" sz="1600" i="1" dirty="0">
                <a:solidFill>
                  <a:srgbClr val="8C9B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that runs inside production systems companies deploy and charge money for.</a:t>
            </a:r>
            <a:endParaRPr lang="en-US" sz="1600" dirty="0"/>
          </a:p>
        </p:txBody>
      </p:sp>
      <p:pic>
        <p:nvPicPr>
          <p:cNvPr id="30" name="Picture 29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07635" y="-64444"/>
            <a:ext cx="1022606" cy="1022606"/>
          </a:xfrm>
          <a:prstGeom prst="rect">
            <a:avLst/>
          </a:prstGeom>
        </p:spPr>
      </p:pic>
      <p:pic>
        <p:nvPicPr>
          <p:cNvPr id="31" name="Picture 30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1786"/>
            <a:ext cx="1645096" cy="712406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0507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64739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200" dirty="0">
                <a:solidFill>
                  <a:srgbClr val="8C9B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ALCHEMY 4.0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0881360" y="647395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C9B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</a:t>
            </a:r>
            <a:endParaRPr lang="en-US" sz="900" dirty="0"/>
          </a:p>
        </p:txBody>
      </p:sp>
      <p:pic>
        <p:nvPicPr>
          <p:cNvPr id="5" name="Image 0" descr="/home/claude/deck_build/icons/FaHandshake_cy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9105" y="1965960"/>
            <a:ext cx="914400" cy="9144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31520" y="3063240"/>
            <a:ext cx="1072591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EDEF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 for building</a:t>
            </a:r>
            <a:endParaRPr lang="en-US" sz="38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me </a:t>
            </a:r>
            <a:r>
              <a:rPr lang="en-US" sz="3800" b="1" dirty="0" smtClean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1645920" y="4434840"/>
            <a:ext cx="8897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8C9B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That's a wrap on Session </a:t>
            </a:r>
            <a:r>
              <a:rPr lang="en-US" sz="1600" dirty="0" smtClean="0">
                <a:solidFill>
                  <a:srgbClr val="8C9B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4!</a:t>
            </a:r>
            <a:endParaRPr lang="en-US" sz="1600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07635" y="-55735"/>
            <a:ext cx="1022606" cy="1022606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1786"/>
            <a:ext cx="1645096" cy="71240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357</TotalTime>
  <Words>3314</Words>
  <Application>Microsoft Office PowerPoint</Application>
  <PresentationFormat>Widescreen</PresentationFormat>
  <Paragraphs>545</Paragraphs>
  <Slides>44</Slides>
  <Notes>36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size="48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Microsoft account</cp:lastModifiedBy>
  <cp:revision>38</cp:revision>
  <dcterms:created xsi:type="dcterms:W3CDTF">2026-09-10T18:08:54Z</dcterms:created>
  <dcterms:modified xsi:type="dcterms:W3CDTF">2026-09-13T05:33:03Z</dcterms:modified>
</cp:coreProperties>
</file>