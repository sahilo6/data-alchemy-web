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1879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cold. Ask the room: 'ChatGPT knows your name three messages in. Where is that name stored?'
Take two or three guesses out loud. Most will say the model remembers, or that it is saved on their server.
Don't correct anyone yet. Say: in the next half hour you'll build the thing that actually does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the vocabulary word out loud. Stateless is the same idea they will meet in web development: the server holds nothing between requests.
Compare to a login. A website knows it is you because of a session cookie. A plain model call has no equivalent.
Stress the second half of the definition, because students over-correct into 'so LLMs cannot have memory'.
Run the window analogy: you pass one sheet of paper through a window, get an answer, walk away. The professor keeps nothing. Pass the whole stack every time and he looks like the sharpest memory on campus, but nothing about him changed.
Ask: so where does the memory actually live in that story? In your hands. In the stack of paper you carry.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cell 1 of the notebook. Run it live before you explain it.
It doesn't remember. It can't. There is no account, no session, no file with your name in it on the model's side.
Key line: call 2 is NOT automatically the same as sending 'My name is Aarav. What is my name?', unless the app makes it so.
Ask: whose fault is this, the model's or the code's? Answer: the code's. We sent a one-item list.
Everything that feels like memory is something the app around the model is doing, and today you are going to be that app.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mental model students arrive with is that the AI has an account for them. Kill it here.
The model is closer to a pure function: context goes in, text comes out, nothing is retained.
Second half: very common belief that 'I told it, so now it knows'. Separate the two ideas cleanly. Training modifies parameters; context is information supplied for one computation.
Nothing you type in a chat modifies the model. If it comes back tomorrow, something else stored it and replayed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list is the single data structure the whole session is about. Slow down.
Roles: user is them, assistant is what the model said last time, and YOU write that second one back in.
Point at the last entry: to answer 'what do I study?' the model needs message three to be in the list.
ON instructions: teach the concept, not one vendor's field name. Anthropic and OpenAI's Responses API take them as a separate parameter; classic Chat Completions puts a system entry at the top of the array. Same idea either way.
Common notebook bug: pasting the system prompt in as a user message.
IF YOU HAVE TIME: why roles at all? Read three lines without labels and ask who said what. Roles make the shape explicit, not just the words.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Show the growing stacks and say it plainly: it doesn't remember, it re-reads.
The app can hold that transcript in the browser, on a server, in a database, or in an API's own conversation state. The storage varies, the requirement doesn't: the relevant history has to reach the model somehow.
Then correct the over-correction. Some students will now conclude LLMs cannot have memory. Wrong. Stateless model plus your state equals an app that remembers. Write that formula on the board and leave it up.
If someone asks about ChatGPT remembering across separate chats: that is an extra feature, facts saved to a store and retrieved. One line, move 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 don't read words, they read tokens. Roughly four characters of English, but model-dependent. Don't teach 'one word equals one token'.
Numbers vary by model. Use 200K as an illustration, not a fact to memorise.
Kill the idea that a 200K window means you can send a 200K-token question. Everything competes for the same budget: instructions, transcript, retrieved facts, retrieved documents, the new message, and the space the answer itself needs.
Two consequences they should feel: it costs more every turn because you pay for the whole list again, and it eventually stops fitting.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do you want to resend five hundred messages, forever, to answer one question? Obviously not.
History answers what was said. Memory answers what should be retained for later use.
This is the bridge into the rest of the session, and into the notebook, where we build the crude version first.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worked example on the right out loud, day by day. It is the clearest illustration of the pipeline you will get.
Wednesday's question needs both earlier facts, and neither of those conversations is in the context any more.
Say the punchline: nothing magical happened. Store, retrieve, inject, generate. Four steps, all of them in your code.
Point at this slide again when you reach planning, because the same four steps carry results between plan steps.
HAND-OFF: the model has context; the app has memory. Next we write the app. Notebook open.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 breath after the live coding. They have just built something that works. Say so, name the win.
Then set up part two honestly: what you wrote is the crudest possible memory. Store everything, send everything.
The rest of this session is about what breaks and what real systems do instead.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Callback to session 2. They already have tools. Now show where those tools live: in the same message list.
Walk the arrow. The user asks for the weather, the model asks for a tool, something runs, a result comes back, then it answers. One question, four entries.
The point that matters: the model needs to see that it requested this tool, and this is what came back.
Say the shuffled version aloud and let the room hear that it is nonsense. An unpaired or out-of-order tool result is one of the most common errors in agent code, and most APIs reject it outright.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back at their notebook. Two appends were enough because a chat only has two kinds of entry.
An agent turn produces far more, and once you add planning, the plan itself plus how far through it you are.
Workflow state and intermediate outputs are the ones students never anticipate.
This is the seam between memory and planning. Flag it: when we plan a task, the plan and its progress are state too.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one sends one message. Turn eight sends fifteen. Turn one hundred sends the entire conversation, again.
Providers bill on tokens processed, so the same early messages get paid for over and over.
Don't teach a strict formula for latency. The engineering intuition is what matters.
Ask the room what this means for a chatbot that stays open all day. Let them arrive at: you can't just keep everything.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strategies, and most real systems use some mix of them.
Sliding window: one line of code, and it works. Then show the cost immediately. Message two was 'My name is Aarav'. Twenty turns later it is gone and the agent asks who you are. Good live moment: set the window to four and let it forget in front of them.
Summarisation: another model call. Summarise this conversation, keep names, preferences and decisions. The failure mode is quiet. 'Lossy compression' is the phrase to leave them with; they know it from JPEGs.
Pinned facts: the fix for what sliding windows break. Ask the room what they would pin for a study tutor, then ask what they would NOT pin. That second question is the real lesson.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Assemble the three previous strategies into one architecture. This is the slide they should photograph.
Read the left panel in order and let the right panel act as the diagram of what you just said.
Not all history is equal. Some deserves to be permanent, some compressed, some preserved exactly. Deciding which is which is the engineering.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human analogy lands well. Working memory is the twenty-five times four you are holding while you multiply. Long-term memory is 'I study computer science', still true in six months.
Everything they built in the notebook is short-term. It dies when the runtime restarts.
Long-term memory is not a model feature. It is a store you write to and read from, which is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by the shape of the information, not by fashion. Structured and known: a database. Big and unstructured: files.
The database is the most under-rated option in the room. A dict written to a JSON file is a database for teaching purposes; not everything needs Postgres.
Land the last line on the right carefully, because it is the setup for RAG. Saving a document does not put it in the model's head.
Ask the room how they would answer a question about page 47 of a report. Someone will say 'search it'. Perfect, next slide.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problem up before naming the technique, or the acronym lands as jargon.
Two separate problems, and students conflate them. One: the documents are far too big to fit. Two: the model was trained on the public internet, not your company handbook, so it has never seen them at all.
The open-book exam analogy is the one they will keep. Nobody reads the textbook cover to cover per question.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demystifies RAG. Describe what the model receives before explaining anything.
The model is not searching. Your code searched, and handed it the result.
Indexing happens once, offline. Search, inject and answer happen per question.
What it buys you: answers grounded in your own text, sources you can cite, and documents you can update tonight without touching the model.
What breaks: if search returns the wrong chunks, the model answers confidently from the wrong paragraphs.
If they ask how the search finds matches, that is a session of its own. Say so and move 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conflate memory and RAG constantly. Give them the two example sentences and the difference is obvious.
Mechanically they are the same pipeline, which is why they get confused.
Then close the block on the right. Everything before this was mechanism; this is the judgement layer.
Read the four as questions, with a pause after each. They are the ones a student should be able to answer about their own project.
Hand-off: next we plan a multi-step task, and the plan itself becomes one more thing memory has to hold.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Everything so far was about a conversation. Now we ask the agent to do a job with several stages.
Say up front where this is going: planning is the easy half. The hard half is carrying results between steps, and that is memory again, wearing a different hat.
Warn them the shape of memory is about to change: it stops looking like a chat transcript and starts looking like a state object.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Decomposition means turning one complex task into smaller explicit subtasks. Nothing more exotic than that.
Read the left panel out loud as one instruction. It sounds fine, which is exactly the trap: it also sounds fine to the model.
Then read the right. Seven things, each nameable. Ask the room which version they would rather debug at 2am.</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failure modes, and students have felt both without having names for them.
Requirement dropping: eight constraints in, six out, nothing announces the loss. Ask if this has happened to them with ChatGPT. Every hand goes up.
Drift is subtler. Each step is a locally sensible continuation of the one before. Analogy: walking while looking one step ahead. Every footstep is fine; you still end up in the wrong street.
Decomposition fixes both, because the objective gets restated at every step instead of being remembered from the top of the prompt.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move: stop hiding requirements inside one giant instruction and represent them in the structure of the work.
Note step six on the right. Checking against the requirements is itself a step, and that is how you catch dropping.
Say the caption slowly. It is the sentence that justifies the entire section.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benefits, and the first is the one working engineers care about most.
Error isolation is the same principle as functions versus one 400-line script. They already believe this about code; they just have not applied it to prompts. It is also a cost saving, not only a debugging one.
Verification: a step you can name is a step you can verify. Fabricated citations are the classic failure of a one-shot research write-up, and in a monolith you would never catch it.
Parallelism caveat: only where there genuinely is no dependency, or you just get a fast wrong answer. This is the honest reason production frameworks bother with plans: wall-clock time.
Land the caption. Decomposition doesn't make the model more capable; it makes the work inspectable.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immediately. Students hear 'planner' and imagine a separate reasoning engine. There isn't one.
Then the honesty moment, which earns credibility with a sharp room. When you ask for a plan, the model produces text shaped like a plan. That is not the same as a verified procedure.
It may include steps that do nothing, skip a step that matters, or assume a dependency that isn't there.
Never treat a generated plan as authority. Treat it as a draft you execute, check and revise.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Neither is correct in general. A fixed pipeline over clean data wants static. An agent touching the outside world wants dynamic.
We build static today because you cannot debug a moving target while learning the basics.
Flag that dynamic costs real money and is much harder to reason about when it fails.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same planner prompt three times and you can genuinely get all three shapes.
Ask the room how they would parse the third one. Someone will suggest splitting on 'then'. Let that land; it is obviously fragile.
This is an engineering problem, not a modelling one.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with them: numbered text is what the notebook uses, and that is a deliberate teaching choice, not best practice.
Everything missing from the numbered-text column is exactly what JSON adds.
Mention the practical craft of getting clean JSON. They will hit it in their projects tonight.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structured plans stop being tidiness and start being capability.
Ask the room what else they would add. Good answers: retries so far, the result, an error message, a timestamp.</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ladder. Each rung buys reliability and costs a little flexibility.
Prefilling deserves a sentence: you start the model's reply for it so it continues in the format you want. It is a prompting trick and it usually works, but it is not validation. Say that plainly.
Schema-constrained output and tool calls are the sturdy options: you declare the shape and the API enforces it.
For their projects: numbered text to learn, JSON to build, schemas when it matters.
The caption generalises well beyond planning. The moment an LLM's output becomes another program's input, prose is a liability.</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executor in full. Eight lines, nothing hidden. Then stop on the argument that passes memory into each step. That is the entire session in one parameter.
Trace the right-hand column out loud, one row at a time. Step two cannot build a schedule without knowing what it is scheduling.
Good live-coding moment: run it with memory, then run it again passing only the step text, and let them watch the schedule get built for topics nobody chose. That contrast is the most convincing demo in the session.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technically-minded students something rigorous to hold onto. This is the slide they will remember.
Say the word 'reducer' if the room is CS. The payoff is precision: a vague story about remembering becomes a testable definition.
Then the state object. Notice there is nothing in it about who said what. It is a process record, not a dialogue.
Ask: if the process died right now and you had this dictionary on disk, could you carry on? That is the completeness test.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Plan-and-execute is what most production workflow systems use. The practical wins of splitting planner from executor: you can inspect, approve, log, diff, retry, and evaluate the two independently. That last one matters in real work, because a bad output is either a bad plan or a bad execution, and this tells you which.
ReAct: callback to session 2. They have already written a ReAct agent without being told.
Strength is adaptivity; it cannot be wrong about a future it never predicted. Weakness is that you cannot see where it is going.</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as a script, giving each role a different tone. It gets a laugh and makes the loop concrete.
The key beat is the second observation. Nothing at the start knew baggage would matter; the world supplied that, and the agent adapted.
Ask the room how a plan-and-execute agent would have handled this. Answer: it would have booked flight A.</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the table row by row; they can read. Pick three rows and talk about them.
Predictability decides most real architectures. If a human has to approve the work before it happens, you need a plan they can read.
Cost is worth flagging: ReAct spends a model call every cycle, and those add up in a long task.
The dichotomy is a teaching device. Production systems are hybrids.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plan meets the world eventually, and the world wins.
Note what replanning needs in order to work at all: an accurate picture of what has happened so far. That is memory again.
Distinguish a transient hiccup from a genuine change. A 500 from an API is a retry. A paywall is a replan.
Repeated failure means your assumptions are wrong, not that you were unlucky.
Design advice: retry twice with backoff, then replan, then ask a human.</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expensive bug in agent engineering is a loop nobody bounded. War stories land well: an agent retrying a failing call all night, a quota drained by 4am.
Five brakes. Ship at least two: the goal condition and the cap. A hard cap of ten iterations is not a hack, it is the seatbelt, because it fires even when your clever conditions don't.
No progress is the subtle one: the agent is busy, the logs are moving, and nothing is happening. If a full cycle leaves the state unchanged, no progress was made. Two lines of code catches a whole family of expensive bugs.
Human-in-the-loop is a legitimate terminal state, and for anything that spends money or sends email it is the right one.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entire session has been walking toward. Slow right down.
The plan is intact on the right, and it produces garbage, because step two has no idea what step one decided.
A plan is a list of intentions. Memory is what makes the results of those intentions available to the steps that need them.</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components, three questions. If they remember one diagram from part three, make it this one.
Replanning is the arrow from memory back to the planner: the plan gets rewritten in light of what the state now says.
Point out that memory is the only one of the three that is not a model call. It is a data structure you maintain.
Land the last line hard. That reframing is what this session exists to deliver.
ALSO WORTH SAYING HERE: workflow memory is not a transcript. Conversation memory answers what was said; workflow memory answers where the process is. Real agents carry both at once.
VOCABULARY TO CHECK: task, plan, step, execution, result, state, replanning, stopping condition.</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photograph slide. Say that out loud and then actually pause for a few seconds so they can.
Don't read all twelve. Read the column headers, then pick one line per column.
The gold bar is the through-line of the whole session. If a student can explain that one sentence, they understood today.
Useful as a revision slide too. Point them at it before any assessment.</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with the opening. They walked in believing the model remembers them; they are walking out having built the thing that actually does it.
Name the win out loud: four blocks lit. Model, tools, memory, planning.
Hand off to session 4: frameworks exist to do all of this for you, and now you know what they are doing when they do it.</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1</a:t>
            </a:r>
            <a:endParaRPr lang="en-US" sz="1400" dirty="0"/>
          </a:p>
        </p:txBody>
      </p:sp>
      <p:sp>
        <p:nvSpPr>
          <p:cNvPr id="7" name="Text 2"/>
          <p:cNvSpPr txBox="1"/>
          <p:nvPr/>
        </p:nvSpPr>
        <p:spPr>
          <a:xfrm>
            <a:off x="1444752" y="1609344"/>
            <a:ext cx="7315200" cy="310896"/>
          </a:xfrm>
          <a:prstGeom prst="rect">
            <a:avLst/>
          </a:prstGeom>
          <a:noFill/>
          <a:ln/>
        </p:spPr>
        <p:txBody>
          <a:bodyPr wrap="square" lIns="0" tIns="0" rIns="0" bIns="0" rtlCol="0" anchor="ctr"/>
          <a:lstStyle/>
          <a:p>
            <a:pPr marL="0" indent="0">
              <a:buNone/>
            </a:pPr>
            <a:r>
              <a:rPr lang="en-US" sz="1800" b="1" kern="0" spc="300" dirty="0">
                <a:solidFill>
                  <a:srgbClr val="817AFF"/>
                </a:solidFill>
                <a:latin typeface="Inter" pitchFamily="34" charset="0"/>
                <a:ea typeface="Inter" pitchFamily="34" charset="-122"/>
                <a:cs typeface="Inter" pitchFamily="34" charset="-120"/>
              </a:rPr>
              <a:t>SESSION 3  ·  MEMORY &amp; PLANNING</a:t>
            </a:r>
            <a:endParaRPr lang="en-US" sz="1800" dirty="0"/>
          </a:p>
        </p:txBody>
      </p:sp>
      <p:sp>
        <p:nvSpPr>
          <p:cNvPr id="8" name="Text 3"/>
          <p:cNvSpPr txBox="1"/>
          <p:nvPr/>
        </p:nvSpPr>
        <p:spPr>
          <a:xfrm>
            <a:off x="868680" y="2212848"/>
            <a:ext cx="10424160" cy="2103120"/>
          </a:xfrm>
          <a:prstGeom prst="rect">
            <a:avLst/>
          </a:prstGeom>
          <a:noFill/>
          <a:ln/>
        </p:spPr>
        <p:txBody>
          <a:bodyPr wrap="square" lIns="0" tIns="0" rIns="0" bIns="0" rtlCol="0" anchor="t"/>
          <a:lstStyle/>
          <a:p>
            <a:pPr marL="0" indent="0">
              <a:lnSpc>
                <a:spcPct val="106000"/>
              </a:lnSpc>
              <a:buNone/>
            </a:pPr>
            <a:r>
              <a:rPr lang="en-US" sz="6900" b="1" dirty="0">
                <a:solidFill>
                  <a:srgbClr val="EAF0FF"/>
                </a:solidFill>
                <a:latin typeface="Poppins" pitchFamily="34" charset="0"/>
                <a:ea typeface="Poppins" pitchFamily="34" charset="-122"/>
                <a:cs typeface="Poppins" pitchFamily="34" charset="-120"/>
              </a:rPr>
              <a:t>How does AI</a:t>
            </a:r>
            <a:endParaRPr lang="en-US" sz="6900" dirty="0"/>
          </a:p>
          <a:p>
            <a:pPr marL="0" indent="0">
              <a:lnSpc>
                <a:spcPct val="106000"/>
              </a:lnSpc>
              <a:buNone/>
            </a:pPr>
            <a:r>
              <a:rPr lang="en-US" sz="6900" b="1" dirty="0">
                <a:solidFill>
                  <a:srgbClr val="3FD0E6"/>
                </a:solidFill>
                <a:latin typeface="Poppins" pitchFamily="34" charset="0"/>
                <a:ea typeface="Poppins" pitchFamily="34" charset="-122"/>
                <a:cs typeface="Poppins" pitchFamily="34" charset="-120"/>
              </a:rPr>
              <a:t>remember </a:t>
            </a:r>
            <a:r>
              <a:rPr lang="en-US" sz="6900" b="1" dirty="0">
                <a:solidFill>
                  <a:srgbClr val="EAF0FF"/>
                </a:solidFill>
                <a:latin typeface="Poppins" pitchFamily="34" charset="0"/>
                <a:ea typeface="Poppins" pitchFamily="34" charset="-122"/>
                <a:cs typeface="Poppins" pitchFamily="34" charset="-120"/>
              </a:rPr>
              <a:t>my name?</a:t>
            </a:r>
            <a:endParaRPr lang="en-US" sz="6900" dirty="0"/>
          </a:p>
        </p:txBody>
      </p:sp>
      <p:sp>
        <p:nvSpPr>
          <p:cNvPr id="9" name="Text 4"/>
          <p:cNvSpPr txBox="1"/>
          <p:nvPr/>
        </p:nvSpPr>
        <p:spPr>
          <a:xfrm>
            <a:off x="914400" y="4709160"/>
            <a:ext cx="8229600" cy="457200"/>
          </a:xfrm>
          <a:prstGeom prst="rect">
            <a:avLst/>
          </a:prstGeom>
          <a:noFill/>
          <a:ln/>
        </p:spPr>
        <p:txBody>
          <a:bodyPr wrap="square" lIns="0" tIns="0" rIns="0" bIns="0" rtlCol="0" anchor="ctr"/>
          <a:lstStyle/>
          <a:p>
            <a:pPr marL="0" indent="0">
              <a:buNone/>
            </a:pPr>
            <a:r>
              <a:rPr lang="en-US" sz="2500" dirty="0">
                <a:solidFill>
                  <a:srgbClr val="9FB0D6"/>
                </a:solidFill>
                <a:latin typeface="Inter" pitchFamily="34" charset="0"/>
                <a:ea typeface="Inter" pitchFamily="34" charset="-122"/>
                <a:cs typeface="Inter" pitchFamily="34" charset="-120"/>
              </a:rPr>
              <a:t>Spoiler: the model has nothing to do with it.</a:t>
            </a:r>
            <a:endParaRPr lang="en-US" sz="2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3</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4300" b="1" dirty="0">
                <a:solidFill>
                  <a:srgbClr val="EAF0FF"/>
                </a:solidFill>
                <a:latin typeface="Poppins" pitchFamily="34" charset="0"/>
                <a:ea typeface="Poppins" pitchFamily="34" charset="-122"/>
                <a:cs typeface="Poppins" pitchFamily="34" charset="-120"/>
              </a:rPr>
              <a:t>Statelessness</a:t>
            </a:r>
            <a:endParaRPr lang="en-US" sz="4300" dirty="0"/>
          </a:p>
        </p:txBody>
      </p:sp>
      <p:sp>
        <p:nvSpPr>
          <p:cNvPr id="7" name="Shape 3"/>
          <p:cNvSpPr/>
          <p:nvPr/>
        </p:nvSpPr>
        <p:spPr>
          <a:xfrm>
            <a:off x="868680" y="1600200"/>
            <a:ext cx="3200400" cy="1874520"/>
          </a:xfrm>
          <a:prstGeom prst="roundRect">
            <a:avLst>
              <a:gd name="adj" fmla="val 4878"/>
            </a:avLst>
          </a:prstGeom>
          <a:solidFill>
            <a:srgbClr val="0A1024"/>
          </a:solidFill>
          <a:ln w="12700">
            <a:solidFill>
              <a:srgbClr val="1E2A55"/>
            </a:solidFill>
            <a:prstDash val="solid"/>
          </a:ln>
        </p:spPr>
      </p:sp>
      <p:sp>
        <p:nvSpPr>
          <p:cNvPr id="8" name="Text 4"/>
          <p:cNvSpPr txBox="1"/>
          <p:nvPr/>
        </p:nvSpPr>
        <p:spPr>
          <a:xfrm>
            <a:off x="1143000" y="1783080"/>
            <a:ext cx="2651760" cy="292608"/>
          </a:xfrm>
          <a:prstGeom prst="rect">
            <a:avLst/>
          </a:prstGeom>
          <a:noFill/>
          <a:ln/>
        </p:spPr>
        <p:txBody>
          <a:bodyPr wrap="square" lIns="0" tIns="0" rIns="0" bIns="0" rtlCol="0" anchor="ctr"/>
          <a:lstStyle/>
          <a:p>
            <a:pPr marL="0" indent="0">
              <a:buNone/>
            </a:pPr>
            <a:r>
              <a:rPr lang="en-US" sz="1500" b="1" kern="0" spc="200" dirty="0">
                <a:solidFill>
                  <a:srgbClr val="817AFF"/>
                </a:solidFill>
                <a:latin typeface="Inter" pitchFamily="34" charset="0"/>
                <a:ea typeface="Inter" pitchFamily="34" charset="-122"/>
                <a:cs typeface="Inter" pitchFamily="34" charset="-120"/>
              </a:rPr>
              <a:t>REQUEST 1</a:t>
            </a:r>
            <a:endParaRPr lang="en-US" sz="1500" dirty="0"/>
          </a:p>
        </p:txBody>
      </p:sp>
      <p:sp>
        <p:nvSpPr>
          <p:cNvPr id="9" name="Text 5"/>
          <p:cNvSpPr txBox="1"/>
          <p:nvPr/>
        </p:nvSpPr>
        <p:spPr>
          <a:xfrm>
            <a:off x="1143000" y="2121408"/>
            <a:ext cx="2651760" cy="411480"/>
          </a:xfrm>
          <a:prstGeom prst="rect">
            <a:avLst/>
          </a:prstGeom>
          <a:noFill/>
          <a:ln/>
        </p:spPr>
        <p:txBody>
          <a:bodyPr wrap="square" lIns="0" tIns="0" rIns="0" bIns="0" rtlCol="0" anchor="ctr"/>
          <a:lstStyle/>
          <a:p>
            <a:pPr marL="0" indent="0">
              <a:buNone/>
            </a:pPr>
            <a:r>
              <a:rPr lang="en-US" sz="1900" dirty="0">
                <a:solidFill>
                  <a:srgbClr val="EAF0FF"/>
                </a:solidFill>
                <a:latin typeface="Inter" pitchFamily="34" charset="0"/>
                <a:ea typeface="Inter" pitchFamily="34" charset="-122"/>
                <a:cs typeface="Inter" pitchFamily="34" charset="-120"/>
              </a:rPr>
              <a:t>“I'm Aarav.”</a:t>
            </a:r>
            <a:endParaRPr lang="en-US" sz="1900" dirty="0"/>
          </a:p>
        </p:txBody>
      </p:sp>
      <p:sp>
        <p:nvSpPr>
          <p:cNvPr id="10" name="Shape 6"/>
          <p:cNvSpPr/>
          <p:nvPr/>
        </p:nvSpPr>
        <p:spPr>
          <a:xfrm>
            <a:off x="1143000" y="2651760"/>
            <a:ext cx="2651760" cy="658368"/>
          </a:xfrm>
          <a:prstGeom prst="roundRect">
            <a:avLst>
              <a:gd name="adj" fmla="val 11111"/>
            </a:avLst>
          </a:prstGeom>
          <a:solidFill>
            <a:srgbClr val="111A3C"/>
          </a:solidFill>
          <a:ln w="12700">
            <a:solidFill>
              <a:srgbClr val="1E2A55"/>
            </a:solidFill>
            <a:prstDash val="solid"/>
          </a:ln>
        </p:spPr>
      </p:sp>
      <p:sp>
        <p:nvSpPr>
          <p:cNvPr id="11" name="Text 7"/>
          <p:cNvSpPr txBox="1"/>
          <p:nvPr/>
        </p:nvSpPr>
        <p:spPr>
          <a:xfrm>
            <a:off x="1143000" y="2651760"/>
            <a:ext cx="2651760" cy="658368"/>
          </a:xfrm>
          <a:prstGeom prst="rect">
            <a:avLst/>
          </a:prstGeom>
          <a:noFill/>
          <a:ln/>
        </p:spPr>
        <p:txBody>
          <a:bodyPr wrap="square" lIns="0" tIns="0" rIns="0" bIns="0" rtlCol="0" anchor="ctr"/>
          <a:lstStyle/>
          <a:p>
            <a:pPr marL="0" indent="0" algn="ctr">
              <a:buNone/>
            </a:pPr>
            <a:r>
              <a:rPr lang="en-US" sz="1800" dirty="0">
                <a:solidFill>
                  <a:srgbClr val="9FB0D6"/>
                </a:solidFill>
                <a:latin typeface="Inter" pitchFamily="34" charset="0"/>
                <a:ea typeface="Inter" pitchFamily="34" charset="-122"/>
                <a:cs typeface="Inter" pitchFamily="34" charset="-120"/>
              </a:rPr>
              <a:t>model</a:t>
            </a:r>
            <a:endParaRPr lang="en-US" sz="1800" dirty="0"/>
          </a:p>
        </p:txBody>
      </p:sp>
      <p:sp>
        <p:nvSpPr>
          <p:cNvPr id="12" name="Shape 8"/>
          <p:cNvSpPr/>
          <p:nvPr/>
        </p:nvSpPr>
        <p:spPr>
          <a:xfrm>
            <a:off x="4434840" y="1600200"/>
            <a:ext cx="3200400" cy="1874520"/>
          </a:xfrm>
          <a:prstGeom prst="roundRect">
            <a:avLst>
              <a:gd name="adj" fmla="val 4878"/>
            </a:avLst>
          </a:prstGeom>
          <a:solidFill>
            <a:srgbClr val="0A1024"/>
          </a:solidFill>
          <a:ln w="12700">
            <a:solidFill>
              <a:srgbClr val="1E2A55"/>
            </a:solidFill>
            <a:prstDash val="solid"/>
          </a:ln>
        </p:spPr>
      </p:sp>
      <p:sp>
        <p:nvSpPr>
          <p:cNvPr id="13" name="Text 9"/>
          <p:cNvSpPr txBox="1"/>
          <p:nvPr/>
        </p:nvSpPr>
        <p:spPr>
          <a:xfrm>
            <a:off x="4709160" y="1783080"/>
            <a:ext cx="2651760" cy="292608"/>
          </a:xfrm>
          <a:prstGeom prst="rect">
            <a:avLst/>
          </a:prstGeom>
          <a:noFill/>
          <a:ln/>
        </p:spPr>
        <p:txBody>
          <a:bodyPr wrap="square" lIns="0" tIns="0" rIns="0" bIns="0" rtlCol="0" anchor="ctr"/>
          <a:lstStyle/>
          <a:p>
            <a:pPr marL="0" indent="0">
              <a:buNone/>
            </a:pPr>
            <a:r>
              <a:rPr lang="en-US" sz="1500" b="1" kern="0" spc="200" dirty="0">
                <a:solidFill>
                  <a:srgbClr val="817AFF"/>
                </a:solidFill>
                <a:latin typeface="Inter" pitchFamily="34" charset="0"/>
                <a:ea typeface="Inter" pitchFamily="34" charset="-122"/>
                <a:cs typeface="Inter" pitchFamily="34" charset="-120"/>
              </a:rPr>
              <a:t>REQUEST 2</a:t>
            </a:r>
            <a:endParaRPr lang="en-US" sz="1500" dirty="0"/>
          </a:p>
        </p:txBody>
      </p:sp>
      <p:sp>
        <p:nvSpPr>
          <p:cNvPr id="14" name="Text 10"/>
          <p:cNvSpPr txBox="1"/>
          <p:nvPr/>
        </p:nvSpPr>
        <p:spPr>
          <a:xfrm>
            <a:off x="4709160" y="2121408"/>
            <a:ext cx="2651760" cy="411480"/>
          </a:xfrm>
          <a:prstGeom prst="rect">
            <a:avLst/>
          </a:prstGeom>
          <a:noFill/>
          <a:ln/>
        </p:spPr>
        <p:txBody>
          <a:bodyPr wrap="square" lIns="0" tIns="0" rIns="0" bIns="0" rtlCol="0" anchor="ctr"/>
          <a:lstStyle/>
          <a:p>
            <a:pPr marL="0" indent="0">
              <a:buNone/>
            </a:pPr>
            <a:r>
              <a:rPr lang="en-US" sz="1900" dirty="0">
                <a:solidFill>
                  <a:srgbClr val="EAF0FF"/>
                </a:solidFill>
                <a:latin typeface="Inter" pitchFamily="34" charset="0"/>
                <a:ea typeface="Inter" pitchFamily="34" charset="-122"/>
                <a:cs typeface="Inter" pitchFamily="34" charset="-120"/>
              </a:rPr>
              <a:t>“What's my name?”</a:t>
            </a:r>
            <a:endParaRPr lang="en-US" sz="1900" dirty="0"/>
          </a:p>
        </p:txBody>
      </p:sp>
      <p:sp>
        <p:nvSpPr>
          <p:cNvPr id="15" name="Shape 11"/>
          <p:cNvSpPr/>
          <p:nvPr/>
        </p:nvSpPr>
        <p:spPr>
          <a:xfrm>
            <a:off x="4709160" y="2651760"/>
            <a:ext cx="2651760" cy="658368"/>
          </a:xfrm>
          <a:prstGeom prst="roundRect">
            <a:avLst>
              <a:gd name="adj" fmla="val 11111"/>
            </a:avLst>
          </a:prstGeom>
          <a:solidFill>
            <a:srgbClr val="111A3C"/>
          </a:solidFill>
          <a:ln w="12700">
            <a:solidFill>
              <a:srgbClr val="1E2A55"/>
            </a:solidFill>
            <a:prstDash val="solid"/>
          </a:ln>
        </p:spPr>
      </p:sp>
      <p:sp>
        <p:nvSpPr>
          <p:cNvPr id="16" name="Text 12"/>
          <p:cNvSpPr txBox="1"/>
          <p:nvPr/>
        </p:nvSpPr>
        <p:spPr>
          <a:xfrm>
            <a:off x="4709160" y="2651760"/>
            <a:ext cx="2651760" cy="658368"/>
          </a:xfrm>
          <a:prstGeom prst="rect">
            <a:avLst/>
          </a:prstGeom>
          <a:noFill/>
          <a:ln/>
        </p:spPr>
        <p:txBody>
          <a:bodyPr wrap="square" lIns="0" tIns="0" rIns="0" bIns="0" rtlCol="0" anchor="ctr"/>
          <a:lstStyle/>
          <a:p>
            <a:pPr marL="0" indent="0" algn="ctr">
              <a:buNone/>
            </a:pPr>
            <a:r>
              <a:rPr lang="en-US" sz="1800" dirty="0">
                <a:solidFill>
                  <a:srgbClr val="9FB0D6"/>
                </a:solidFill>
                <a:latin typeface="Inter" pitchFamily="34" charset="0"/>
                <a:ea typeface="Inter" pitchFamily="34" charset="-122"/>
                <a:cs typeface="Inter" pitchFamily="34" charset="-120"/>
              </a:rPr>
              <a:t>model</a:t>
            </a:r>
            <a:endParaRPr lang="en-US" sz="1800" dirty="0"/>
          </a:p>
        </p:txBody>
      </p:sp>
      <p:sp>
        <p:nvSpPr>
          <p:cNvPr id="17" name="Shape 13"/>
          <p:cNvSpPr/>
          <p:nvPr/>
        </p:nvSpPr>
        <p:spPr>
          <a:xfrm>
            <a:off x="8001000" y="1600200"/>
            <a:ext cx="3200400" cy="1874520"/>
          </a:xfrm>
          <a:prstGeom prst="roundRect">
            <a:avLst>
              <a:gd name="adj" fmla="val 4878"/>
            </a:avLst>
          </a:prstGeom>
          <a:solidFill>
            <a:srgbClr val="0A1024"/>
          </a:solidFill>
          <a:ln w="12700">
            <a:solidFill>
              <a:srgbClr val="1E2A55"/>
            </a:solidFill>
            <a:prstDash val="solid"/>
          </a:ln>
        </p:spPr>
      </p:sp>
      <p:sp>
        <p:nvSpPr>
          <p:cNvPr id="18" name="Text 14"/>
          <p:cNvSpPr txBox="1"/>
          <p:nvPr/>
        </p:nvSpPr>
        <p:spPr>
          <a:xfrm>
            <a:off x="8275320" y="1783080"/>
            <a:ext cx="2651760" cy="292608"/>
          </a:xfrm>
          <a:prstGeom prst="rect">
            <a:avLst/>
          </a:prstGeom>
          <a:noFill/>
          <a:ln/>
        </p:spPr>
        <p:txBody>
          <a:bodyPr wrap="square" lIns="0" tIns="0" rIns="0" bIns="0" rtlCol="0" anchor="ctr"/>
          <a:lstStyle/>
          <a:p>
            <a:pPr marL="0" indent="0">
              <a:buNone/>
            </a:pPr>
            <a:r>
              <a:rPr lang="en-US" sz="1500" b="1" kern="0" spc="200" dirty="0">
                <a:solidFill>
                  <a:srgbClr val="817AFF"/>
                </a:solidFill>
                <a:latin typeface="Inter" pitchFamily="34" charset="0"/>
                <a:ea typeface="Inter" pitchFamily="34" charset="-122"/>
                <a:cs typeface="Inter" pitchFamily="34" charset="-120"/>
              </a:rPr>
              <a:t>REQUEST 3</a:t>
            </a:r>
            <a:endParaRPr lang="en-US" sz="1500" dirty="0"/>
          </a:p>
        </p:txBody>
      </p:sp>
      <p:sp>
        <p:nvSpPr>
          <p:cNvPr id="19" name="Text 15"/>
          <p:cNvSpPr txBox="1"/>
          <p:nvPr/>
        </p:nvSpPr>
        <p:spPr>
          <a:xfrm>
            <a:off x="8275320" y="2121408"/>
            <a:ext cx="2651760" cy="411480"/>
          </a:xfrm>
          <a:prstGeom prst="rect">
            <a:avLst/>
          </a:prstGeom>
          <a:noFill/>
          <a:ln/>
        </p:spPr>
        <p:txBody>
          <a:bodyPr wrap="square" lIns="0" tIns="0" rIns="0" bIns="0" rtlCol="0" anchor="ctr"/>
          <a:lstStyle/>
          <a:p>
            <a:pPr marL="0" indent="0">
              <a:buNone/>
            </a:pPr>
            <a:r>
              <a:rPr lang="en-US" sz="1900" dirty="0">
                <a:solidFill>
                  <a:srgbClr val="EAF0FF"/>
                </a:solidFill>
                <a:latin typeface="Inter" pitchFamily="34" charset="0"/>
                <a:ea typeface="Inter" pitchFamily="34" charset="-122"/>
                <a:cs typeface="Inter" pitchFamily="34" charset="-120"/>
              </a:rPr>
              <a:t>“Still nothing?”</a:t>
            </a:r>
            <a:endParaRPr lang="en-US" sz="1900" dirty="0"/>
          </a:p>
        </p:txBody>
      </p:sp>
      <p:sp>
        <p:nvSpPr>
          <p:cNvPr id="20" name="Shape 16"/>
          <p:cNvSpPr/>
          <p:nvPr/>
        </p:nvSpPr>
        <p:spPr>
          <a:xfrm>
            <a:off x="8275320" y="2651760"/>
            <a:ext cx="2651760" cy="658368"/>
          </a:xfrm>
          <a:prstGeom prst="roundRect">
            <a:avLst>
              <a:gd name="adj" fmla="val 11111"/>
            </a:avLst>
          </a:prstGeom>
          <a:solidFill>
            <a:srgbClr val="111A3C"/>
          </a:solidFill>
          <a:ln w="12700">
            <a:solidFill>
              <a:srgbClr val="1E2A55"/>
            </a:solidFill>
            <a:prstDash val="solid"/>
          </a:ln>
        </p:spPr>
      </p:sp>
      <p:sp>
        <p:nvSpPr>
          <p:cNvPr id="21" name="Text 17"/>
          <p:cNvSpPr txBox="1"/>
          <p:nvPr/>
        </p:nvSpPr>
        <p:spPr>
          <a:xfrm>
            <a:off x="8275320" y="2651760"/>
            <a:ext cx="2651760" cy="658368"/>
          </a:xfrm>
          <a:prstGeom prst="rect">
            <a:avLst/>
          </a:prstGeom>
          <a:noFill/>
          <a:ln/>
        </p:spPr>
        <p:txBody>
          <a:bodyPr wrap="square" lIns="0" tIns="0" rIns="0" bIns="0" rtlCol="0" anchor="ctr"/>
          <a:lstStyle/>
          <a:p>
            <a:pPr marL="0" indent="0" algn="ctr">
              <a:buNone/>
            </a:pPr>
            <a:r>
              <a:rPr lang="en-US" sz="1800" dirty="0">
                <a:solidFill>
                  <a:srgbClr val="9FB0D6"/>
                </a:solidFill>
                <a:latin typeface="Inter" pitchFamily="34" charset="0"/>
                <a:ea typeface="Inter" pitchFamily="34" charset="-122"/>
                <a:cs typeface="Inter" pitchFamily="34" charset="-120"/>
              </a:rPr>
              <a:t>model</a:t>
            </a:r>
            <a:endParaRPr lang="en-US" sz="1800" dirty="0"/>
          </a:p>
        </p:txBody>
      </p:sp>
      <p:sp>
        <p:nvSpPr>
          <p:cNvPr id="22" name="Shape 18"/>
          <p:cNvSpPr/>
          <p:nvPr/>
        </p:nvSpPr>
        <p:spPr>
          <a:xfrm>
            <a:off x="868680" y="3611880"/>
            <a:ext cx="10424160" cy="1810512"/>
          </a:xfrm>
          <a:prstGeom prst="roundRect">
            <a:avLst>
              <a:gd name="adj" fmla="val 5051"/>
            </a:avLst>
          </a:prstGeom>
          <a:solidFill>
            <a:srgbClr val="0A1024"/>
          </a:solidFill>
          <a:ln w="12700">
            <a:solidFill>
              <a:srgbClr val="1E2A55"/>
            </a:solidFill>
            <a:prstDash val="solid"/>
          </a:ln>
        </p:spPr>
      </p:sp>
      <p:sp>
        <p:nvSpPr>
          <p:cNvPr id="23" name="Text 19"/>
          <p:cNvSpPr txBox="1"/>
          <p:nvPr/>
        </p:nvSpPr>
        <p:spPr>
          <a:xfrm>
            <a:off x="1179576" y="3831336"/>
            <a:ext cx="9875520" cy="274320"/>
          </a:xfrm>
          <a:prstGeom prst="rect">
            <a:avLst/>
          </a:prstGeom>
          <a:noFill/>
          <a:ln/>
        </p:spPr>
        <p:txBody>
          <a:bodyPr wrap="square" lIns="0" tIns="0" rIns="0" bIns="0" rtlCol="0" anchor="ctr"/>
          <a:lstStyle/>
          <a:p>
            <a:pPr marL="0" indent="0">
              <a:buNone/>
            </a:pPr>
            <a:r>
              <a:rPr lang="en-US" sz="1550" b="1" kern="0" spc="200" dirty="0">
                <a:solidFill>
                  <a:srgbClr val="3FD0E6"/>
                </a:solidFill>
                <a:latin typeface="Inter" pitchFamily="34" charset="0"/>
                <a:ea typeface="Inter" pitchFamily="34" charset="-122"/>
                <a:cs typeface="Inter" pitchFamily="34" charset="-120"/>
              </a:rPr>
              <a:t>THE WORD, AND WHAT IT MEANS</a:t>
            </a:r>
            <a:endParaRPr lang="en-US" sz="1550" dirty="0"/>
          </a:p>
        </p:txBody>
      </p:sp>
      <p:sp>
        <p:nvSpPr>
          <p:cNvPr id="24" name="Text 20"/>
          <p:cNvSpPr txBox="1"/>
          <p:nvPr/>
        </p:nvSpPr>
        <p:spPr>
          <a:xfrm>
            <a:off x="1179576" y="4270248"/>
            <a:ext cx="9802368" cy="877824"/>
          </a:xfrm>
          <a:prstGeom prst="rect">
            <a:avLst/>
          </a:prstGeom>
          <a:noFill/>
          <a:ln/>
        </p:spPr>
        <p:txBody>
          <a:bodyPr wrap="square" lIns="0" tIns="0" rIns="0" bIns="0" rtlCol="0" anchor="t"/>
          <a:lstStyle/>
          <a:p>
            <a:pPr marL="0" indent="0">
              <a:lnSpc>
                <a:spcPct val="118000"/>
              </a:lnSpc>
              <a:spcAft>
                <a:spcPts val="680"/>
              </a:spcAft>
              <a:buNone/>
            </a:pPr>
            <a:r>
              <a:rPr lang="en-US" sz="1360" dirty="0">
                <a:solidFill>
                  <a:srgbClr val="EAF0FF"/>
                </a:solidFill>
                <a:latin typeface="Inter" pitchFamily="34" charset="0"/>
                <a:ea typeface="Inter" pitchFamily="34" charset="-122"/>
                <a:cs typeface="Inter" pitchFamily="34" charset="-120"/>
              </a:rPr>
              <a:t>Stateless: each request is handled on its own, unless you hand over what came before. Three boxes, no arrows between them, no shared state. Ever.</a:t>
            </a:r>
            <a:endParaRPr lang="en-US" sz="1360" dirty="0"/>
          </a:p>
          <a:p>
            <a:pPr marL="0" indent="0">
              <a:lnSpc>
                <a:spcPct val="118000"/>
              </a:lnSpc>
              <a:spcAft>
                <a:spcPts val="680"/>
              </a:spcAft>
              <a:buNone/>
            </a:pPr>
            <a:r>
              <a:rPr lang="en-US" sz="1292" dirty="0">
                <a:solidFill>
                  <a:srgbClr val="9FB0D6"/>
                </a:solidFill>
                <a:latin typeface="Inter" pitchFamily="34" charset="0"/>
                <a:ea typeface="Inter" pitchFamily="34" charset="-122"/>
                <a:cs typeface="Inter" pitchFamily="34" charset="-120"/>
              </a:rPr>
              <a:t>It does not mean the model cannot use earlier information. It means the earlier information has to be supplied by you, on every single call.</a:t>
            </a:r>
            <a:endParaRPr lang="en-US" sz="13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2</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4300" b="1" dirty="0">
                <a:solidFill>
                  <a:srgbClr val="EAF0FF"/>
                </a:solidFill>
                <a:latin typeface="Poppins" pitchFamily="34" charset="0"/>
                <a:ea typeface="Poppins" pitchFamily="34" charset="-122"/>
                <a:cs typeface="Poppins" pitchFamily="34" charset="-120"/>
              </a:rPr>
              <a:t>Two calls, no connection</a:t>
            </a:r>
            <a:endParaRPr lang="en-US" sz="4300" dirty="0"/>
          </a:p>
        </p:txBody>
      </p:sp>
      <p:sp>
        <p:nvSpPr>
          <p:cNvPr id="7" name="Shape 3"/>
          <p:cNvSpPr/>
          <p:nvPr/>
        </p:nvSpPr>
        <p:spPr>
          <a:xfrm>
            <a:off x="868680" y="1600200"/>
            <a:ext cx="4937760" cy="3794760"/>
          </a:xfrm>
          <a:prstGeom prst="roundRect">
            <a:avLst>
              <a:gd name="adj" fmla="val 2410"/>
            </a:avLst>
          </a:prstGeom>
          <a:solidFill>
            <a:srgbClr val="0A1024"/>
          </a:solidFill>
          <a:ln w="12700">
            <a:solidFill>
              <a:srgbClr val="1E2A55"/>
            </a:solidFill>
            <a:prstDash val="solid"/>
          </a:ln>
        </p:spPr>
      </p:sp>
      <p:sp>
        <p:nvSpPr>
          <p:cNvPr id="8" name="Text 4"/>
          <p:cNvSpPr txBox="1"/>
          <p:nvPr/>
        </p:nvSpPr>
        <p:spPr>
          <a:xfrm>
            <a:off x="11795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3FD0E6"/>
                </a:solidFill>
                <a:latin typeface="Inter" pitchFamily="34" charset="0"/>
                <a:ea typeface="Inter" pitchFamily="34" charset="-122"/>
                <a:cs typeface="Inter" pitchFamily="34" charset="-120"/>
              </a:rPr>
              <a:t>WHAT WE RUN</a:t>
            </a:r>
            <a:endParaRPr lang="en-US" sz="1550" dirty="0"/>
          </a:p>
        </p:txBody>
      </p:sp>
      <p:sp>
        <p:nvSpPr>
          <p:cNvPr id="9" name="Text 5"/>
          <p:cNvSpPr txBox="1"/>
          <p:nvPr/>
        </p:nvSpPr>
        <p:spPr>
          <a:xfrm>
            <a:off x="1179576" y="2258568"/>
            <a:ext cx="4315968" cy="2862072"/>
          </a:xfrm>
          <a:prstGeom prst="rect">
            <a:avLst/>
          </a:prstGeom>
          <a:noFill/>
          <a:ln/>
        </p:spPr>
        <p:txBody>
          <a:bodyPr wrap="square" lIns="0" tIns="0" rIns="0" bIns="0" rtlCol="0" anchor="t"/>
          <a:lstStyle/>
          <a:p>
            <a:pPr marL="0" indent="0">
              <a:lnSpc>
                <a:spcPct val="118000"/>
              </a:lnSpc>
              <a:spcAft>
                <a:spcPts val="1064"/>
              </a:spcAft>
              <a:buNone/>
            </a:pPr>
            <a:r>
              <a:rPr lang="en-US" dirty="0">
                <a:solidFill>
                  <a:srgbClr val="EAF0FF"/>
                </a:solidFill>
                <a:latin typeface="Inter" pitchFamily="34" charset="0"/>
                <a:ea typeface="Inter" pitchFamily="34" charset="-122"/>
                <a:cs typeface="Inter" pitchFamily="34" charset="-120"/>
              </a:rPr>
              <a:t>First call. We send one message: “I'm Aarav.” The model replies warmly, “Nice to meet you, Aarav!”</a:t>
            </a:r>
            <a:endParaRPr lang="en-US" dirty="0"/>
          </a:p>
          <a:p>
            <a:pPr marL="0" indent="0">
              <a:lnSpc>
                <a:spcPct val="118000"/>
              </a:lnSpc>
              <a:spcAft>
                <a:spcPts val="1064"/>
              </a:spcAft>
              <a:buNone/>
            </a:pPr>
            <a:r>
              <a:rPr lang="en-US" dirty="0">
                <a:solidFill>
                  <a:srgbClr val="EAF0FF"/>
                </a:solidFill>
                <a:latin typeface="Inter" pitchFamily="34" charset="0"/>
                <a:ea typeface="Inter" pitchFamily="34" charset="-122"/>
                <a:cs typeface="Inter" pitchFamily="34" charset="-120"/>
              </a:rPr>
              <a:t>Second call. One second later: “What's my name?” The model replies that it does not know.</a:t>
            </a:r>
            <a:endParaRPr lang="en-US" dirty="0"/>
          </a:p>
          <a:p>
            <a:pPr marL="0" indent="0">
              <a:lnSpc>
                <a:spcPct val="118000"/>
              </a:lnSpc>
              <a:spcAft>
                <a:spcPts val="1064"/>
              </a:spcAft>
              <a:buNone/>
            </a:pPr>
            <a:r>
              <a:rPr lang="en-US" dirty="0">
                <a:solidFill>
                  <a:srgbClr val="F5C542"/>
                </a:solidFill>
                <a:latin typeface="Inter" pitchFamily="34" charset="0"/>
                <a:ea typeface="Inter" pitchFamily="34" charset="-122"/>
                <a:cs typeface="Inter" pitchFamily="34" charset="-120"/>
              </a:rPr>
              <a:t>Same model. Same key. Same notebook. One second apart. It has never heard of you.</a:t>
            </a:r>
            <a:endParaRPr lang="en-US" dirty="0"/>
          </a:p>
        </p:txBody>
      </p:sp>
      <p:sp>
        <p:nvSpPr>
          <p:cNvPr id="10" name="Shape 6"/>
          <p:cNvSpPr/>
          <p:nvPr/>
        </p:nvSpPr>
        <p:spPr>
          <a:xfrm>
            <a:off x="6272877" y="1623060"/>
            <a:ext cx="4937760" cy="3794760"/>
          </a:xfrm>
          <a:prstGeom prst="roundRect">
            <a:avLst>
              <a:gd name="adj" fmla="val 2410"/>
            </a:avLst>
          </a:prstGeom>
          <a:solidFill>
            <a:srgbClr val="0A1024"/>
          </a:solidFill>
          <a:ln w="12700">
            <a:solidFill>
              <a:srgbClr val="1E2A55"/>
            </a:solidFill>
            <a:prstDash val="solid"/>
          </a:ln>
        </p:spPr>
      </p:sp>
      <p:sp>
        <p:nvSpPr>
          <p:cNvPr id="11" name="Text 7"/>
          <p:cNvSpPr txBox="1"/>
          <p:nvPr/>
        </p:nvSpPr>
        <p:spPr>
          <a:xfrm>
            <a:off x="66659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F5C542"/>
                </a:solidFill>
                <a:latin typeface="Inter" pitchFamily="34" charset="0"/>
                <a:ea typeface="Inter" pitchFamily="34" charset="-122"/>
                <a:cs typeface="Inter" pitchFamily="34" charset="-120"/>
              </a:rPr>
              <a:t>WHY</a:t>
            </a:r>
            <a:endParaRPr lang="en-US" sz="1550" dirty="0"/>
          </a:p>
        </p:txBody>
      </p:sp>
      <p:sp>
        <p:nvSpPr>
          <p:cNvPr id="12" name="Text 8"/>
          <p:cNvSpPr txBox="1"/>
          <p:nvPr/>
        </p:nvSpPr>
        <p:spPr>
          <a:xfrm>
            <a:off x="6665976" y="2258568"/>
            <a:ext cx="4315968" cy="2862072"/>
          </a:xfrm>
          <a:prstGeom prst="rect">
            <a:avLst/>
          </a:prstGeom>
          <a:noFill/>
          <a:ln/>
        </p:spPr>
        <p:txBody>
          <a:bodyPr wrap="square" lIns="0" tIns="0" rIns="0" bIns="0" rtlCol="0" anchor="t"/>
          <a:lstStyle/>
          <a:p>
            <a:pPr marL="0" indent="0">
              <a:lnSpc>
                <a:spcPct val="118000"/>
              </a:lnSpc>
              <a:spcAft>
                <a:spcPts val="952"/>
              </a:spcAft>
              <a:buNone/>
            </a:pPr>
            <a:r>
              <a:rPr lang="en-US" sz="1600" dirty="0">
                <a:solidFill>
                  <a:srgbClr val="EAF0FF"/>
                </a:solidFill>
                <a:latin typeface="Inter" pitchFamily="34" charset="0"/>
                <a:ea typeface="Inter" pitchFamily="34" charset="-122"/>
                <a:cs typeface="Inter" pitchFamily="34" charset="-120"/>
              </a:rPr>
              <a:t>Every API call starts from zero. Nothing in the second request mentions the first, so the model has nothing to work with.</a:t>
            </a:r>
            <a:endParaRPr lang="en-US" sz="1600" dirty="0"/>
          </a:p>
          <a:p>
            <a:pPr marL="0" indent="0">
              <a:lnSpc>
                <a:spcPct val="118000"/>
              </a:lnSpc>
              <a:spcAft>
                <a:spcPts val="952"/>
              </a:spcAft>
              <a:buNone/>
            </a:pPr>
            <a:r>
              <a:rPr lang="en-US" sz="1600" dirty="0">
                <a:solidFill>
                  <a:srgbClr val="9FB0D6"/>
                </a:solidFill>
                <a:latin typeface="Inter" pitchFamily="34" charset="0"/>
                <a:ea typeface="Inter" pitchFamily="34" charset="-122"/>
                <a:cs typeface="Inter" pitchFamily="34" charset="-120"/>
              </a:rPr>
              <a:t>The second call is not automatically the same as sending “My name is Aarav. What is my name?” It only becomes that if the application makes it so.</a:t>
            </a:r>
            <a:endParaRPr lang="en-US" sz="1600" dirty="0"/>
          </a:p>
          <a:p>
            <a:pPr marL="0" indent="0">
              <a:lnSpc>
                <a:spcPct val="118000"/>
              </a:lnSpc>
              <a:spcAft>
                <a:spcPts val="952"/>
              </a:spcAft>
              <a:buNone/>
            </a:pPr>
            <a:r>
              <a:rPr lang="en-US" sz="1600" dirty="0">
                <a:solidFill>
                  <a:srgbClr val="EAF0FF"/>
                </a:solidFill>
                <a:latin typeface="Inter" pitchFamily="34" charset="0"/>
                <a:ea typeface="Inter" pitchFamily="34" charset="-122"/>
                <a:cs typeface="Inter" pitchFamily="34" charset="-120"/>
              </a:rPr>
              <a:t>So whose fault is this, the model's or the code's? The code's. We sent a list with one item in it.</a:t>
            </a:r>
            <a:endParaRPr lang="en-US" sz="1600" dirty="0"/>
          </a:p>
        </p:txBody>
      </p:sp>
      <p:sp>
        <p:nvSpPr>
          <p:cNvPr id="13" name="Text 9"/>
          <p:cNvSpPr txBox="1"/>
          <p:nvPr/>
        </p:nvSpPr>
        <p:spPr>
          <a:xfrm>
            <a:off x="868680" y="5486400"/>
            <a:ext cx="10424160" cy="658368"/>
          </a:xfrm>
          <a:prstGeom prst="rect">
            <a:avLst/>
          </a:prstGeom>
          <a:noFill/>
          <a:ln/>
        </p:spPr>
        <p:txBody>
          <a:bodyPr wrap="square" lIns="0" tIns="0" rIns="0" bIns="0" rtlCol="0" anchor="ctr"/>
          <a:lstStyle/>
          <a:p>
            <a:pPr marL="0" indent="0">
              <a:buNone/>
            </a:pPr>
            <a:r>
              <a:rPr lang="en-US" sz="2200" dirty="0">
                <a:solidFill>
                  <a:srgbClr val="9FB0D6"/>
                </a:solidFill>
                <a:latin typeface="Inter" pitchFamily="34" charset="0"/>
                <a:ea typeface="Inter" pitchFamily="34" charset="-122"/>
                <a:cs typeface="Inter" pitchFamily="34" charset="-120"/>
              </a:rPr>
              <a:t>Run this live before you explain it. Let the room see it forget.</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4</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4300" b="1" dirty="0">
                <a:solidFill>
                  <a:srgbClr val="EAF0FF"/>
                </a:solidFill>
                <a:latin typeface="Poppins" pitchFamily="34" charset="0"/>
                <a:ea typeface="Poppins" pitchFamily="34" charset="-122"/>
                <a:cs typeface="Poppins" pitchFamily="34" charset="-120"/>
              </a:rPr>
              <a:t>What an LLM is not</a:t>
            </a:r>
            <a:endParaRPr lang="en-US" sz="4300" dirty="0"/>
          </a:p>
        </p:txBody>
      </p:sp>
      <p:sp>
        <p:nvSpPr>
          <p:cNvPr id="7" name="Shape 3"/>
          <p:cNvSpPr/>
          <p:nvPr/>
        </p:nvSpPr>
        <p:spPr>
          <a:xfrm>
            <a:off x="868680" y="1600200"/>
            <a:ext cx="4937760" cy="3794760"/>
          </a:xfrm>
          <a:prstGeom prst="roundRect">
            <a:avLst>
              <a:gd name="adj" fmla="val 2410"/>
            </a:avLst>
          </a:prstGeom>
          <a:solidFill>
            <a:srgbClr val="0A1024"/>
          </a:solidFill>
          <a:ln w="12700">
            <a:solidFill>
              <a:srgbClr val="1E2A55"/>
            </a:solidFill>
            <a:prstDash val="solid"/>
          </a:ln>
        </p:spPr>
      </p:sp>
      <p:sp>
        <p:nvSpPr>
          <p:cNvPr id="8" name="Text 4"/>
          <p:cNvSpPr txBox="1"/>
          <p:nvPr/>
        </p:nvSpPr>
        <p:spPr>
          <a:xfrm>
            <a:off x="11795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3FD0E6"/>
                </a:solidFill>
                <a:latin typeface="Inter" pitchFamily="34" charset="0"/>
                <a:ea typeface="Inter" pitchFamily="34" charset="-122"/>
                <a:cs typeface="Inter" pitchFamily="34" charset="-120"/>
              </a:rPr>
              <a:t>NOT A DATABASE</a:t>
            </a:r>
            <a:endParaRPr lang="en-US" sz="1550" dirty="0"/>
          </a:p>
        </p:txBody>
      </p:sp>
      <p:sp>
        <p:nvSpPr>
          <p:cNvPr id="9" name="Text 5"/>
          <p:cNvSpPr txBox="1"/>
          <p:nvPr/>
        </p:nvSpPr>
        <p:spPr>
          <a:xfrm>
            <a:off x="1179576" y="2258568"/>
            <a:ext cx="4315968" cy="2862072"/>
          </a:xfrm>
          <a:prstGeom prst="rect">
            <a:avLst/>
          </a:prstGeom>
          <a:noFill/>
          <a:ln/>
        </p:spPr>
        <p:txBody>
          <a:bodyPr wrap="square" lIns="0" tIns="0" rIns="0" bIns="0" rtlCol="0" anchor="t"/>
          <a:lstStyle/>
          <a:p>
            <a:pPr marL="0" indent="0">
              <a:lnSpc>
                <a:spcPct val="118000"/>
              </a:lnSpc>
              <a:spcAft>
                <a:spcPts val="1027"/>
              </a:spcAft>
              <a:buNone/>
            </a:pPr>
            <a:r>
              <a:rPr lang="en-US" sz="2000" dirty="0">
                <a:solidFill>
                  <a:srgbClr val="EAF0FF"/>
                </a:solidFill>
                <a:latin typeface="Inter" pitchFamily="34" charset="0"/>
                <a:ea typeface="Inter" pitchFamily="34" charset="-122"/>
                <a:cs typeface="Inter" pitchFamily="34" charset="-120"/>
              </a:rPr>
              <a:t>Text in. Text out. One shot, and then it is over.</a:t>
            </a:r>
            <a:endParaRPr lang="en-US" sz="2000" dirty="0"/>
          </a:p>
          <a:p>
            <a:pPr marL="0" indent="0">
              <a:lnSpc>
                <a:spcPct val="118000"/>
              </a:lnSpc>
              <a:spcAft>
                <a:spcPts val="1027"/>
              </a:spcAft>
              <a:buNone/>
            </a:pPr>
            <a:r>
              <a:rPr lang="en-US" sz="2000" dirty="0">
                <a:solidFill>
                  <a:srgbClr val="9FB0D6"/>
                </a:solidFill>
                <a:latin typeface="Inter" pitchFamily="34" charset="0"/>
                <a:ea typeface="Inter" pitchFamily="34" charset="-122"/>
                <a:cs typeface="Inter" pitchFamily="34" charset="-120"/>
              </a:rPr>
              <a:t>It is not a user database, a conversation store, a profile manager or a preference tracker.</a:t>
            </a:r>
            <a:endParaRPr lang="en-US" sz="2000" dirty="0"/>
          </a:p>
          <a:p>
            <a:pPr marL="0" indent="0">
              <a:lnSpc>
                <a:spcPct val="118000"/>
              </a:lnSpc>
              <a:spcAft>
                <a:spcPts val="1027"/>
              </a:spcAft>
              <a:buNone/>
            </a:pPr>
            <a:r>
              <a:rPr lang="en-US" sz="2000" dirty="0">
                <a:solidFill>
                  <a:srgbClr val="EAF0FF"/>
                </a:solidFill>
                <a:latin typeface="Inter" pitchFamily="34" charset="0"/>
                <a:ea typeface="Inter" pitchFamily="34" charset="-122"/>
                <a:cs typeface="Inter" pitchFamily="34" charset="-120"/>
              </a:rPr>
              <a:t>All four of those are real and useful. They just live in your code, not in the model.</a:t>
            </a:r>
            <a:endParaRPr lang="en-US" sz="2000" dirty="0"/>
          </a:p>
        </p:txBody>
      </p:sp>
      <p:sp>
        <p:nvSpPr>
          <p:cNvPr id="10" name="Shape 6"/>
          <p:cNvSpPr/>
          <p:nvPr/>
        </p:nvSpPr>
        <p:spPr>
          <a:xfrm>
            <a:off x="6492240" y="1709928"/>
            <a:ext cx="4937760" cy="3794760"/>
          </a:xfrm>
          <a:prstGeom prst="roundRect">
            <a:avLst>
              <a:gd name="adj" fmla="val 2410"/>
            </a:avLst>
          </a:prstGeom>
          <a:solidFill>
            <a:srgbClr val="0A1024"/>
          </a:solidFill>
          <a:ln w="12700">
            <a:solidFill>
              <a:srgbClr val="1E2A55"/>
            </a:solidFill>
            <a:prstDash val="solid"/>
          </a:ln>
        </p:spPr>
      </p:sp>
      <p:sp>
        <p:nvSpPr>
          <p:cNvPr id="11" name="Text 7"/>
          <p:cNvSpPr txBox="1"/>
          <p:nvPr/>
        </p:nvSpPr>
        <p:spPr>
          <a:xfrm>
            <a:off x="66659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F5C542"/>
                </a:solidFill>
                <a:latin typeface="Inter" pitchFamily="34" charset="0"/>
                <a:ea typeface="Inter" pitchFamily="34" charset="-122"/>
                <a:cs typeface="Inter" pitchFamily="34" charset="-120"/>
              </a:rPr>
              <a:t>AND YOU DIDN'T TEACH IT ANYTHING</a:t>
            </a:r>
            <a:endParaRPr lang="en-US" sz="1550" dirty="0"/>
          </a:p>
        </p:txBody>
      </p:sp>
      <p:sp>
        <p:nvSpPr>
          <p:cNvPr id="12" name="Text 8"/>
          <p:cNvSpPr txBox="1"/>
          <p:nvPr/>
        </p:nvSpPr>
        <p:spPr>
          <a:xfrm>
            <a:off x="6665976" y="2258568"/>
            <a:ext cx="4315968" cy="2862072"/>
          </a:xfrm>
          <a:prstGeom prst="rect">
            <a:avLst/>
          </a:prstGeom>
          <a:noFill/>
          <a:ln/>
        </p:spPr>
        <p:txBody>
          <a:bodyPr wrap="square" lIns="0" tIns="0" rIns="0" bIns="0" rtlCol="0" anchor="t"/>
          <a:lstStyle/>
          <a:p>
            <a:pPr marL="0" indent="0">
              <a:lnSpc>
                <a:spcPct val="118000"/>
              </a:lnSpc>
              <a:spcAft>
                <a:spcPts val="988"/>
              </a:spcAft>
              <a:buNone/>
            </a:pPr>
            <a:r>
              <a:rPr lang="en-US" dirty="0">
                <a:solidFill>
                  <a:srgbClr val="EAF0FF"/>
                </a:solidFill>
                <a:latin typeface="Inter" pitchFamily="34" charset="0"/>
                <a:ea typeface="Inter" pitchFamily="34" charset="-122"/>
                <a:cs typeface="Inter" pitchFamily="34" charset="-120"/>
              </a:rPr>
              <a:t>Training changes the model's weights. It happened before you ever typed, it is permanent, and it is not yours to do.</a:t>
            </a:r>
            <a:endParaRPr lang="en-US" dirty="0"/>
          </a:p>
          <a:p>
            <a:pPr marL="0" indent="0">
              <a:lnSpc>
                <a:spcPct val="118000"/>
              </a:lnSpc>
              <a:spcAft>
                <a:spcPts val="988"/>
              </a:spcAft>
              <a:buNone/>
            </a:pPr>
            <a:r>
              <a:rPr lang="en-US" dirty="0">
                <a:solidFill>
                  <a:srgbClr val="9FB0D6"/>
                </a:solidFill>
                <a:latin typeface="Inter" pitchFamily="34" charset="0"/>
                <a:ea typeface="Inter" pitchFamily="34" charset="-122"/>
                <a:cs typeface="Inter" pitchFamily="34" charset="-120"/>
              </a:rPr>
              <a:t>Context changes nothing. It exists for one call, and it is gone the moment the model responds.</a:t>
            </a:r>
            <a:endParaRPr lang="en-US" dirty="0"/>
          </a:p>
          <a:p>
            <a:pPr marL="0" indent="0">
              <a:lnSpc>
                <a:spcPct val="118000"/>
              </a:lnSpc>
              <a:spcAft>
                <a:spcPts val="988"/>
              </a:spcAft>
              <a:buNone/>
            </a:pPr>
            <a:r>
              <a:rPr lang="en-US" dirty="0">
                <a:solidFill>
                  <a:srgbClr val="F5C542"/>
                </a:solidFill>
                <a:latin typeface="Inter" pitchFamily="34" charset="0"/>
                <a:ea typeface="Inter" pitchFamily="34" charset="-122"/>
                <a:cs typeface="Inter" pitchFamily="34" charset="-120"/>
              </a:rPr>
              <a:t>Telling it your favourite colour does not update the model. It updates your list.</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5</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4300" b="1" dirty="0">
                <a:solidFill>
                  <a:srgbClr val="EAF0FF"/>
                </a:solidFill>
                <a:latin typeface="Poppins" pitchFamily="34" charset="0"/>
                <a:ea typeface="Poppins" pitchFamily="34" charset="-122"/>
                <a:cs typeface="Poppins" pitchFamily="34" charset="-120"/>
              </a:rPr>
              <a:t>The messages list</a:t>
            </a:r>
            <a:endParaRPr lang="en-US" sz="4300" dirty="0"/>
          </a:p>
        </p:txBody>
      </p:sp>
      <p:sp>
        <p:nvSpPr>
          <p:cNvPr id="7" name="Shape 3"/>
          <p:cNvSpPr/>
          <p:nvPr/>
        </p:nvSpPr>
        <p:spPr>
          <a:xfrm>
            <a:off x="868680" y="1600200"/>
            <a:ext cx="6675120" cy="3794760"/>
          </a:xfrm>
          <a:prstGeom prst="roundRect">
            <a:avLst>
              <a:gd name="adj" fmla="val 2410"/>
            </a:avLst>
          </a:prstGeom>
          <a:solidFill>
            <a:srgbClr val="0A1024"/>
          </a:solidFill>
          <a:ln w="12700">
            <a:solidFill>
              <a:srgbClr val="1E2A55"/>
            </a:solidFill>
            <a:prstDash val="solid"/>
          </a:ln>
        </p:spPr>
      </p:sp>
      <p:sp>
        <p:nvSpPr>
          <p:cNvPr id="8" name="Text 4"/>
          <p:cNvSpPr txBox="1"/>
          <p:nvPr/>
        </p:nvSpPr>
        <p:spPr>
          <a:xfrm>
            <a:off x="1179576" y="1819656"/>
            <a:ext cx="6126480" cy="274320"/>
          </a:xfrm>
          <a:prstGeom prst="rect">
            <a:avLst/>
          </a:prstGeom>
          <a:noFill/>
          <a:ln/>
        </p:spPr>
        <p:txBody>
          <a:bodyPr wrap="square" lIns="0" tIns="0" rIns="0" bIns="0" rtlCol="0" anchor="ctr"/>
          <a:lstStyle/>
          <a:p>
            <a:pPr marL="0" indent="0">
              <a:buNone/>
            </a:pPr>
            <a:r>
              <a:rPr lang="en-US" sz="1550" b="1" kern="0" spc="200" dirty="0">
                <a:solidFill>
                  <a:srgbClr val="3FD0E6"/>
                </a:solidFill>
                <a:latin typeface="Inter" pitchFamily="34" charset="0"/>
                <a:ea typeface="Inter" pitchFamily="34" charset="-122"/>
                <a:cs typeface="Inter" pitchFamily="34" charset="-120"/>
              </a:rPr>
              <a:t>A STRUCTURED TRANSCRIPT</a:t>
            </a:r>
            <a:endParaRPr lang="en-US" sz="1550" dirty="0"/>
          </a:p>
        </p:txBody>
      </p:sp>
      <p:sp>
        <p:nvSpPr>
          <p:cNvPr id="9" name="Text 5"/>
          <p:cNvSpPr txBox="1"/>
          <p:nvPr/>
        </p:nvSpPr>
        <p:spPr>
          <a:xfrm>
            <a:off x="1179576" y="2258568"/>
            <a:ext cx="6053328" cy="2862072"/>
          </a:xfrm>
          <a:prstGeom prst="rect">
            <a:avLst/>
          </a:prstGeom>
          <a:noFill/>
          <a:ln/>
        </p:spPr>
        <p:txBody>
          <a:bodyPr wrap="square" lIns="0" tIns="0" rIns="0" bIns="0" rtlCol="0" anchor="t"/>
          <a:lstStyle/>
          <a:p>
            <a:pPr marL="0" indent="0">
              <a:lnSpc>
                <a:spcPct val="118000"/>
              </a:lnSpc>
              <a:spcAft>
                <a:spcPts val="884"/>
              </a:spcAft>
              <a:buNone/>
            </a:pPr>
            <a:r>
              <a:rPr lang="en-US" sz="1360" dirty="0">
                <a:solidFill>
                  <a:srgbClr val="EAF0FF"/>
                </a:solidFill>
                <a:latin typeface="Inter" pitchFamily="34" charset="0"/>
                <a:ea typeface="Inter" pitchFamily="34" charset="-122"/>
                <a:cs typeface="Inter" pitchFamily="34" charset="-120"/>
              </a:rPr>
              <a:t>The list is a sequence of entries, and each entry has two parts. A role, which says who produced it. And content, which is what they said.</a:t>
            </a:r>
            <a:endParaRPr lang="en-US" sz="1360" dirty="0"/>
          </a:p>
          <a:p>
            <a:pPr marL="0" indent="0">
              <a:lnSpc>
                <a:spcPct val="118000"/>
              </a:lnSpc>
              <a:spcAft>
                <a:spcPts val="884"/>
              </a:spcAft>
              <a:buNone/>
            </a:pPr>
            <a:r>
              <a:rPr lang="en-US" sz="1292" dirty="0">
                <a:solidFill>
                  <a:srgbClr val="9FB0D6"/>
                </a:solidFill>
                <a:latin typeface="Inter" pitchFamily="34" charset="0"/>
                <a:ea typeface="Inter" pitchFamily="34" charset="-122"/>
                <a:cs typeface="Inter" pitchFamily="34" charset="-120"/>
              </a:rPr>
              <a:t>The user's turns are labelled user. The model's own previous replies are labelled assistant, and you are the one who writes those back into the list. Both sides are stored.</a:t>
            </a:r>
            <a:endParaRPr lang="en-US" sz="1360" dirty="0"/>
          </a:p>
          <a:p>
            <a:pPr marL="0" indent="0">
              <a:lnSpc>
                <a:spcPct val="118000"/>
              </a:lnSpc>
              <a:spcAft>
                <a:spcPts val="884"/>
              </a:spcAft>
              <a:buNone/>
            </a:pPr>
            <a:r>
              <a:rPr lang="en-US" sz="1292" dirty="0">
                <a:solidFill>
                  <a:srgbClr val="EAF0FF"/>
                </a:solidFill>
                <a:latin typeface="Inter" pitchFamily="34" charset="0"/>
                <a:ea typeface="Inter" pitchFamily="34" charset="-122"/>
                <a:cs typeface="Inter" pitchFamily="34" charset="-120"/>
              </a:rPr>
              <a:t>So a five-entry list reads: I'm Aarav. Hi Aarav. I study AI. Nice. What do I study? To answer the last one, the model needs the third one to still be in the list. That is the whole trick.</a:t>
            </a:r>
            <a:endParaRPr lang="en-US" sz="1360" dirty="0"/>
          </a:p>
        </p:txBody>
      </p:sp>
      <p:sp>
        <p:nvSpPr>
          <p:cNvPr id="10" name="Shape 6"/>
          <p:cNvSpPr/>
          <p:nvPr/>
        </p:nvSpPr>
        <p:spPr>
          <a:xfrm>
            <a:off x="7818120" y="1600200"/>
            <a:ext cx="3474720" cy="3794760"/>
          </a:xfrm>
          <a:prstGeom prst="roundRect">
            <a:avLst>
              <a:gd name="adj" fmla="val 2632"/>
            </a:avLst>
          </a:prstGeom>
          <a:solidFill>
            <a:srgbClr val="0A1024"/>
          </a:solidFill>
          <a:ln w="12700">
            <a:solidFill>
              <a:srgbClr val="1E2A55"/>
            </a:solidFill>
            <a:prstDash val="solid"/>
          </a:ln>
        </p:spPr>
      </p:sp>
      <p:sp>
        <p:nvSpPr>
          <p:cNvPr id="11" name="Text 7"/>
          <p:cNvSpPr txBox="1"/>
          <p:nvPr/>
        </p:nvSpPr>
        <p:spPr>
          <a:xfrm>
            <a:off x="8129016" y="1819656"/>
            <a:ext cx="2926080" cy="274320"/>
          </a:xfrm>
          <a:prstGeom prst="rect">
            <a:avLst/>
          </a:prstGeom>
          <a:noFill/>
          <a:ln/>
        </p:spPr>
        <p:txBody>
          <a:bodyPr wrap="square" lIns="0" tIns="0" rIns="0" bIns="0" rtlCol="0" anchor="ctr"/>
          <a:lstStyle/>
          <a:p>
            <a:pPr marL="0" indent="0">
              <a:buNone/>
            </a:pPr>
            <a:r>
              <a:rPr lang="en-US" sz="1550" b="1" kern="0" spc="200" dirty="0">
                <a:solidFill>
                  <a:srgbClr val="F5C542"/>
                </a:solidFill>
                <a:latin typeface="Inter" pitchFamily="34" charset="0"/>
                <a:ea typeface="Inter" pitchFamily="34" charset="-122"/>
                <a:cs typeface="Inter" pitchFamily="34" charset="-120"/>
              </a:rPr>
              <a:t>AND SEPARATELY</a:t>
            </a:r>
            <a:endParaRPr lang="en-US" sz="1550" dirty="0"/>
          </a:p>
        </p:txBody>
      </p:sp>
      <p:sp>
        <p:nvSpPr>
          <p:cNvPr id="12" name="Text 8"/>
          <p:cNvSpPr txBox="1"/>
          <p:nvPr/>
        </p:nvSpPr>
        <p:spPr>
          <a:xfrm>
            <a:off x="8129016" y="2258568"/>
            <a:ext cx="2852928" cy="2862072"/>
          </a:xfrm>
          <a:prstGeom prst="rect">
            <a:avLst/>
          </a:prstGeom>
          <a:noFill/>
          <a:ln/>
        </p:spPr>
        <p:txBody>
          <a:bodyPr wrap="square" lIns="0" tIns="0" rIns="0" bIns="0" rtlCol="0" anchor="t"/>
          <a:lstStyle/>
          <a:p>
            <a:pPr marL="0" indent="0">
              <a:lnSpc>
                <a:spcPct val="118000"/>
              </a:lnSpc>
              <a:spcAft>
                <a:spcPts val="884"/>
              </a:spcAft>
              <a:buNone/>
            </a:pPr>
            <a:r>
              <a:rPr lang="en-US" sz="1292" dirty="0">
                <a:solidFill>
                  <a:srgbClr val="EAF0FF"/>
                </a:solidFill>
                <a:latin typeface="Inter" pitchFamily="34" charset="0"/>
                <a:ea typeface="Inter" pitchFamily="34" charset="-122"/>
                <a:cs typeface="Inter" pitchFamily="34" charset="-120"/>
              </a:rPr>
              <a:t>Behaviour instructions sit above the conversation, not inside it. You are Atlas, a study tutor. Always give a worked example.</a:t>
            </a:r>
            <a:endParaRPr lang="en-US" sz="1360" dirty="0"/>
          </a:p>
          <a:p>
            <a:pPr marL="0" indent="0">
              <a:lnSpc>
                <a:spcPct val="118000"/>
              </a:lnSpc>
              <a:spcAft>
                <a:spcPts val="884"/>
              </a:spcAft>
              <a:buNone/>
            </a:pPr>
            <a:r>
              <a:rPr lang="en-US" sz="1292" dirty="0">
                <a:solidFill>
                  <a:srgbClr val="9FB0D6"/>
                </a:solidFill>
                <a:latin typeface="Inter" pitchFamily="34" charset="0"/>
                <a:ea typeface="Inter" pitchFamily="34" charset="-122"/>
                <a:cs typeface="Inter" pitchFamily="34" charset="-120"/>
              </a:rPr>
              <a:t>Different APIs express that differently, but the idea is always the same: high-priority instructions, then the exchange.</a:t>
            </a:r>
            <a:endParaRPr lang="en-US" sz="1360" dirty="0"/>
          </a:p>
          <a:p>
            <a:pPr marL="0" indent="0">
              <a:lnSpc>
                <a:spcPct val="118000"/>
              </a:lnSpc>
              <a:spcAft>
                <a:spcPts val="884"/>
              </a:spcAft>
              <a:buNone/>
            </a:pPr>
            <a:r>
              <a:rPr lang="en-US" sz="1360" dirty="0">
                <a:solidFill>
                  <a:srgbClr val="F5C542"/>
                </a:solidFill>
                <a:latin typeface="Inter" pitchFamily="34" charset="0"/>
                <a:ea typeface="Inter" pitchFamily="34" charset="-122"/>
                <a:cs typeface="Inter" pitchFamily="34" charset="-120"/>
              </a:rPr>
              <a:t>Nothing outside this list exists to the model.</a:t>
            </a:r>
            <a:endParaRPr lang="en-US" sz="13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6</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4300" b="1" dirty="0">
                <a:solidFill>
                  <a:srgbClr val="EAF0FF"/>
                </a:solidFill>
                <a:latin typeface="Poppins" pitchFamily="34" charset="0"/>
                <a:ea typeface="Poppins" pitchFamily="34" charset="-122"/>
                <a:cs typeface="Poppins" pitchFamily="34" charset="-120"/>
              </a:rPr>
              <a:t>How chat apps remember</a:t>
            </a:r>
            <a:endParaRPr lang="en-US" sz="4300" dirty="0"/>
          </a:p>
        </p:txBody>
      </p:sp>
      <p:sp>
        <p:nvSpPr>
          <p:cNvPr id="7" name="Shape 3"/>
          <p:cNvSpPr/>
          <p:nvPr/>
        </p:nvSpPr>
        <p:spPr>
          <a:xfrm>
            <a:off x="896112" y="1645920"/>
            <a:ext cx="384048" cy="219456"/>
          </a:xfrm>
          <a:prstGeom prst="roundRect">
            <a:avLst>
              <a:gd name="adj" fmla="val 25000"/>
            </a:avLst>
          </a:prstGeom>
          <a:solidFill>
            <a:srgbClr val="1B2A6B"/>
          </a:solidFill>
          <a:ln w="12700">
            <a:solidFill>
              <a:srgbClr val="3257F0"/>
            </a:solidFill>
            <a:prstDash val="solid"/>
          </a:ln>
        </p:spPr>
      </p:sp>
      <p:sp>
        <p:nvSpPr>
          <p:cNvPr id="8" name="Text 4"/>
          <p:cNvSpPr txBox="1"/>
          <p:nvPr/>
        </p:nvSpPr>
        <p:spPr>
          <a:xfrm>
            <a:off x="1426464" y="1591056"/>
            <a:ext cx="2377440" cy="329184"/>
          </a:xfrm>
          <a:prstGeom prst="rect">
            <a:avLst/>
          </a:prstGeom>
          <a:noFill/>
          <a:ln/>
        </p:spPr>
        <p:txBody>
          <a:bodyPr wrap="square" lIns="0" tIns="0" rIns="0" bIns="0" rtlCol="0" anchor="ctr"/>
          <a:lstStyle/>
          <a:p>
            <a:pPr marL="0" indent="0">
              <a:buNone/>
            </a:pPr>
            <a:r>
              <a:rPr lang="en-US" sz="1800" dirty="0">
                <a:solidFill>
                  <a:srgbClr val="9FB0D6"/>
                </a:solidFill>
                <a:latin typeface="Inter" pitchFamily="34" charset="0"/>
                <a:ea typeface="Inter" pitchFamily="34" charset="-122"/>
                <a:cs typeface="Inter" pitchFamily="34" charset="-120"/>
              </a:rPr>
              <a:t>what you typed</a:t>
            </a:r>
            <a:endParaRPr lang="en-US" sz="1800" dirty="0"/>
          </a:p>
        </p:txBody>
      </p:sp>
      <p:sp>
        <p:nvSpPr>
          <p:cNvPr id="9" name="Shape 5"/>
          <p:cNvSpPr/>
          <p:nvPr/>
        </p:nvSpPr>
        <p:spPr>
          <a:xfrm>
            <a:off x="3730752" y="1645920"/>
            <a:ext cx="384048" cy="219456"/>
          </a:xfrm>
          <a:prstGeom prst="roundRect">
            <a:avLst>
              <a:gd name="adj" fmla="val 25000"/>
            </a:avLst>
          </a:prstGeom>
          <a:solidFill>
            <a:srgbClr val="111A3C"/>
          </a:solidFill>
          <a:ln w="12700">
            <a:solidFill>
              <a:srgbClr val="1E2A55"/>
            </a:solidFill>
            <a:prstDash val="solid"/>
          </a:ln>
        </p:spPr>
      </p:sp>
      <p:sp>
        <p:nvSpPr>
          <p:cNvPr id="10" name="Text 6"/>
          <p:cNvSpPr txBox="1"/>
          <p:nvPr/>
        </p:nvSpPr>
        <p:spPr>
          <a:xfrm>
            <a:off x="4261104" y="1591056"/>
            <a:ext cx="2377440" cy="329184"/>
          </a:xfrm>
          <a:prstGeom prst="rect">
            <a:avLst/>
          </a:prstGeom>
          <a:noFill/>
          <a:ln/>
        </p:spPr>
        <p:txBody>
          <a:bodyPr wrap="square" lIns="0" tIns="0" rIns="0" bIns="0" rtlCol="0" anchor="ctr"/>
          <a:lstStyle/>
          <a:p>
            <a:pPr marL="0" indent="0">
              <a:buNone/>
            </a:pPr>
            <a:r>
              <a:rPr lang="en-US" sz="1800" dirty="0">
                <a:solidFill>
                  <a:srgbClr val="9FB0D6"/>
                </a:solidFill>
                <a:latin typeface="Inter" pitchFamily="34" charset="0"/>
                <a:ea typeface="Inter" pitchFamily="34" charset="-122"/>
                <a:cs typeface="Inter" pitchFamily="34" charset="-120"/>
              </a:rPr>
              <a:t>what it replied</a:t>
            </a:r>
            <a:endParaRPr lang="en-US" sz="1800" dirty="0"/>
          </a:p>
        </p:txBody>
      </p:sp>
      <p:sp>
        <p:nvSpPr>
          <p:cNvPr id="11" name="Shape 7"/>
          <p:cNvSpPr/>
          <p:nvPr/>
        </p:nvSpPr>
        <p:spPr>
          <a:xfrm>
            <a:off x="960120" y="3319272"/>
            <a:ext cx="2011680" cy="201168"/>
          </a:xfrm>
          <a:prstGeom prst="roundRect">
            <a:avLst>
              <a:gd name="adj" fmla="val 27273"/>
            </a:avLst>
          </a:prstGeom>
          <a:solidFill>
            <a:srgbClr val="1B2A6B"/>
          </a:solidFill>
          <a:ln w="12700">
            <a:solidFill>
              <a:srgbClr val="3257F0"/>
            </a:solidFill>
            <a:prstDash val="solid"/>
          </a:ln>
        </p:spPr>
      </p:sp>
      <p:sp>
        <p:nvSpPr>
          <p:cNvPr id="12" name="Text 8"/>
          <p:cNvSpPr txBox="1"/>
          <p:nvPr/>
        </p:nvSpPr>
        <p:spPr>
          <a:xfrm>
            <a:off x="960120" y="3584448"/>
            <a:ext cx="2011680" cy="292608"/>
          </a:xfrm>
          <a:prstGeom prst="rect">
            <a:avLst/>
          </a:prstGeom>
          <a:noFill/>
          <a:ln/>
        </p:spPr>
        <p:txBody>
          <a:bodyPr wrap="square" lIns="0" tIns="0" rIns="0" bIns="0" rtlCol="0" anchor="ctr"/>
          <a:lstStyle/>
          <a:p>
            <a:pPr marL="0" indent="0" algn="ctr">
              <a:buNone/>
            </a:pPr>
            <a:r>
              <a:rPr lang="en-US" sz="1800" dirty="0">
                <a:solidFill>
                  <a:srgbClr val="9FB0D6"/>
                </a:solidFill>
                <a:latin typeface="Inter" pitchFamily="34" charset="0"/>
                <a:ea typeface="Inter" pitchFamily="34" charset="-122"/>
                <a:cs typeface="Inter" pitchFamily="34" charset="-120"/>
              </a:rPr>
              <a:t>Turn 1</a:t>
            </a:r>
            <a:endParaRPr lang="en-US" sz="1800" dirty="0"/>
          </a:p>
        </p:txBody>
      </p:sp>
      <p:sp>
        <p:nvSpPr>
          <p:cNvPr id="13" name="Shape 9"/>
          <p:cNvSpPr/>
          <p:nvPr/>
        </p:nvSpPr>
        <p:spPr>
          <a:xfrm>
            <a:off x="3474720" y="2788920"/>
            <a:ext cx="2011680" cy="201168"/>
          </a:xfrm>
          <a:prstGeom prst="roundRect">
            <a:avLst>
              <a:gd name="adj" fmla="val 27273"/>
            </a:avLst>
          </a:prstGeom>
          <a:solidFill>
            <a:srgbClr val="1B2A6B"/>
          </a:solidFill>
          <a:ln w="12700">
            <a:solidFill>
              <a:srgbClr val="3257F0"/>
            </a:solidFill>
            <a:prstDash val="solid"/>
          </a:ln>
        </p:spPr>
      </p:sp>
      <p:sp>
        <p:nvSpPr>
          <p:cNvPr id="14" name="Shape 10"/>
          <p:cNvSpPr/>
          <p:nvPr/>
        </p:nvSpPr>
        <p:spPr>
          <a:xfrm>
            <a:off x="3474720" y="3054096"/>
            <a:ext cx="2011680" cy="201168"/>
          </a:xfrm>
          <a:prstGeom prst="roundRect">
            <a:avLst>
              <a:gd name="adj" fmla="val 27273"/>
            </a:avLst>
          </a:prstGeom>
          <a:solidFill>
            <a:srgbClr val="111A3C"/>
          </a:solidFill>
          <a:ln w="12700">
            <a:solidFill>
              <a:srgbClr val="1E2A55"/>
            </a:solidFill>
            <a:prstDash val="solid"/>
          </a:ln>
        </p:spPr>
      </p:sp>
      <p:sp>
        <p:nvSpPr>
          <p:cNvPr id="15" name="Shape 11"/>
          <p:cNvSpPr/>
          <p:nvPr/>
        </p:nvSpPr>
        <p:spPr>
          <a:xfrm>
            <a:off x="3474720" y="3319272"/>
            <a:ext cx="2011680" cy="201168"/>
          </a:xfrm>
          <a:prstGeom prst="roundRect">
            <a:avLst>
              <a:gd name="adj" fmla="val 27273"/>
            </a:avLst>
          </a:prstGeom>
          <a:solidFill>
            <a:srgbClr val="1B2A6B"/>
          </a:solidFill>
          <a:ln w="12700">
            <a:solidFill>
              <a:srgbClr val="3257F0"/>
            </a:solidFill>
            <a:prstDash val="solid"/>
          </a:ln>
        </p:spPr>
      </p:sp>
      <p:sp>
        <p:nvSpPr>
          <p:cNvPr id="16" name="Text 12"/>
          <p:cNvSpPr txBox="1"/>
          <p:nvPr/>
        </p:nvSpPr>
        <p:spPr>
          <a:xfrm>
            <a:off x="3474720" y="3584448"/>
            <a:ext cx="2011680" cy="292608"/>
          </a:xfrm>
          <a:prstGeom prst="rect">
            <a:avLst/>
          </a:prstGeom>
          <a:noFill/>
          <a:ln/>
        </p:spPr>
        <p:txBody>
          <a:bodyPr wrap="square" lIns="0" tIns="0" rIns="0" bIns="0" rtlCol="0" anchor="ctr"/>
          <a:lstStyle/>
          <a:p>
            <a:pPr marL="0" indent="0" algn="ctr">
              <a:buNone/>
            </a:pPr>
            <a:r>
              <a:rPr lang="en-US" sz="1800" dirty="0">
                <a:solidFill>
                  <a:srgbClr val="9FB0D6"/>
                </a:solidFill>
                <a:latin typeface="Inter" pitchFamily="34" charset="0"/>
                <a:ea typeface="Inter" pitchFamily="34" charset="-122"/>
                <a:cs typeface="Inter" pitchFamily="34" charset="-120"/>
              </a:rPr>
              <a:t>Turn 2</a:t>
            </a:r>
            <a:endParaRPr lang="en-US" sz="1800" dirty="0"/>
          </a:p>
        </p:txBody>
      </p:sp>
      <p:sp>
        <p:nvSpPr>
          <p:cNvPr id="17" name="Shape 13"/>
          <p:cNvSpPr/>
          <p:nvPr/>
        </p:nvSpPr>
        <p:spPr>
          <a:xfrm>
            <a:off x="5989320" y="2258568"/>
            <a:ext cx="2011680" cy="201168"/>
          </a:xfrm>
          <a:prstGeom prst="roundRect">
            <a:avLst>
              <a:gd name="adj" fmla="val 27273"/>
            </a:avLst>
          </a:prstGeom>
          <a:solidFill>
            <a:srgbClr val="1B2A6B"/>
          </a:solidFill>
          <a:ln w="12700">
            <a:solidFill>
              <a:srgbClr val="3257F0"/>
            </a:solidFill>
            <a:prstDash val="solid"/>
          </a:ln>
        </p:spPr>
      </p:sp>
      <p:sp>
        <p:nvSpPr>
          <p:cNvPr id="18" name="Shape 14"/>
          <p:cNvSpPr/>
          <p:nvPr/>
        </p:nvSpPr>
        <p:spPr>
          <a:xfrm>
            <a:off x="5989320" y="2523744"/>
            <a:ext cx="2011680" cy="201168"/>
          </a:xfrm>
          <a:prstGeom prst="roundRect">
            <a:avLst>
              <a:gd name="adj" fmla="val 27273"/>
            </a:avLst>
          </a:prstGeom>
          <a:solidFill>
            <a:srgbClr val="111A3C"/>
          </a:solidFill>
          <a:ln w="12700">
            <a:solidFill>
              <a:srgbClr val="1E2A55"/>
            </a:solidFill>
            <a:prstDash val="solid"/>
          </a:ln>
        </p:spPr>
      </p:sp>
      <p:sp>
        <p:nvSpPr>
          <p:cNvPr id="19" name="Shape 15"/>
          <p:cNvSpPr/>
          <p:nvPr/>
        </p:nvSpPr>
        <p:spPr>
          <a:xfrm>
            <a:off x="5989320" y="2788920"/>
            <a:ext cx="2011680" cy="201168"/>
          </a:xfrm>
          <a:prstGeom prst="roundRect">
            <a:avLst>
              <a:gd name="adj" fmla="val 27273"/>
            </a:avLst>
          </a:prstGeom>
          <a:solidFill>
            <a:srgbClr val="1B2A6B"/>
          </a:solidFill>
          <a:ln w="12700">
            <a:solidFill>
              <a:srgbClr val="3257F0"/>
            </a:solidFill>
            <a:prstDash val="solid"/>
          </a:ln>
        </p:spPr>
      </p:sp>
      <p:sp>
        <p:nvSpPr>
          <p:cNvPr id="20" name="Shape 16"/>
          <p:cNvSpPr/>
          <p:nvPr/>
        </p:nvSpPr>
        <p:spPr>
          <a:xfrm>
            <a:off x="5989320" y="3054096"/>
            <a:ext cx="2011680" cy="201168"/>
          </a:xfrm>
          <a:prstGeom prst="roundRect">
            <a:avLst>
              <a:gd name="adj" fmla="val 27273"/>
            </a:avLst>
          </a:prstGeom>
          <a:solidFill>
            <a:srgbClr val="111A3C"/>
          </a:solidFill>
          <a:ln w="12700">
            <a:solidFill>
              <a:srgbClr val="1E2A55"/>
            </a:solidFill>
            <a:prstDash val="solid"/>
          </a:ln>
        </p:spPr>
      </p:sp>
      <p:sp>
        <p:nvSpPr>
          <p:cNvPr id="21" name="Shape 17"/>
          <p:cNvSpPr/>
          <p:nvPr/>
        </p:nvSpPr>
        <p:spPr>
          <a:xfrm>
            <a:off x="5989320" y="3319272"/>
            <a:ext cx="2011680" cy="201168"/>
          </a:xfrm>
          <a:prstGeom prst="roundRect">
            <a:avLst>
              <a:gd name="adj" fmla="val 27273"/>
            </a:avLst>
          </a:prstGeom>
          <a:solidFill>
            <a:srgbClr val="1B2A6B"/>
          </a:solidFill>
          <a:ln w="12700">
            <a:solidFill>
              <a:srgbClr val="3257F0"/>
            </a:solidFill>
            <a:prstDash val="solid"/>
          </a:ln>
        </p:spPr>
      </p:sp>
      <p:sp>
        <p:nvSpPr>
          <p:cNvPr id="22" name="Text 18"/>
          <p:cNvSpPr txBox="1"/>
          <p:nvPr/>
        </p:nvSpPr>
        <p:spPr>
          <a:xfrm>
            <a:off x="5989320" y="3584448"/>
            <a:ext cx="2011680" cy="292608"/>
          </a:xfrm>
          <a:prstGeom prst="rect">
            <a:avLst/>
          </a:prstGeom>
          <a:noFill/>
          <a:ln/>
        </p:spPr>
        <p:txBody>
          <a:bodyPr wrap="square" lIns="0" tIns="0" rIns="0" bIns="0" rtlCol="0" anchor="ctr"/>
          <a:lstStyle/>
          <a:p>
            <a:pPr marL="0" indent="0" algn="ctr">
              <a:buNone/>
            </a:pPr>
            <a:r>
              <a:rPr lang="en-US" sz="1800" dirty="0">
                <a:solidFill>
                  <a:srgbClr val="9FB0D6"/>
                </a:solidFill>
                <a:latin typeface="Inter" pitchFamily="34" charset="0"/>
                <a:ea typeface="Inter" pitchFamily="34" charset="-122"/>
                <a:cs typeface="Inter" pitchFamily="34" charset="-120"/>
              </a:rPr>
              <a:t>Turn 3</a:t>
            </a:r>
            <a:endParaRPr lang="en-US" sz="1800" dirty="0"/>
          </a:p>
        </p:txBody>
      </p:sp>
      <p:sp>
        <p:nvSpPr>
          <p:cNvPr id="23" name="Shape 19"/>
          <p:cNvSpPr/>
          <p:nvPr/>
        </p:nvSpPr>
        <p:spPr>
          <a:xfrm>
            <a:off x="8503920" y="1728216"/>
            <a:ext cx="2011680" cy="201168"/>
          </a:xfrm>
          <a:prstGeom prst="roundRect">
            <a:avLst>
              <a:gd name="adj" fmla="val 27273"/>
            </a:avLst>
          </a:prstGeom>
          <a:solidFill>
            <a:srgbClr val="1B2A6B"/>
          </a:solidFill>
          <a:ln w="12700">
            <a:solidFill>
              <a:srgbClr val="3257F0"/>
            </a:solidFill>
            <a:prstDash val="solid"/>
          </a:ln>
        </p:spPr>
      </p:sp>
      <p:sp>
        <p:nvSpPr>
          <p:cNvPr id="24" name="Shape 20"/>
          <p:cNvSpPr/>
          <p:nvPr/>
        </p:nvSpPr>
        <p:spPr>
          <a:xfrm>
            <a:off x="8503920" y="1993392"/>
            <a:ext cx="2011680" cy="201168"/>
          </a:xfrm>
          <a:prstGeom prst="roundRect">
            <a:avLst>
              <a:gd name="adj" fmla="val 27273"/>
            </a:avLst>
          </a:prstGeom>
          <a:solidFill>
            <a:srgbClr val="111A3C"/>
          </a:solidFill>
          <a:ln w="12700">
            <a:solidFill>
              <a:srgbClr val="1E2A55"/>
            </a:solidFill>
            <a:prstDash val="solid"/>
          </a:ln>
        </p:spPr>
      </p:sp>
      <p:sp>
        <p:nvSpPr>
          <p:cNvPr id="25" name="Shape 21"/>
          <p:cNvSpPr/>
          <p:nvPr/>
        </p:nvSpPr>
        <p:spPr>
          <a:xfrm>
            <a:off x="8503920" y="2258568"/>
            <a:ext cx="2011680" cy="201168"/>
          </a:xfrm>
          <a:prstGeom prst="roundRect">
            <a:avLst>
              <a:gd name="adj" fmla="val 27273"/>
            </a:avLst>
          </a:prstGeom>
          <a:solidFill>
            <a:srgbClr val="1B2A6B"/>
          </a:solidFill>
          <a:ln w="12700">
            <a:solidFill>
              <a:srgbClr val="3257F0"/>
            </a:solidFill>
            <a:prstDash val="solid"/>
          </a:ln>
        </p:spPr>
      </p:sp>
      <p:sp>
        <p:nvSpPr>
          <p:cNvPr id="26" name="Shape 22"/>
          <p:cNvSpPr/>
          <p:nvPr/>
        </p:nvSpPr>
        <p:spPr>
          <a:xfrm>
            <a:off x="8503920" y="2523744"/>
            <a:ext cx="2011680" cy="201168"/>
          </a:xfrm>
          <a:prstGeom prst="roundRect">
            <a:avLst>
              <a:gd name="adj" fmla="val 27273"/>
            </a:avLst>
          </a:prstGeom>
          <a:solidFill>
            <a:srgbClr val="111A3C"/>
          </a:solidFill>
          <a:ln w="12700">
            <a:solidFill>
              <a:srgbClr val="1E2A55"/>
            </a:solidFill>
            <a:prstDash val="solid"/>
          </a:ln>
        </p:spPr>
      </p:sp>
      <p:sp>
        <p:nvSpPr>
          <p:cNvPr id="27" name="Shape 23"/>
          <p:cNvSpPr/>
          <p:nvPr/>
        </p:nvSpPr>
        <p:spPr>
          <a:xfrm>
            <a:off x="8503920" y="2788920"/>
            <a:ext cx="2011680" cy="201168"/>
          </a:xfrm>
          <a:prstGeom prst="roundRect">
            <a:avLst>
              <a:gd name="adj" fmla="val 27273"/>
            </a:avLst>
          </a:prstGeom>
          <a:solidFill>
            <a:srgbClr val="1B2A6B"/>
          </a:solidFill>
          <a:ln w="12700">
            <a:solidFill>
              <a:srgbClr val="3257F0"/>
            </a:solidFill>
            <a:prstDash val="solid"/>
          </a:ln>
        </p:spPr>
      </p:sp>
      <p:sp>
        <p:nvSpPr>
          <p:cNvPr id="28" name="Shape 24"/>
          <p:cNvSpPr/>
          <p:nvPr/>
        </p:nvSpPr>
        <p:spPr>
          <a:xfrm>
            <a:off x="8503920" y="3054096"/>
            <a:ext cx="2011680" cy="201168"/>
          </a:xfrm>
          <a:prstGeom prst="roundRect">
            <a:avLst>
              <a:gd name="adj" fmla="val 27273"/>
            </a:avLst>
          </a:prstGeom>
          <a:solidFill>
            <a:srgbClr val="111A3C"/>
          </a:solidFill>
          <a:ln w="12700">
            <a:solidFill>
              <a:srgbClr val="1E2A55"/>
            </a:solidFill>
            <a:prstDash val="solid"/>
          </a:ln>
        </p:spPr>
      </p:sp>
      <p:sp>
        <p:nvSpPr>
          <p:cNvPr id="29" name="Shape 25"/>
          <p:cNvSpPr/>
          <p:nvPr/>
        </p:nvSpPr>
        <p:spPr>
          <a:xfrm>
            <a:off x="8503920" y="3319272"/>
            <a:ext cx="2011680" cy="201168"/>
          </a:xfrm>
          <a:prstGeom prst="roundRect">
            <a:avLst>
              <a:gd name="adj" fmla="val 27273"/>
            </a:avLst>
          </a:prstGeom>
          <a:solidFill>
            <a:srgbClr val="1B2A6B"/>
          </a:solidFill>
          <a:ln w="12700">
            <a:solidFill>
              <a:srgbClr val="3257F0"/>
            </a:solidFill>
            <a:prstDash val="solid"/>
          </a:ln>
        </p:spPr>
      </p:sp>
      <p:sp>
        <p:nvSpPr>
          <p:cNvPr id="30" name="Text 26"/>
          <p:cNvSpPr txBox="1"/>
          <p:nvPr/>
        </p:nvSpPr>
        <p:spPr>
          <a:xfrm>
            <a:off x="8503920" y="3584448"/>
            <a:ext cx="2011680" cy="292608"/>
          </a:xfrm>
          <a:prstGeom prst="rect">
            <a:avLst/>
          </a:prstGeom>
          <a:noFill/>
          <a:ln/>
        </p:spPr>
        <p:txBody>
          <a:bodyPr wrap="square" lIns="0" tIns="0" rIns="0" bIns="0" rtlCol="0" anchor="ctr"/>
          <a:lstStyle/>
          <a:p>
            <a:pPr marL="0" indent="0" algn="ctr">
              <a:buNone/>
            </a:pPr>
            <a:r>
              <a:rPr lang="en-US" sz="1800" dirty="0">
                <a:solidFill>
                  <a:srgbClr val="9FB0D6"/>
                </a:solidFill>
                <a:latin typeface="Inter" pitchFamily="34" charset="0"/>
                <a:ea typeface="Inter" pitchFamily="34" charset="-122"/>
                <a:cs typeface="Inter" pitchFamily="34" charset="-120"/>
              </a:rPr>
              <a:t>Turn 4</a:t>
            </a:r>
            <a:endParaRPr lang="en-US" sz="1800" dirty="0"/>
          </a:p>
        </p:txBody>
      </p:sp>
      <p:sp>
        <p:nvSpPr>
          <p:cNvPr id="31" name="Shape 27"/>
          <p:cNvSpPr/>
          <p:nvPr/>
        </p:nvSpPr>
        <p:spPr>
          <a:xfrm>
            <a:off x="868680" y="3931920"/>
            <a:ext cx="10424160" cy="1481328"/>
          </a:xfrm>
          <a:prstGeom prst="roundRect">
            <a:avLst>
              <a:gd name="adj" fmla="val 6173"/>
            </a:avLst>
          </a:prstGeom>
          <a:solidFill>
            <a:srgbClr val="0A1024"/>
          </a:solidFill>
          <a:ln w="12700">
            <a:solidFill>
              <a:srgbClr val="1E2A55"/>
            </a:solidFill>
            <a:prstDash val="solid"/>
          </a:ln>
        </p:spPr>
      </p:sp>
      <p:sp>
        <p:nvSpPr>
          <p:cNvPr id="32" name="Text 28"/>
          <p:cNvSpPr txBox="1"/>
          <p:nvPr/>
        </p:nvSpPr>
        <p:spPr>
          <a:xfrm>
            <a:off x="1179576" y="4242816"/>
            <a:ext cx="9802368" cy="859536"/>
          </a:xfrm>
          <a:prstGeom prst="rect">
            <a:avLst/>
          </a:prstGeom>
          <a:noFill/>
          <a:ln/>
        </p:spPr>
        <p:txBody>
          <a:bodyPr wrap="square" lIns="0" tIns="0" rIns="0" bIns="0" rtlCol="0" anchor="t"/>
          <a:lstStyle/>
          <a:p>
            <a:pPr marL="0" indent="0">
              <a:lnSpc>
                <a:spcPct val="118000"/>
              </a:lnSpc>
              <a:spcAft>
                <a:spcPts val="612"/>
              </a:spcAft>
              <a:buNone/>
            </a:pPr>
            <a:r>
              <a:rPr lang="en-US" sz="1400" dirty="0">
                <a:solidFill>
                  <a:srgbClr val="EAF0FF"/>
                </a:solidFill>
                <a:latin typeface="Inter" pitchFamily="34" charset="0"/>
                <a:ea typeface="Inter" pitchFamily="34" charset="-122"/>
                <a:cs typeface="Inter" pitchFamily="34" charset="-120"/>
              </a:rPr>
              <a:t>doesn't remember. It re-reads. Every turn, the app ships the entire transcript back up the wire, so turn four is not one message, it is seven.</a:t>
            </a:r>
            <a:endParaRPr lang="en-US" sz="1400" dirty="0"/>
          </a:p>
          <a:p>
            <a:pPr>
              <a:lnSpc>
                <a:spcPct val="118000"/>
              </a:lnSpc>
              <a:spcAft>
                <a:spcPts val="612"/>
              </a:spcAft>
            </a:pPr>
            <a:r>
              <a:rPr lang="en-US" sz="1400" dirty="0">
                <a:solidFill>
                  <a:srgbClr val="9FB0D6"/>
                </a:solidFill>
                <a:latin typeface="Inter" pitchFamily="34" charset="0"/>
                <a:ea typeface="Inter" pitchFamily="34" charset="-122"/>
                <a:cs typeface="Inter" pitchFamily="34" charset="-120"/>
              </a:rPr>
              <a:t>A stateless model plus your own state management gives an application that remembers. Stateless describes the call, not what you can build around it.</a:t>
            </a:r>
            <a:r>
              <a:rPr lang="en-US" sz="1400" dirty="0">
                <a:solidFill>
                  <a:srgbClr val="EAF0FF"/>
                </a:solidFill>
                <a:latin typeface="Inter" pitchFamily="34" charset="0"/>
                <a:ea typeface="Inter" pitchFamily="34" charset="-122"/>
                <a:cs typeface="Inter" pitchFamily="34" charset="-120"/>
              </a:rPr>
              <a:t> ChatGPT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7</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4300" b="1" dirty="0">
                <a:solidFill>
                  <a:srgbClr val="EAF0FF"/>
                </a:solidFill>
                <a:latin typeface="Poppins" pitchFamily="34" charset="0"/>
                <a:ea typeface="Poppins" pitchFamily="34" charset="-122"/>
                <a:cs typeface="Poppins" pitchFamily="34" charset="-120"/>
              </a:rPr>
              <a:t>Tokens and the context budget</a:t>
            </a:r>
            <a:endParaRPr lang="en-US" sz="4300" dirty="0"/>
          </a:p>
        </p:txBody>
      </p:sp>
      <p:sp>
        <p:nvSpPr>
          <p:cNvPr id="7" name="Text 3"/>
          <p:cNvSpPr txBox="1"/>
          <p:nvPr/>
        </p:nvSpPr>
        <p:spPr>
          <a:xfrm>
            <a:off x="868680" y="1572768"/>
            <a:ext cx="4937760" cy="731520"/>
          </a:xfrm>
          <a:prstGeom prst="rect">
            <a:avLst/>
          </a:prstGeom>
          <a:noFill/>
          <a:ln/>
        </p:spPr>
        <p:txBody>
          <a:bodyPr wrap="square" lIns="0" tIns="0" rIns="0" bIns="0" rtlCol="0" anchor="ctr"/>
          <a:lstStyle/>
          <a:p>
            <a:pPr marL="0" indent="0">
              <a:buNone/>
            </a:pPr>
            <a:r>
              <a:rPr lang="en-US" sz="3800" b="1" dirty="0">
                <a:solidFill>
                  <a:srgbClr val="3FD0E6"/>
                </a:solidFill>
                <a:latin typeface="Poppins" pitchFamily="34" charset="0"/>
                <a:ea typeface="Poppins" pitchFamily="34" charset="-122"/>
                <a:cs typeface="Poppins" pitchFamily="34" charset="-120"/>
              </a:rPr>
              <a:t>~200,000</a:t>
            </a:r>
            <a:r>
              <a:rPr lang="en-US" sz="3800" b="1" dirty="0">
                <a:solidFill>
                  <a:srgbClr val="EAF0FF"/>
                </a:solidFill>
                <a:latin typeface="Poppins" pitchFamily="34" charset="0"/>
                <a:ea typeface="Poppins" pitchFamily="34" charset="-122"/>
                <a:cs typeface="Poppins" pitchFamily="34" charset="-120"/>
              </a:rPr>
              <a:t>  tokens</a:t>
            </a:r>
            <a:endParaRPr lang="en-US" sz="3800" dirty="0"/>
          </a:p>
        </p:txBody>
      </p:sp>
      <p:sp>
        <p:nvSpPr>
          <p:cNvPr id="8" name="Shape 4"/>
          <p:cNvSpPr/>
          <p:nvPr/>
        </p:nvSpPr>
        <p:spPr>
          <a:xfrm>
            <a:off x="868680" y="2423160"/>
            <a:ext cx="4937760" cy="2971800"/>
          </a:xfrm>
          <a:prstGeom prst="roundRect">
            <a:avLst>
              <a:gd name="adj" fmla="val 3077"/>
            </a:avLst>
          </a:prstGeom>
          <a:solidFill>
            <a:srgbClr val="0A1024"/>
          </a:solidFill>
          <a:ln w="12700">
            <a:solidFill>
              <a:srgbClr val="1E2A55"/>
            </a:solidFill>
            <a:prstDash val="solid"/>
          </a:ln>
        </p:spPr>
      </p:sp>
      <p:sp>
        <p:nvSpPr>
          <p:cNvPr id="9" name="Text 5"/>
          <p:cNvSpPr txBox="1"/>
          <p:nvPr/>
        </p:nvSpPr>
        <p:spPr>
          <a:xfrm>
            <a:off x="1179576" y="2734056"/>
            <a:ext cx="4315968" cy="2350008"/>
          </a:xfrm>
          <a:prstGeom prst="rect">
            <a:avLst/>
          </a:prstGeom>
          <a:noFill/>
          <a:ln/>
        </p:spPr>
        <p:txBody>
          <a:bodyPr wrap="square" lIns="0" tIns="0" rIns="0" bIns="0" rtlCol="0" anchor="t"/>
          <a:lstStyle/>
          <a:p>
            <a:pPr marL="0" indent="0">
              <a:lnSpc>
                <a:spcPct val="118000"/>
              </a:lnSpc>
              <a:spcAft>
                <a:spcPts val="876"/>
              </a:spcAft>
              <a:buNone/>
            </a:pPr>
            <a:r>
              <a:rPr lang="en-US" sz="1460" dirty="0">
                <a:solidFill>
                  <a:srgbClr val="EAF0FF"/>
                </a:solidFill>
                <a:latin typeface="Inter" pitchFamily="34" charset="0"/>
                <a:ea typeface="Inter" pitchFamily="34" charset="-122"/>
                <a:cs typeface="Inter" pitchFamily="34" charset="-120"/>
              </a:rPr>
              <a:t>A token is a chunk of text: part of a word, a word, a punctuation mark. Models read tokens, not words.</a:t>
            </a:r>
            <a:endParaRPr lang="en-US" sz="1387" dirty="0"/>
          </a:p>
          <a:p>
            <a:pPr marL="0" indent="0">
              <a:lnSpc>
                <a:spcPct val="118000"/>
              </a:lnSpc>
              <a:spcAft>
                <a:spcPts val="876"/>
              </a:spcAft>
              <a:buNone/>
            </a:pPr>
            <a:r>
              <a:rPr lang="en-US" sz="1387" dirty="0">
                <a:solidFill>
                  <a:srgbClr val="9FB0D6"/>
                </a:solidFill>
                <a:latin typeface="Inter" pitchFamily="34" charset="0"/>
                <a:ea typeface="Inter" pitchFamily="34" charset="-122"/>
                <a:cs typeface="Inter" pitchFamily="34" charset="-120"/>
              </a:rPr>
              <a:t>The context window is the maximum amount of information the model can consider in one request. A hard ceiling, and the whole desk you get to work on.</a:t>
            </a:r>
            <a:endParaRPr lang="en-US" sz="1387" dirty="0"/>
          </a:p>
        </p:txBody>
      </p:sp>
      <p:sp>
        <p:nvSpPr>
          <p:cNvPr id="10" name="Text 6"/>
          <p:cNvSpPr txBox="1"/>
          <p:nvPr/>
        </p:nvSpPr>
        <p:spPr>
          <a:xfrm>
            <a:off x="6355080" y="1554480"/>
            <a:ext cx="2377440" cy="402336"/>
          </a:xfrm>
          <a:prstGeom prst="rect">
            <a:avLst/>
          </a:prstGeom>
          <a:noFill/>
          <a:ln/>
        </p:spPr>
        <p:txBody>
          <a:bodyPr wrap="square" lIns="0" tIns="0" rIns="0" bIns="0" rtlCol="0" anchor="ctr"/>
          <a:lstStyle/>
          <a:p>
            <a:pPr marL="0" indent="0">
              <a:buNone/>
            </a:pPr>
            <a:r>
              <a:rPr lang="en-US" sz="1600" dirty="0">
                <a:solidFill>
                  <a:srgbClr val="9FB0D6"/>
                </a:solidFill>
                <a:latin typeface="Inter" pitchFamily="34" charset="0"/>
                <a:ea typeface="Inter" pitchFamily="34" charset="-122"/>
                <a:cs typeface="Inter" pitchFamily="34" charset="-120"/>
              </a:rPr>
              <a:t>Instructions</a:t>
            </a:r>
            <a:endParaRPr lang="en-US" sz="1600" dirty="0"/>
          </a:p>
        </p:txBody>
      </p:sp>
      <p:sp>
        <p:nvSpPr>
          <p:cNvPr id="11" name="Shape 7"/>
          <p:cNvSpPr/>
          <p:nvPr/>
        </p:nvSpPr>
        <p:spPr>
          <a:xfrm>
            <a:off x="8823960" y="1627632"/>
            <a:ext cx="228600" cy="237744"/>
          </a:xfrm>
          <a:prstGeom prst="roundRect">
            <a:avLst>
              <a:gd name="adj" fmla="val 20000"/>
            </a:avLst>
          </a:prstGeom>
          <a:solidFill>
            <a:srgbClr val="817AFF"/>
          </a:solidFill>
          <a:ln w="12700">
            <a:solidFill>
              <a:srgbClr val="817AFF"/>
            </a:solidFill>
            <a:prstDash val="solid"/>
          </a:ln>
        </p:spPr>
      </p:sp>
      <p:sp>
        <p:nvSpPr>
          <p:cNvPr id="12" name="Text 8"/>
          <p:cNvSpPr txBox="1"/>
          <p:nvPr/>
        </p:nvSpPr>
        <p:spPr>
          <a:xfrm>
            <a:off x="9162288" y="1554480"/>
            <a:ext cx="731520" cy="402336"/>
          </a:xfrm>
          <a:prstGeom prst="rect">
            <a:avLst/>
          </a:prstGeom>
          <a:noFill/>
          <a:ln/>
        </p:spPr>
        <p:txBody>
          <a:bodyPr wrap="square" lIns="0" tIns="0" rIns="0" bIns="0" rtlCol="0" anchor="ctr"/>
          <a:lstStyle/>
          <a:p>
            <a:pPr marL="0" indent="0">
              <a:buNone/>
            </a:pPr>
            <a:r>
              <a:rPr lang="en-US" sz="1400" dirty="0">
                <a:solidFill>
                  <a:srgbClr val="6E80B4"/>
                </a:solidFill>
                <a:latin typeface="Inter" pitchFamily="34" charset="0"/>
                <a:ea typeface="Inter" pitchFamily="34" charset="-122"/>
                <a:cs typeface="Inter" pitchFamily="34" charset="-120"/>
              </a:rPr>
              <a:t>5K</a:t>
            </a:r>
            <a:endParaRPr lang="en-US" sz="1400" dirty="0"/>
          </a:p>
        </p:txBody>
      </p:sp>
      <p:sp>
        <p:nvSpPr>
          <p:cNvPr id="13" name="Text 9"/>
          <p:cNvSpPr txBox="1"/>
          <p:nvPr/>
        </p:nvSpPr>
        <p:spPr>
          <a:xfrm>
            <a:off x="6355080" y="2066544"/>
            <a:ext cx="2377440" cy="402336"/>
          </a:xfrm>
          <a:prstGeom prst="rect">
            <a:avLst/>
          </a:prstGeom>
          <a:noFill/>
          <a:ln/>
        </p:spPr>
        <p:txBody>
          <a:bodyPr wrap="square" lIns="0" tIns="0" rIns="0" bIns="0" rtlCol="0" anchor="ctr"/>
          <a:lstStyle/>
          <a:p>
            <a:pPr marL="0" indent="0">
              <a:buNone/>
            </a:pPr>
            <a:r>
              <a:rPr lang="en-US" sz="1600" dirty="0">
                <a:solidFill>
                  <a:srgbClr val="9FB0D6"/>
                </a:solidFill>
                <a:latin typeface="Inter" pitchFamily="34" charset="0"/>
                <a:ea typeface="Inter" pitchFamily="34" charset="-122"/>
                <a:cs typeface="Inter" pitchFamily="34" charset="-120"/>
              </a:rPr>
              <a:t>Conversation history</a:t>
            </a:r>
            <a:endParaRPr lang="en-US" sz="1600" dirty="0"/>
          </a:p>
        </p:txBody>
      </p:sp>
      <p:sp>
        <p:nvSpPr>
          <p:cNvPr id="14" name="Shape 10"/>
          <p:cNvSpPr/>
          <p:nvPr/>
        </p:nvSpPr>
        <p:spPr>
          <a:xfrm>
            <a:off x="8823960" y="2139696"/>
            <a:ext cx="1828800" cy="237744"/>
          </a:xfrm>
          <a:prstGeom prst="roundRect">
            <a:avLst>
              <a:gd name="adj" fmla="val 19231"/>
            </a:avLst>
          </a:prstGeom>
          <a:solidFill>
            <a:srgbClr val="3257F0"/>
          </a:solidFill>
          <a:ln w="12700">
            <a:solidFill>
              <a:srgbClr val="3257F0"/>
            </a:solidFill>
            <a:prstDash val="solid"/>
          </a:ln>
        </p:spPr>
      </p:sp>
      <p:sp>
        <p:nvSpPr>
          <p:cNvPr id="15" name="Text 11"/>
          <p:cNvSpPr txBox="1"/>
          <p:nvPr/>
        </p:nvSpPr>
        <p:spPr>
          <a:xfrm>
            <a:off x="10762488" y="2066544"/>
            <a:ext cx="731520" cy="402336"/>
          </a:xfrm>
          <a:prstGeom prst="rect">
            <a:avLst/>
          </a:prstGeom>
          <a:noFill/>
          <a:ln/>
        </p:spPr>
        <p:txBody>
          <a:bodyPr wrap="square" lIns="0" tIns="0" rIns="0" bIns="0" rtlCol="0" anchor="ctr"/>
          <a:lstStyle/>
          <a:p>
            <a:pPr marL="0" indent="0">
              <a:buNone/>
            </a:pPr>
            <a:r>
              <a:rPr lang="en-US" sz="1400" dirty="0">
                <a:solidFill>
                  <a:srgbClr val="6E80B4"/>
                </a:solidFill>
                <a:latin typeface="Inter" pitchFamily="34" charset="0"/>
                <a:ea typeface="Inter" pitchFamily="34" charset="-122"/>
                <a:cs typeface="Inter" pitchFamily="34" charset="-120"/>
              </a:rPr>
              <a:t>40K</a:t>
            </a:r>
            <a:endParaRPr lang="en-US" sz="1400" dirty="0"/>
          </a:p>
        </p:txBody>
      </p:sp>
      <p:sp>
        <p:nvSpPr>
          <p:cNvPr id="16" name="Text 12"/>
          <p:cNvSpPr txBox="1"/>
          <p:nvPr/>
        </p:nvSpPr>
        <p:spPr>
          <a:xfrm>
            <a:off x="6355080" y="2578608"/>
            <a:ext cx="2377440" cy="402336"/>
          </a:xfrm>
          <a:prstGeom prst="rect">
            <a:avLst/>
          </a:prstGeom>
          <a:noFill/>
          <a:ln/>
        </p:spPr>
        <p:txBody>
          <a:bodyPr wrap="square" lIns="0" tIns="0" rIns="0" bIns="0" rtlCol="0" anchor="ctr"/>
          <a:lstStyle/>
          <a:p>
            <a:pPr marL="0" indent="0">
              <a:buNone/>
            </a:pPr>
            <a:r>
              <a:rPr lang="en-US" sz="1600" dirty="0">
                <a:solidFill>
                  <a:srgbClr val="9FB0D6"/>
                </a:solidFill>
                <a:latin typeface="Inter" pitchFamily="34" charset="0"/>
                <a:ea typeface="Inter" pitchFamily="34" charset="-122"/>
                <a:cs typeface="Inter" pitchFamily="34" charset="-120"/>
              </a:rPr>
              <a:t>Retrieved memories</a:t>
            </a:r>
            <a:endParaRPr lang="en-US" sz="1600" dirty="0"/>
          </a:p>
        </p:txBody>
      </p:sp>
      <p:sp>
        <p:nvSpPr>
          <p:cNvPr id="17" name="Shape 13"/>
          <p:cNvSpPr/>
          <p:nvPr/>
        </p:nvSpPr>
        <p:spPr>
          <a:xfrm>
            <a:off x="8823960" y="2651760"/>
            <a:ext cx="457200" cy="237744"/>
          </a:xfrm>
          <a:prstGeom prst="roundRect">
            <a:avLst>
              <a:gd name="adj" fmla="val 19231"/>
            </a:avLst>
          </a:prstGeom>
          <a:solidFill>
            <a:srgbClr val="5B6BE8"/>
          </a:solidFill>
          <a:ln w="12700">
            <a:solidFill>
              <a:srgbClr val="5B6BE8"/>
            </a:solidFill>
            <a:prstDash val="solid"/>
          </a:ln>
        </p:spPr>
      </p:sp>
      <p:sp>
        <p:nvSpPr>
          <p:cNvPr id="18" name="Text 14"/>
          <p:cNvSpPr txBox="1"/>
          <p:nvPr/>
        </p:nvSpPr>
        <p:spPr>
          <a:xfrm>
            <a:off x="9390888" y="2578608"/>
            <a:ext cx="731520" cy="402336"/>
          </a:xfrm>
          <a:prstGeom prst="rect">
            <a:avLst/>
          </a:prstGeom>
          <a:noFill/>
          <a:ln/>
        </p:spPr>
        <p:txBody>
          <a:bodyPr wrap="square" lIns="0" tIns="0" rIns="0" bIns="0" rtlCol="0" anchor="ctr"/>
          <a:lstStyle/>
          <a:p>
            <a:pPr marL="0" indent="0">
              <a:buNone/>
            </a:pPr>
            <a:r>
              <a:rPr lang="en-US" sz="1400" dirty="0">
                <a:solidFill>
                  <a:srgbClr val="6E80B4"/>
                </a:solidFill>
                <a:latin typeface="Inter" pitchFamily="34" charset="0"/>
                <a:ea typeface="Inter" pitchFamily="34" charset="-122"/>
                <a:cs typeface="Inter" pitchFamily="34" charset="-120"/>
              </a:rPr>
              <a:t>10K</a:t>
            </a:r>
            <a:endParaRPr lang="en-US" sz="1400" dirty="0"/>
          </a:p>
        </p:txBody>
      </p:sp>
      <p:sp>
        <p:nvSpPr>
          <p:cNvPr id="19" name="Text 15"/>
          <p:cNvSpPr txBox="1"/>
          <p:nvPr/>
        </p:nvSpPr>
        <p:spPr>
          <a:xfrm>
            <a:off x="6355080" y="3090672"/>
            <a:ext cx="2377440" cy="402336"/>
          </a:xfrm>
          <a:prstGeom prst="rect">
            <a:avLst/>
          </a:prstGeom>
          <a:noFill/>
          <a:ln/>
        </p:spPr>
        <p:txBody>
          <a:bodyPr wrap="square" lIns="0" tIns="0" rIns="0" bIns="0" rtlCol="0" anchor="ctr"/>
          <a:lstStyle/>
          <a:p>
            <a:pPr marL="0" indent="0">
              <a:buNone/>
            </a:pPr>
            <a:r>
              <a:rPr lang="en-US" sz="1600" dirty="0">
                <a:solidFill>
                  <a:srgbClr val="9FB0D6"/>
                </a:solidFill>
                <a:latin typeface="Inter" pitchFamily="34" charset="0"/>
                <a:ea typeface="Inter" pitchFamily="34" charset="-122"/>
                <a:cs typeface="Inter" pitchFamily="34" charset="-120"/>
              </a:rPr>
              <a:t>Retrieved documents</a:t>
            </a:r>
            <a:endParaRPr lang="en-US" sz="1600" dirty="0"/>
          </a:p>
        </p:txBody>
      </p:sp>
      <p:sp>
        <p:nvSpPr>
          <p:cNvPr id="20" name="Shape 16"/>
          <p:cNvSpPr/>
          <p:nvPr/>
        </p:nvSpPr>
        <p:spPr>
          <a:xfrm>
            <a:off x="8823960" y="3163824"/>
            <a:ext cx="914400" cy="237744"/>
          </a:xfrm>
          <a:prstGeom prst="roundRect">
            <a:avLst>
              <a:gd name="adj" fmla="val 19231"/>
            </a:avLst>
          </a:prstGeom>
          <a:solidFill>
            <a:srgbClr val="2E7FD6"/>
          </a:solidFill>
          <a:ln w="12700">
            <a:solidFill>
              <a:srgbClr val="2E7FD6"/>
            </a:solidFill>
            <a:prstDash val="solid"/>
          </a:ln>
        </p:spPr>
      </p:sp>
      <p:sp>
        <p:nvSpPr>
          <p:cNvPr id="21" name="Text 17"/>
          <p:cNvSpPr txBox="1"/>
          <p:nvPr/>
        </p:nvSpPr>
        <p:spPr>
          <a:xfrm>
            <a:off x="9848088" y="3090672"/>
            <a:ext cx="731520" cy="402336"/>
          </a:xfrm>
          <a:prstGeom prst="rect">
            <a:avLst/>
          </a:prstGeom>
          <a:noFill/>
          <a:ln/>
        </p:spPr>
        <p:txBody>
          <a:bodyPr wrap="square" lIns="0" tIns="0" rIns="0" bIns="0" rtlCol="0" anchor="ctr"/>
          <a:lstStyle/>
          <a:p>
            <a:pPr marL="0" indent="0">
              <a:buNone/>
            </a:pPr>
            <a:r>
              <a:rPr lang="en-US" sz="1400" dirty="0">
                <a:solidFill>
                  <a:srgbClr val="6E80B4"/>
                </a:solidFill>
                <a:latin typeface="Inter" pitchFamily="34" charset="0"/>
                <a:ea typeface="Inter" pitchFamily="34" charset="-122"/>
                <a:cs typeface="Inter" pitchFamily="34" charset="-120"/>
              </a:rPr>
              <a:t>20K</a:t>
            </a:r>
            <a:endParaRPr lang="en-US" sz="1400" dirty="0"/>
          </a:p>
        </p:txBody>
      </p:sp>
      <p:sp>
        <p:nvSpPr>
          <p:cNvPr id="22" name="Text 18"/>
          <p:cNvSpPr txBox="1"/>
          <p:nvPr/>
        </p:nvSpPr>
        <p:spPr>
          <a:xfrm>
            <a:off x="6355080" y="3602736"/>
            <a:ext cx="2377440" cy="402336"/>
          </a:xfrm>
          <a:prstGeom prst="rect">
            <a:avLst/>
          </a:prstGeom>
          <a:noFill/>
          <a:ln/>
        </p:spPr>
        <p:txBody>
          <a:bodyPr wrap="square" lIns="0" tIns="0" rIns="0" bIns="0" rtlCol="0" anchor="ctr"/>
          <a:lstStyle/>
          <a:p>
            <a:pPr marL="0" indent="0">
              <a:buNone/>
            </a:pPr>
            <a:r>
              <a:rPr lang="en-US" sz="1600" dirty="0">
                <a:solidFill>
                  <a:srgbClr val="9FB0D6"/>
                </a:solidFill>
                <a:latin typeface="Inter" pitchFamily="34" charset="0"/>
                <a:ea typeface="Inter" pitchFamily="34" charset="-122"/>
                <a:cs typeface="Inter" pitchFamily="34" charset="-120"/>
              </a:rPr>
              <a:t>Current message</a:t>
            </a:r>
            <a:endParaRPr lang="en-US" sz="1600" dirty="0"/>
          </a:p>
        </p:txBody>
      </p:sp>
      <p:sp>
        <p:nvSpPr>
          <p:cNvPr id="23" name="Shape 19"/>
          <p:cNvSpPr/>
          <p:nvPr/>
        </p:nvSpPr>
        <p:spPr>
          <a:xfrm>
            <a:off x="8823960" y="3675888"/>
            <a:ext cx="228600" cy="237744"/>
          </a:xfrm>
          <a:prstGeom prst="roundRect">
            <a:avLst>
              <a:gd name="adj" fmla="val 20000"/>
            </a:avLst>
          </a:prstGeom>
          <a:solidFill>
            <a:srgbClr val="3FD0E6"/>
          </a:solidFill>
          <a:ln w="12700">
            <a:solidFill>
              <a:srgbClr val="3FD0E6"/>
            </a:solidFill>
            <a:prstDash val="solid"/>
          </a:ln>
        </p:spPr>
      </p:sp>
      <p:sp>
        <p:nvSpPr>
          <p:cNvPr id="24" name="Text 20"/>
          <p:cNvSpPr txBox="1"/>
          <p:nvPr/>
        </p:nvSpPr>
        <p:spPr>
          <a:xfrm>
            <a:off x="9162288" y="3602736"/>
            <a:ext cx="731520" cy="402336"/>
          </a:xfrm>
          <a:prstGeom prst="rect">
            <a:avLst/>
          </a:prstGeom>
          <a:noFill/>
          <a:ln/>
        </p:spPr>
        <p:txBody>
          <a:bodyPr wrap="square" lIns="0" tIns="0" rIns="0" bIns="0" rtlCol="0" anchor="ctr"/>
          <a:lstStyle/>
          <a:p>
            <a:pPr marL="0" indent="0">
              <a:buNone/>
            </a:pPr>
            <a:r>
              <a:rPr lang="en-US" sz="1400" dirty="0">
                <a:solidFill>
                  <a:srgbClr val="6E80B4"/>
                </a:solidFill>
                <a:latin typeface="Inter" pitchFamily="34" charset="0"/>
                <a:ea typeface="Inter" pitchFamily="34" charset="-122"/>
                <a:cs typeface="Inter" pitchFamily="34" charset="-120"/>
              </a:rPr>
              <a:t>5K</a:t>
            </a:r>
            <a:endParaRPr lang="en-US" sz="1400" dirty="0"/>
          </a:p>
        </p:txBody>
      </p:sp>
      <p:sp>
        <p:nvSpPr>
          <p:cNvPr id="25" name="Text 21"/>
          <p:cNvSpPr txBox="1"/>
          <p:nvPr/>
        </p:nvSpPr>
        <p:spPr>
          <a:xfrm>
            <a:off x="6355080" y="4114800"/>
            <a:ext cx="2377440" cy="402336"/>
          </a:xfrm>
          <a:prstGeom prst="rect">
            <a:avLst/>
          </a:prstGeom>
          <a:noFill/>
          <a:ln/>
        </p:spPr>
        <p:txBody>
          <a:bodyPr wrap="square" lIns="0" tIns="0" rIns="0" bIns="0" rtlCol="0" anchor="ctr"/>
          <a:lstStyle/>
          <a:p>
            <a:pPr marL="0" indent="0">
              <a:buNone/>
            </a:pPr>
            <a:r>
              <a:rPr lang="en-US" sz="1600" dirty="0">
                <a:solidFill>
                  <a:srgbClr val="9FB0D6"/>
                </a:solidFill>
                <a:latin typeface="Inter" pitchFamily="34" charset="0"/>
                <a:ea typeface="Inter" pitchFamily="34" charset="-122"/>
                <a:cs typeface="Inter" pitchFamily="34" charset="-120"/>
              </a:rPr>
              <a:t>Room for the reply</a:t>
            </a:r>
            <a:endParaRPr lang="en-US" sz="1600" dirty="0"/>
          </a:p>
        </p:txBody>
      </p:sp>
      <p:sp>
        <p:nvSpPr>
          <p:cNvPr id="26" name="Shape 22"/>
          <p:cNvSpPr/>
          <p:nvPr/>
        </p:nvSpPr>
        <p:spPr>
          <a:xfrm>
            <a:off x="8823960" y="4187952"/>
            <a:ext cx="914400" cy="237744"/>
          </a:xfrm>
          <a:prstGeom prst="roundRect">
            <a:avLst>
              <a:gd name="adj" fmla="val 19231"/>
            </a:avLst>
          </a:prstGeom>
          <a:solidFill>
            <a:srgbClr val="F5C542"/>
          </a:solidFill>
          <a:ln w="12700">
            <a:solidFill>
              <a:srgbClr val="F5C542"/>
            </a:solidFill>
            <a:prstDash val="solid"/>
          </a:ln>
        </p:spPr>
      </p:sp>
      <p:sp>
        <p:nvSpPr>
          <p:cNvPr id="27" name="Text 23"/>
          <p:cNvSpPr txBox="1"/>
          <p:nvPr/>
        </p:nvSpPr>
        <p:spPr>
          <a:xfrm>
            <a:off x="9848088" y="4114800"/>
            <a:ext cx="731520" cy="402336"/>
          </a:xfrm>
          <a:prstGeom prst="rect">
            <a:avLst/>
          </a:prstGeom>
          <a:noFill/>
          <a:ln/>
        </p:spPr>
        <p:txBody>
          <a:bodyPr wrap="square" lIns="0" tIns="0" rIns="0" bIns="0" rtlCol="0" anchor="ctr"/>
          <a:lstStyle/>
          <a:p>
            <a:pPr marL="0" indent="0">
              <a:buNone/>
            </a:pPr>
            <a:r>
              <a:rPr lang="en-US" sz="1400" dirty="0">
                <a:solidFill>
                  <a:srgbClr val="6E80B4"/>
                </a:solidFill>
                <a:latin typeface="Inter" pitchFamily="34" charset="0"/>
                <a:ea typeface="Inter" pitchFamily="34" charset="-122"/>
                <a:cs typeface="Inter" pitchFamily="34" charset="-120"/>
              </a:rPr>
              <a:t>20K</a:t>
            </a:r>
            <a:endParaRPr lang="en-US" sz="1400" dirty="0"/>
          </a:p>
        </p:txBody>
      </p:sp>
      <p:sp>
        <p:nvSpPr>
          <p:cNvPr id="28" name="Text 24"/>
          <p:cNvSpPr txBox="1"/>
          <p:nvPr/>
        </p:nvSpPr>
        <p:spPr>
          <a:xfrm>
            <a:off x="6355080" y="4709160"/>
            <a:ext cx="4937760" cy="731520"/>
          </a:xfrm>
          <a:prstGeom prst="rect">
            <a:avLst/>
          </a:prstGeom>
          <a:noFill/>
          <a:ln/>
        </p:spPr>
        <p:txBody>
          <a:bodyPr wrap="square" lIns="0" tIns="0" rIns="0" bIns="0" rtlCol="0" anchor="t"/>
          <a:lstStyle/>
          <a:p>
            <a:pPr marL="0" indent="0">
              <a:lnSpc>
                <a:spcPct val="120000"/>
              </a:lnSpc>
              <a:buNone/>
            </a:pPr>
            <a:r>
              <a:rPr lang="en-US" sz="1800" dirty="0">
                <a:solidFill>
                  <a:srgbClr val="EAF0FF"/>
                </a:solidFill>
                <a:latin typeface="Inter" pitchFamily="34" charset="0"/>
                <a:ea typeface="Inter" pitchFamily="34" charset="-122"/>
                <a:cs typeface="Inter" pitchFamily="34" charset="-120"/>
              </a:rPr>
              <a:t>History is one line item, and the only one that grows without limit.</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8</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4300" b="1" dirty="0">
                <a:solidFill>
                  <a:srgbClr val="EAF0FF"/>
                </a:solidFill>
                <a:latin typeface="Poppins" pitchFamily="34" charset="0"/>
                <a:ea typeface="Poppins" pitchFamily="34" charset="-122"/>
                <a:cs typeface="Poppins" pitchFamily="34" charset="-120"/>
              </a:rPr>
              <a:t>History vs memory</a:t>
            </a:r>
            <a:endParaRPr lang="en-US" sz="4300" dirty="0"/>
          </a:p>
        </p:txBody>
      </p:sp>
      <p:sp>
        <p:nvSpPr>
          <p:cNvPr id="7" name="Shape 3"/>
          <p:cNvSpPr/>
          <p:nvPr/>
        </p:nvSpPr>
        <p:spPr>
          <a:xfrm>
            <a:off x="868680" y="1600200"/>
            <a:ext cx="4937760" cy="3794760"/>
          </a:xfrm>
          <a:prstGeom prst="roundRect">
            <a:avLst>
              <a:gd name="adj" fmla="val 2410"/>
            </a:avLst>
          </a:prstGeom>
          <a:solidFill>
            <a:srgbClr val="0A1024"/>
          </a:solidFill>
          <a:ln w="12700">
            <a:solidFill>
              <a:srgbClr val="1E2A55"/>
            </a:solidFill>
            <a:prstDash val="solid"/>
          </a:ln>
        </p:spPr>
      </p:sp>
      <p:sp>
        <p:nvSpPr>
          <p:cNvPr id="8" name="Text 4"/>
          <p:cNvSpPr txBox="1"/>
          <p:nvPr/>
        </p:nvSpPr>
        <p:spPr>
          <a:xfrm>
            <a:off x="11795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3FD0E6"/>
                </a:solidFill>
                <a:latin typeface="Inter" pitchFamily="34" charset="0"/>
                <a:ea typeface="Inter" pitchFamily="34" charset="-122"/>
                <a:cs typeface="Inter" pitchFamily="34" charset="-120"/>
              </a:rPr>
              <a:t>HISTORY</a:t>
            </a:r>
            <a:endParaRPr lang="en-US" sz="1550" dirty="0"/>
          </a:p>
        </p:txBody>
      </p:sp>
      <p:sp>
        <p:nvSpPr>
          <p:cNvPr id="9" name="Text 5"/>
          <p:cNvSpPr txBox="1"/>
          <p:nvPr/>
        </p:nvSpPr>
        <p:spPr>
          <a:xfrm>
            <a:off x="1179576" y="2258568"/>
            <a:ext cx="4315968" cy="2862072"/>
          </a:xfrm>
          <a:prstGeom prst="rect">
            <a:avLst/>
          </a:prstGeom>
          <a:noFill/>
          <a:ln/>
        </p:spPr>
        <p:txBody>
          <a:bodyPr wrap="square" lIns="0" tIns="0" rIns="0" bIns="0" rtlCol="0" anchor="t"/>
          <a:lstStyle/>
          <a:p>
            <a:pPr marL="0" indent="0">
              <a:lnSpc>
                <a:spcPct val="118000"/>
              </a:lnSpc>
              <a:spcAft>
                <a:spcPts val="1183"/>
              </a:spcAft>
              <a:buNone/>
            </a:pPr>
            <a:r>
              <a:rPr lang="en-US" sz="1911" dirty="0">
                <a:solidFill>
                  <a:srgbClr val="EAF0FF"/>
                </a:solidFill>
                <a:latin typeface="Inter" pitchFamily="34" charset="0"/>
                <a:ea typeface="Inter" pitchFamily="34" charset="-122"/>
                <a:cs typeface="Inter" pitchFamily="34" charset="-120"/>
              </a:rPr>
              <a:t>What was said.</a:t>
            </a:r>
            <a:endParaRPr lang="en-US" sz="1911" dirty="0"/>
          </a:p>
          <a:p>
            <a:pPr marL="0" indent="0">
              <a:lnSpc>
                <a:spcPct val="118000"/>
              </a:lnSpc>
              <a:spcAft>
                <a:spcPts val="1183"/>
              </a:spcAft>
              <a:buNone/>
            </a:pPr>
            <a:r>
              <a:rPr lang="en-US" sz="1820" dirty="0">
                <a:solidFill>
                  <a:srgbClr val="EAF0FF"/>
                </a:solidFill>
                <a:latin typeface="Inter" pitchFamily="34" charset="0"/>
                <a:ea typeface="Inter" pitchFamily="34" charset="-122"/>
                <a:cs typeface="Inter" pitchFamily="34" charset="-120"/>
              </a:rPr>
              <a:t>Five hundred messages and counting.</a:t>
            </a:r>
            <a:endParaRPr lang="en-US" sz="1911" dirty="0"/>
          </a:p>
          <a:p>
            <a:pPr marL="0" indent="0">
              <a:lnSpc>
                <a:spcPct val="118000"/>
              </a:lnSpc>
              <a:spcAft>
                <a:spcPts val="1183"/>
              </a:spcAft>
              <a:buNone/>
            </a:pPr>
            <a:r>
              <a:rPr lang="en-US" sz="1729" dirty="0">
                <a:solidFill>
                  <a:srgbClr val="9FB0D6"/>
                </a:solidFill>
                <a:latin typeface="Inter" pitchFamily="34" charset="0"/>
                <a:ea typeface="Inter" pitchFamily="34" charset="-122"/>
                <a:cs typeface="Inter" pitchFamily="34" charset="-120"/>
              </a:rPr>
              <a:t>Grows forever, and most of it is noise. Do you really want to resend all of it, every turn, to answer one question?</a:t>
            </a:r>
            <a:endParaRPr lang="en-US" sz="1911" dirty="0"/>
          </a:p>
        </p:txBody>
      </p:sp>
      <p:sp>
        <p:nvSpPr>
          <p:cNvPr id="10" name="Shape 6"/>
          <p:cNvSpPr/>
          <p:nvPr/>
        </p:nvSpPr>
        <p:spPr>
          <a:xfrm>
            <a:off x="6355080" y="1600200"/>
            <a:ext cx="4937760" cy="3794760"/>
          </a:xfrm>
          <a:prstGeom prst="roundRect">
            <a:avLst>
              <a:gd name="adj" fmla="val 2410"/>
            </a:avLst>
          </a:prstGeom>
          <a:solidFill>
            <a:srgbClr val="0A1024"/>
          </a:solidFill>
          <a:ln w="12700">
            <a:solidFill>
              <a:srgbClr val="1E2A55"/>
            </a:solidFill>
            <a:prstDash val="solid"/>
          </a:ln>
        </p:spPr>
      </p:sp>
      <p:sp>
        <p:nvSpPr>
          <p:cNvPr id="11" name="Text 7"/>
          <p:cNvSpPr txBox="1"/>
          <p:nvPr/>
        </p:nvSpPr>
        <p:spPr>
          <a:xfrm>
            <a:off x="66659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F5C542"/>
                </a:solidFill>
                <a:latin typeface="Inter" pitchFamily="34" charset="0"/>
                <a:ea typeface="Inter" pitchFamily="34" charset="-122"/>
                <a:cs typeface="Inter" pitchFamily="34" charset="-120"/>
              </a:rPr>
              <a:t>MEMORY</a:t>
            </a:r>
            <a:endParaRPr lang="en-US" sz="1550" dirty="0"/>
          </a:p>
        </p:txBody>
      </p:sp>
      <p:sp>
        <p:nvSpPr>
          <p:cNvPr id="12" name="Text 8"/>
          <p:cNvSpPr txBox="1"/>
          <p:nvPr/>
        </p:nvSpPr>
        <p:spPr>
          <a:xfrm>
            <a:off x="6665976" y="2258568"/>
            <a:ext cx="4315968" cy="2862072"/>
          </a:xfrm>
          <a:prstGeom prst="rect">
            <a:avLst/>
          </a:prstGeom>
          <a:noFill/>
          <a:ln/>
        </p:spPr>
        <p:txBody>
          <a:bodyPr wrap="square" lIns="0" tIns="0" rIns="0" bIns="0" rtlCol="0" anchor="t"/>
          <a:lstStyle/>
          <a:p>
            <a:pPr marL="0" indent="0">
              <a:lnSpc>
                <a:spcPct val="118000"/>
              </a:lnSpc>
              <a:spcAft>
                <a:spcPts val="1105"/>
              </a:spcAft>
              <a:buNone/>
            </a:pPr>
            <a:r>
              <a:rPr lang="en-US" sz="1785" dirty="0">
                <a:solidFill>
                  <a:srgbClr val="EAF0FF"/>
                </a:solidFill>
                <a:latin typeface="Inter" pitchFamily="34" charset="0"/>
                <a:ea typeface="Inter" pitchFamily="34" charset="-122"/>
                <a:cs typeface="Inter" pitchFamily="34" charset="-120"/>
              </a:rPr>
              <a:t>What is worth keeping.</a:t>
            </a:r>
            <a:endParaRPr lang="en-US" sz="1785" dirty="0"/>
          </a:p>
          <a:p>
            <a:pPr marL="0" indent="0">
              <a:lnSpc>
                <a:spcPct val="118000"/>
              </a:lnSpc>
              <a:spcAft>
                <a:spcPts val="1105"/>
              </a:spcAft>
              <a:buNone/>
            </a:pPr>
            <a:r>
              <a:rPr lang="en-US" sz="1700" dirty="0">
                <a:solidFill>
                  <a:srgbClr val="EAF0FF"/>
                </a:solidFill>
                <a:latin typeface="Inter" pitchFamily="34" charset="0"/>
                <a:ea typeface="Inter" pitchFamily="34" charset="-122"/>
                <a:cs typeface="Inter" pitchFamily="34" charset="-120"/>
              </a:rPr>
              <a:t>Prefers Python. Learning ML. Exam next Friday.</a:t>
            </a:r>
            <a:endParaRPr lang="en-US" sz="1785" dirty="0"/>
          </a:p>
          <a:p>
            <a:pPr marL="0" indent="0">
              <a:lnSpc>
                <a:spcPct val="118000"/>
              </a:lnSpc>
              <a:spcAft>
                <a:spcPts val="1105"/>
              </a:spcAft>
              <a:buNone/>
            </a:pPr>
            <a:r>
              <a:rPr lang="en-US" sz="1615" dirty="0">
                <a:solidFill>
                  <a:srgbClr val="9FB0D6"/>
                </a:solidFill>
                <a:latin typeface="Inter" pitchFamily="34" charset="0"/>
                <a:ea typeface="Inter" pitchFamily="34" charset="-122"/>
                <a:cs typeface="Inter" pitchFamily="34" charset="-120"/>
              </a:rPr>
              <a:t>Four lines, still useful in a month. Replaying the transcript is the crude version. Choosing what to keep is the real one.</a:t>
            </a:r>
            <a:endParaRPr lang="en-US" sz="1785" dirty="0"/>
          </a:p>
        </p:txBody>
      </p:sp>
      <p:sp>
        <p:nvSpPr>
          <p:cNvPr id="13" name="Text 9"/>
          <p:cNvSpPr txBox="1"/>
          <p:nvPr/>
        </p:nvSpPr>
        <p:spPr>
          <a:xfrm>
            <a:off x="868680" y="5486400"/>
            <a:ext cx="10424160" cy="658368"/>
          </a:xfrm>
          <a:prstGeom prst="rect">
            <a:avLst/>
          </a:prstGeom>
          <a:noFill/>
          <a:ln/>
        </p:spPr>
        <p:txBody>
          <a:bodyPr wrap="square" lIns="0" tIns="0" rIns="0" bIns="0" rtlCol="0" anchor="ctr"/>
          <a:lstStyle/>
          <a:p>
            <a:pPr marL="0" indent="0">
              <a:buNone/>
            </a:pPr>
            <a:r>
              <a:rPr lang="en-US" sz="2200" dirty="0">
                <a:solidFill>
                  <a:srgbClr val="9FB0D6"/>
                </a:solidFill>
                <a:latin typeface="Inter" pitchFamily="34" charset="0"/>
                <a:ea typeface="Inter" pitchFamily="34" charset="-122"/>
                <a:cs typeface="Inter" pitchFamily="34" charset="-120"/>
              </a:rPr>
              <a:t>History answers what was said. Memory answers what should be retained for later.</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9</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4300" b="1" dirty="0">
                <a:solidFill>
                  <a:srgbClr val="EAF0FF"/>
                </a:solidFill>
                <a:latin typeface="Poppins" pitchFamily="34" charset="0"/>
                <a:ea typeface="Poppins" pitchFamily="34" charset="-122"/>
                <a:cs typeface="Poppins" pitchFamily="34" charset="-120"/>
              </a:rPr>
              <a:t>The memory pipeline</a:t>
            </a:r>
            <a:endParaRPr lang="en-US" sz="4300" dirty="0"/>
          </a:p>
        </p:txBody>
      </p:sp>
      <p:sp>
        <p:nvSpPr>
          <p:cNvPr id="7" name="Shape 3"/>
          <p:cNvSpPr/>
          <p:nvPr/>
        </p:nvSpPr>
        <p:spPr>
          <a:xfrm>
            <a:off x="868680" y="1600200"/>
            <a:ext cx="5394960" cy="3794760"/>
          </a:xfrm>
          <a:prstGeom prst="roundRect">
            <a:avLst>
              <a:gd name="adj" fmla="val 2410"/>
            </a:avLst>
          </a:prstGeom>
          <a:solidFill>
            <a:srgbClr val="0A1024"/>
          </a:solidFill>
          <a:ln w="12700">
            <a:solidFill>
              <a:srgbClr val="1E2A55"/>
            </a:solidFill>
            <a:prstDash val="solid"/>
          </a:ln>
        </p:spPr>
      </p:sp>
      <p:sp>
        <p:nvSpPr>
          <p:cNvPr id="8" name="Text 4"/>
          <p:cNvSpPr txBox="1"/>
          <p:nvPr/>
        </p:nvSpPr>
        <p:spPr>
          <a:xfrm>
            <a:off x="1179576" y="1819656"/>
            <a:ext cx="4846320" cy="274320"/>
          </a:xfrm>
          <a:prstGeom prst="rect">
            <a:avLst/>
          </a:prstGeom>
          <a:noFill/>
          <a:ln/>
        </p:spPr>
        <p:txBody>
          <a:bodyPr wrap="square" lIns="0" tIns="0" rIns="0" bIns="0" rtlCol="0" anchor="ctr"/>
          <a:lstStyle/>
          <a:p>
            <a:pPr marL="0" indent="0">
              <a:buNone/>
            </a:pPr>
            <a:r>
              <a:rPr lang="en-US" sz="1550" b="1" kern="0" spc="200" dirty="0">
                <a:solidFill>
                  <a:srgbClr val="3FD0E6"/>
                </a:solidFill>
                <a:latin typeface="Inter" pitchFamily="34" charset="0"/>
                <a:ea typeface="Inter" pitchFamily="34" charset="-122"/>
                <a:cs typeface="Inter" pitchFamily="34" charset="-120"/>
              </a:rPr>
              <a:t>THE FOUR STEPS</a:t>
            </a:r>
            <a:endParaRPr lang="en-US" sz="1550" dirty="0"/>
          </a:p>
        </p:txBody>
      </p:sp>
      <p:sp>
        <p:nvSpPr>
          <p:cNvPr id="9" name="Text 5"/>
          <p:cNvSpPr txBox="1"/>
          <p:nvPr/>
        </p:nvSpPr>
        <p:spPr>
          <a:xfrm>
            <a:off x="1179576" y="2258568"/>
            <a:ext cx="4773168" cy="2862072"/>
          </a:xfrm>
          <a:prstGeom prst="rect">
            <a:avLst/>
          </a:prstGeom>
          <a:noFill/>
          <a:ln/>
        </p:spPr>
        <p:txBody>
          <a:bodyPr wrap="square" lIns="0" tIns="0" rIns="0" bIns="0" rtlCol="0" anchor="t"/>
          <a:lstStyle/>
          <a:p>
            <a:pPr marL="0" indent="0">
              <a:lnSpc>
                <a:spcPct val="118000"/>
              </a:lnSpc>
              <a:spcAft>
                <a:spcPts val="340"/>
              </a:spcAft>
              <a:buNone/>
            </a:pPr>
            <a:r>
              <a:rPr lang="en-US" sz="1292" b="1" dirty="0">
                <a:solidFill>
                  <a:srgbClr val="EAF0FF"/>
                </a:solidFill>
                <a:latin typeface="Inter" pitchFamily="34" charset="0"/>
                <a:ea typeface="Inter" pitchFamily="34" charset="-122"/>
                <a:cs typeface="Inter" pitchFamily="34" charset="-120"/>
              </a:rPr>
              <a:t>1. Store</a:t>
            </a:r>
            <a:endParaRPr lang="en-US" sz="1292" dirty="0"/>
          </a:p>
          <a:p>
            <a:pPr marL="0" indent="0">
              <a:lnSpc>
                <a:spcPct val="118000"/>
              </a:lnSpc>
              <a:spcAft>
                <a:spcPts val="340"/>
              </a:spcAft>
              <a:buNone/>
            </a:pPr>
            <a:r>
              <a:rPr lang="en-US" sz="1292" dirty="0">
                <a:solidFill>
                  <a:srgbClr val="9FB0D6"/>
                </a:solidFill>
                <a:latin typeface="Inter" pitchFamily="34" charset="0"/>
                <a:ea typeface="Inter" pitchFamily="34" charset="-122"/>
                <a:cs typeface="Inter" pitchFamily="34" charset="-120"/>
              </a:rPr>
              <a:t>Write a fact worth keeping somewhere outside the conversation.</a:t>
            </a:r>
            <a:endParaRPr lang="en-US" sz="1292" dirty="0"/>
          </a:p>
          <a:p>
            <a:pPr marL="0" indent="0">
              <a:lnSpc>
                <a:spcPct val="118000"/>
              </a:lnSpc>
              <a:spcAft>
                <a:spcPts val="340"/>
              </a:spcAft>
              <a:buNone/>
            </a:pPr>
            <a:r>
              <a:rPr lang="en-US" sz="1292" b="1" dirty="0">
                <a:solidFill>
                  <a:srgbClr val="EAF0FF"/>
                </a:solidFill>
                <a:latin typeface="Inter" pitchFamily="34" charset="0"/>
                <a:ea typeface="Inter" pitchFamily="34" charset="-122"/>
                <a:cs typeface="Inter" pitchFamily="34" charset="-120"/>
              </a:rPr>
              <a:t>2. Retrieve</a:t>
            </a:r>
            <a:endParaRPr lang="en-US" sz="1292" dirty="0"/>
          </a:p>
          <a:p>
            <a:pPr marL="0" indent="0">
              <a:lnSpc>
                <a:spcPct val="118000"/>
              </a:lnSpc>
              <a:spcAft>
                <a:spcPts val="340"/>
              </a:spcAft>
              <a:buNone/>
            </a:pPr>
            <a:r>
              <a:rPr lang="en-US" sz="1292" dirty="0">
                <a:solidFill>
                  <a:srgbClr val="9FB0D6"/>
                </a:solidFill>
                <a:latin typeface="Inter" pitchFamily="34" charset="0"/>
                <a:ea typeface="Inter" pitchFamily="34" charset="-122"/>
                <a:cs typeface="Inter" pitchFamily="34" charset="-120"/>
              </a:rPr>
              <a:t>When a question arrives, pull back only the relevant facts.</a:t>
            </a:r>
            <a:endParaRPr lang="en-US" sz="1292" dirty="0"/>
          </a:p>
          <a:p>
            <a:pPr marL="0" indent="0">
              <a:lnSpc>
                <a:spcPct val="118000"/>
              </a:lnSpc>
              <a:spcAft>
                <a:spcPts val="340"/>
              </a:spcAft>
              <a:buNone/>
            </a:pPr>
            <a:r>
              <a:rPr lang="en-US" sz="1292" b="1" dirty="0">
                <a:solidFill>
                  <a:srgbClr val="EAF0FF"/>
                </a:solidFill>
                <a:latin typeface="Inter" pitchFamily="34" charset="0"/>
                <a:ea typeface="Inter" pitchFamily="34" charset="-122"/>
                <a:cs typeface="Inter" pitchFamily="34" charset="-120"/>
              </a:rPr>
              <a:t>3. Inject</a:t>
            </a:r>
            <a:endParaRPr lang="en-US" sz="1292" dirty="0"/>
          </a:p>
          <a:p>
            <a:pPr marL="0" indent="0">
              <a:lnSpc>
                <a:spcPct val="118000"/>
              </a:lnSpc>
              <a:spcAft>
                <a:spcPts val="340"/>
              </a:spcAft>
              <a:buNone/>
            </a:pPr>
            <a:r>
              <a:rPr lang="en-US" sz="1292" dirty="0">
                <a:solidFill>
                  <a:srgbClr val="9FB0D6"/>
                </a:solidFill>
                <a:latin typeface="Inter" pitchFamily="34" charset="0"/>
                <a:ea typeface="Inter" pitchFamily="34" charset="-122"/>
                <a:cs typeface="Inter" pitchFamily="34" charset="-120"/>
              </a:rPr>
              <a:t>Put those facts into the context, above the question.</a:t>
            </a:r>
            <a:endParaRPr lang="en-US" sz="1292" dirty="0"/>
          </a:p>
          <a:p>
            <a:pPr marL="0" indent="0">
              <a:lnSpc>
                <a:spcPct val="118000"/>
              </a:lnSpc>
              <a:spcAft>
                <a:spcPts val="340"/>
              </a:spcAft>
              <a:buNone/>
            </a:pPr>
            <a:r>
              <a:rPr lang="en-US" sz="1292" b="1" dirty="0">
                <a:solidFill>
                  <a:srgbClr val="F5C542"/>
                </a:solidFill>
                <a:latin typeface="Inter" pitchFamily="34" charset="0"/>
                <a:ea typeface="Inter" pitchFamily="34" charset="-122"/>
                <a:cs typeface="Inter" pitchFamily="34" charset="-120"/>
              </a:rPr>
              <a:t>4. Generate</a:t>
            </a:r>
            <a:endParaRPr lang="en-US" sz="1292" dirty="0"/>
          </a:p>
          <a:p>
            <a:pPr marL="0" indent="0">
              <a:lnSpc>
                <a:spcPct val="118000"/>
              </a:lnSpc>
              <a:spcAft>
                <a:spcPts val="340"/>
              </a:spcAft>
              <a:buNone/>
            </a:pPr>
            <a:r>
              <a:rPr lang="en-US" sz="1292" dirty="0">
                <a:solidFill>
                  <a:srgbClr val="9FB0D6"/>
                </a:solidFill>
                <a:latin typeface="Inter" pitchFamily="34" charset="0"/>
                <a:ea typeface="Inter" pitchFamily="34" charset="-122"/>
                <a:cs typeface="Inter" pitchFamily="34" charset="-120"/>
              </a:rPr>
              <a:t>The model answers from what it was handed. It looks like memory.</a:t>
            </a:r>
            <a:endParaRPr lang="en-US" sz="1292" dirty="0"/>
          </a:p>
        </p:txBody>
      </p:sp>
      <p:sp>
        <p:nvSpPr>
          <p:cNvPr id="10" name="Shape 6"/>
          <p:cNvSpPr/>
          <p:nvPr/>
        </p:nvSpPr>
        <p:spPr>
          <a:xfrm>
            <a:off x="6537960" y="1600200"/>
            <a:ext cx="4754880" cy="3794760"/>
          </a:xfrm>
          <a:prstGeom prst="roundRect">
            <a:avLst>
              <a:gd name="adj" fmla="val 2410"/>
            </a:avLst>
          </a:prstGeom>
          <a:solidFill>
            <a:srgbClr val="0A1024"/>
          </a:solidFill>
          <a:ln w="12700">
            <a:solidFill>
              <a:srgbClr val="1E2A55"/>
            </a:solidFill>
            <a:prstDash val="solid"/>
          </a:ln>
        </p:spPr>
      </p:sp>
      <p:sp>
        <p:nvSpPr>
          <p:cNvPr id="11" name="Text 7"/>
          <p:cNvSpPr txBox="1"/>
          <p:nvPr/>
        </p:nvSpPr>
        <p:spPr>
          <a:xfrm>
            <a:off x="6848856" y="1819656"/>
            <a:ext cx="4206240" cy="274320"/>
          </a:xfrm>
          <a:prstGeom prst="rect">
            <a:avLst/>
          </a:prstGeom>
          <a:noFill/>
          <a:ln/>
        </p:spPr>
        <p:txBody>
          <a:bodyPr wrap="square" lIns="0" tIns="0" rIns="0" bIns="0" rtlCol="0" anchor="ctr"/>
          <a:lstStyle/>
          <a:p>
            <a:pPr marL="0" indent="0">
              <a:buNone/>
            </a:pPr>
            <a:r>
              <a:rPr lang="en-US" sz="1550" b="1" kern="0" spc="200" dirty="0">
                <a:solidFill>
                  <a:srgbClr val="F5C542"/>
                </a:solidFill>
                <a:latin typeface="Inter" pitchFamily="34" charset="0"/>
                <a:ea typeface="Inter" pitchFamily="34" charset="-122"/>
                <a:cs typeface="Inter" pitchFamily="34" charset="-120"/>
              </a:rPr>
              <a:t>THE SAME WEEK, THREE TIMES</a:t>
            </a:r>
            <a:endParaRPr lang="en-US" sz="1550" dirty="0"/>
          </a:p>
        </p:txBody>
      </p:sp>
      <p:sp>
        <p:nvSpPr>
          <p:cNvPr id="12" name="Text 8"/>
          <p:cNvSpPr txBox="1"/>
          <p:nvPr/>
        </p:nvSpPr>
        <p:spPr>
          <a:xfrm>
            <a:off x="6848856" y="2258568"/>
            <a:ext cx="4133088" cy="2862072"/>
          </a:xfrm>
          <a:prstGeom prst="rect">
            <a:avLst/>
          </a:prstGeom>
          <a:noFill/>
          <a:ln/>
        </p:spPr>
        <p:txBody>
          <a:bodyPr wrap="square" lIns="0" tIns="0" rIns="0" bIns="0" rtlCol="0" anchor="t"/>
          <a:lstStyle/>
          <a:p>
            <a:pPr marL="0" indent="0">
              <a:lnSpc>
                <a:spcPct val="118000"/>
              </a:lnSpc>
              <a:spcAft>
                <a:spcPts val="680"/>
              </a:spcAft>
              <a:buNone/>
            </a:pPr>
            <a:r>
              <a:rPr lang="en-US" sz="1292" dirty="0">
                <a:solidFill>
                  <a:srgbClr val="EAF0FF"/>
                </a:solidFill>
                <a:latin typeface="Inter" pitchFamily="34" charset="0"/>
                <a:ea typeface="Inter" pitchFamily="34" charset="-122"/>
                <a:cs typeface="Inter" pitchFamily="34" charset="-120"/>
              </a:rPr>
              <a:t>Monday. “I'm studying machine learning.” The system stores: user studies ML.</a:t>
            </a:r>
            <a:endParaRPr lang="en-US" sz="1292" dirty="0"/>
          </a:p>
          <a:p>
            <a:pPr marL="0" indent="0">
              <a:lnSpc>
                <a:spcPct val="118000"/>
              </a:lnSpc>
              <a:spcAft>
                <a:spcPts val="680"/>
              </a:spcAft>
              <a:buNone/>
            </a:pPr>
            <a:r>
              <a:rPr lang="en-US" sz="1292" dirty="0">
                <a:solidFill>
                  <a:srgbClr val="EAF0FF"/>
                </a:solidFill>
                <a:latin typeface="Inter" pitchFamily="34" charset="0"/>
                <a:ea typeface="Inter" pitchFamily="34" charset="-122"/>
                <a:cs typeface="Inter" pitchFamily="34" charset="-120"/>
              </a:rPr>
              <a:t>Tuesday. “I have an exam next week.” The system stores: ML exam next week.</a:t>
            </a:r>
            <a:endParaRPr lang="en-US" sz="1292" dirty="0"/>
          </a:p>
          <a:p>
            <a:pPr marL="0" indent="0">
              <a:lnSpc>
                <a:spcPct val="118000"/>
              </a:lnSpc>
              <a:spcAft>
                <a:spcPts val="680"/>
              </a:spcAft>
              <a:buNone/>
            </a:pPr>
            <a:r>
              <a:rPr lang="en-US" sz="1224" dirty="0">
                <a:solidFill>
                  <a:srgbClr val="9FB0D6"/>
                </a:solidFill>
                <a:latin typeface="Inter" pitchFamily="34" charset="0"/>
                <a:ea typeface="Inter" pitchFamily="34" charset="-122"/>
                <a:cs typeface="Inter" pitchFamily="34" charset="-120"/>
              </a:rPr>
              <a:t>Wednesday. “What should I study today?” The system retrieves both, puts them above the question, and the model replies: since your ML exam is next week, focus today on…</a:t>
            </a:r>
            <a:endParaRPr lang="en-US" sz="1292" dirty="0"/>
          </a:p>
          <a:p>
            <a:pPr marL="0" indent="0">
              <a:lnSpc>
                <a:spcPct val="118000"/>
              </a:lnSpc>
              <a:spcAft>
                <a:spcPts val="680"/>
              </a:spcAft>
              <a:buNone/>
            </a:pPr>
            <a:r>
              <a:rPr lang="en-US" sz="1292" dirty="0">
                <a:solidFill>
                  <a:srgbClr val="F5C542"/>
                </a:solidFill>
                <a:latin typeface="Inter" pitchFamily="34" charset="0"/>
                <a:ea typeface="Inter" pitchFamily="34" charset="-122"/>
                <a:cs typeface="Inter" pitchFamily="34" charset="-120"/>
              </a:rPr>
              <a:t>Nothing was remembered. Four steps ran, all of them in your code.</a:t>
            </a:r>
            <a:endParaRPr lang="en-US" sz="1292"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10</a:t>
            </a:r>
            <a:endParaRPr lang="en-US" sz="1400" dirty="0"/>
          </a:p>
        </p:txBody>
      </p:sp>
      <p:pic>
        <p:nvPicPr>
          <p:cNvPr id="6" name="Image 2" descr="/root/deck/assets/sparkle_cyan.png"/>
          <p:cNvPicPr>
            <a:picLocks noChangeAspect="1"/>
          </p:cNvPicPr>
          <p:nvPr/>
        </p:nvPicPr>
        <p:blipFill>
          <a:blip r:embed="rId6"/>
          <a:stretch>
            <a:fillRect/>
          </a:stretch>
        </p:blipFill>
        <p:spPr>
          <a:xfrm>
            <a:off x="914400" y="1847088"/>
            <a:ext cx="365760" cy="365760"/>
          </a:xfrm>
          <a:prstGeom prst="rect">
            <a:avLst/>
          </a:prstGeom>
        </p:spPr>
      </p:pic>
      <p:sp>
        <p:nvSpPr>
          <p:cNvPr id="7" name="Text 2"/>
          <p:cNvSpPr txBox="1"/>
          <p:nvPr/>
        </p:nvSpPr>
        <p:spPr>
          <a:xfrm>
            <a:off x="1417320" y="1883664"/>
            <a:ext cx="7315200" cy="292608"/>
          </a:xfrm>
          <a:prstGeom prst="rect">
            <a:avLst/>
          </a:prstGeom>
          <a:noFill/>
          <a:ln/>
        </p:spPr>
        <p:txBody>
          <a:bodyPr wrap="square" lIns="0" tIns="0" rIns="0" bIns="0" rtlCol="0" anchor="ctr"/>
          <a:lstStyle/>
          <a:p>
            <a:pPr marL="0" indent="0">
              <a:buNone/>
            </a:pPr>
            <a:r>
              <a:rPr lang="en-US" sz="1700" b="1" kern="0" spc="300" dirty="0">
                <a:solidFill>
                  <a:srgbClr val="3FD0E6"/>
                </a:solidFill>
                <a:latin typeface="Inter" pitchFamily="34" charset="0"/>
                <a:ea typeface="Inter" pitchFamily="34" charset="-122"/>
                <a:cs typeface="Inter" pitchFamily="34" charset="-120"/>
              </a:rPr>
              <a:t>PART TWO</a:t>
            </a:r>
            <a:endParaRPr lang="en-US" sz="1700" dirty="0"/>
          </a:p>
        </p:txBody>
      </p:sp>
      <p:sp>
        <p:nvSpPr>
          <p:cNvPr id="8" name="Text 3"/>
          <p:cNvSpPr txBox="1"/>
          <p:nvPr/>
        </p:nvSpPr>
        <p:spPr>
          <a:xfrm>
            <a:off x="868680" y="2487168"/>
            <a:ext cx="10515600" cy="1920240"/>
          </a:xfrm>
          <a:prstGeom prst="rect">
            <a:avLst/>
          </a:prstGeom>
          <a:noFill/>
          <a:ln/>
        </p:spPr>
        <p:txBody>
          <a:bodyPr wrap="square" lIns="0" tIns="0" rIns="0" bIns="0" rtlCol="0" anchor="t"/>
          <a:lstStyle/>
          <a:p>
            <a:pPr marL="0" indent="0">
              <a:lnSpc>
                <a:spcPct val="112000"/>
              </a:lnSpc>
              <a:buNone/>
            </a:pPr>
            <a:r>
              <a:rPr lang="en-US" sz="5900" b="1" dirty="0">
                <a:solidFill>
                  <a:srgbClr val="EAF0FF"/>
                </a:solidFill>
                <a:latin typeface="Poppins" pitchFamily="34" charset="0"/>
                <a:ea typeface="Poppins" pitchFamily="34" charset="-122"/>
                <a:cs typeface="Poppins" pitchFamily="34" charset="-120"/>
              </a:rPr>
              <a:t>You built memory.</a:t>
            </a:r>
            <a:endParaRPr lang="en-US" sz="5900" dirty="0"/>
          </a:p>
          <a:p>
            <a:pPr marL="0" indent="0">
              <a:lnSpc>
                <a:spcPct val="112000"/>
              </a:lnSpc>
              <a:buNone/>
            </a:pPr>
            <a:r>
              <a:rPr lang="en-US" sz="5900" b="1" dirty="0">
                <a:solidFill>
                  <a:srgbClr val="EAF0FF"/>
                </a:solidFill>
                <a:latin typeface="Poppins" pitchFamily="34" charset="0"/>
                <a:ea typeface="Poppins" pitchFamily="34" charset="-122"/>
                <a:cs typeface="Poppins" pitchFamily="34" charset="-120"/>
              </a:rPr>
              <a:t>Now make it </a:t>
            </a:r>
            <a:r>
              <a:rPr lang="en-US" sz="5900" b="1" dirty="0">
                <a:solidFill>
                  <a:srgbClr val="F5C542"/>
                </a:solidFill>
                <a:latin typeface="Poppins" pitchFamily="34" charset="0"/>
                <a:ea typeface="Poppins" pitchFamily="34" charset="-122"/>
                <a:cs typeface="Poppins" pitchFamily="34" charset="-120"/>
              </a:rPr>
              <a:t>fit.</a:t>
            </a:r>
            <a:endParaRPr lang="en-US" sz="5900" dirty="0"/>
          </a:p>
        </p:txBody>
      </p:sp>
      <p:sp>
        <p:nvSpPr>
          <p:cNvPr id="9" name="Text 4"/>
          <p:cNvSpPr txBox="1"/>
          <p:nvPr/>
        </p:nvSpPr>
        <p:spPr>
          <a:xfrm>
            <a:off x="914400" y="4800600"/>
            <a:ext cx="8229600" cy="457200"/>
          </a:xfrm>
          <a:prstGeom prst="rect">
            <a:avLst/>
          </a:prstGeom>
          <a:noFill/>
          <a:ln/>
        </p:spPr>
        <p:txBody>
          <a:bodyPr wrap="square" lIns="0" tIns="0" rIns="0" bIns="0" rtlCol="0" anchor="ctr"/>
          <a:lstStyle/>
          <a:p>
            <a:pPr marL="0" indent="0">
              <a:buNone/>
            </a:pPr>
            <a:r>
              <a:rPr lang="en-US" sz="2500" dirty="0">
                <a:solidFill>
                  <a:srgbClr val="9FB0D6"/>
                </a:solidFill>
                <a:latin typeface="Inter" pitchFamily="34" charset="0"/>
                <a:ea typeface="Inter" pitchFamily="34" charset="-122"/>
                <a:cs typeface="Inter" pitchFamily="34" charset="-120"/>
              </a:rPr>
              <a:t>The naive version works. It just doesn't scale.</a:t>
            </a:r>
            <a:endParaRPr lang="en-US" sz="2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11</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4300" b="1" dirty="0">
                <a:solidFill>
                  <a:srgbClr val="EAF0FF"/>
                </a:solidFill>
                <a:latin typeface="Poppins" pitchFamily="34" charset="0"/>
                <a:ea typeface="Poppins" pitchFamily="34" charset="-122"/>
                <a:cs typeface="Poppins" pitchFamily="34" charset="-120"/>
              </a:rPr>
              <a:t>Tool calls in the message list</a:t>
            </a:r>
            <a:endParaRPr lang="en-US" sz="4300" dirty="0"/>
          </a:p>
        </p:txBody>
      </p:sp>
      <p:sp>
        <p:nvSpPr>
          <p:cNvPr id="7" name="Text 3"/>
          <p:cNvSpPr txBox="1"/>
          <p:nvPr/>
        </p:nvSpPr>
        <p:spPr>
          <a:xfrm>
            <a:off x="868680" y="1737360"/>
            <a:ext cx="10424160" cy="457200"/>
          </a:xfrm>
          <a:prstGeom prst="rect">
            <a:avLst/>
          </a:prstGeom>
          <a:noFill/>
          <a:ln/>
        </p:spPr>
        <p:txBody>
          <a:bodyPr wrap="square" lIns="0" tIns="0" rIns="0" bIns="0" rtlCol="0" anchor="ctr"/>
          <a:lstStyle/>
          <a:p>
            <a:pPr marL="0" indent="0" algn="ctr">
              <a:buNone/>
            </a:pPr>
            <a:r>
              <a:rPr lang="en-US" sz="2300" b="1" dirty="0">
                <a:solidFill>
                  <a:srgbClr val="3FD0E6"/>
                </a:solidFill>
                <a:latin typeface="Inter" pitchFamily="34" charset="0"/>
                <a:ea typeface="Inter" pitchFamily="34" charset="-122"/>
                <a:cs typeface="Inter" pitchFamily="34" charset="-120"/>
              </a:rPr>
              <a:t>user   →   model   →   tool   →   model   →   user</a:t>
            </a:r>
            <a:endParaRPr lang="en-US" sz="2300" dirty="0"/>
          </a:p>
        </p:txBody>
      </p:sp>
      <p:sp>
        <p:nvSpPr>
          <p:cNvPr id="8" name="Shape 4"/>
          <p:cNvSpPr/>
          <p:nvPr/>
        </p:nvSpPr>
        <p:spPr>
          <a:xfrm>
            <a:off x="868680" y="2331720"/>
            <a:ext cx="4937760" cy="3063240"/>
          </a:xfrm>
          <a:prstGeom prst="roundRect">
            <a:avLst>
              <a:gd name="adj" fmla="val 2985"/>
            </a:avLst>
          </a:prstGeom>
          <a:solidFill>
            <a:srgbClr val="0A1024"/>
          </a:solidFill>
          <a:ln w="12700">
            <a:solidFill>
              <a:srgbClr val="1E2A55"/>
            </a:solidFill>
            <a:prstDash val="solid"/>
          </a:ln>
        </p:spPr>
      </p:sp>
      <p:sp>
        <p:nvSpPr>
          <p:cNvPr id="9" name="Text 5"/>
          <p:cNvSpPr txBox="1"/>
          <p:nvPr/>
        </p:nvSpPr>
        <p:spPr>
          <a:xfrm>
            <a:off x="1179576" y="2551176"/>
            <a:ext cx="4389120" cy="274320"/>
          </a:xfrm>
          <a:prstGeom prst="rect">
            <a:avLst/>
          </a:prstGeom>
          <a:noFill/>
          <a:ln/>
        </p:spPr>
        <p:txBody>
          <a:bodyPr wrap="square" lIns="0" tIns="0" rIns="0" bIns="0" rtlCol="0" anchor="ctr"/>
          <a:lstStyle/>
          <a:p>
            <a:pPr marL="0" indent="0">
              <a:buNone/>
            </a:pPr>
            <a:r>
              <a:rPr lang="en-US" sz="1550" b="1" kern="0" spc="200" dirty="0">
                <a:solidFill>
                  <a:srgbClr val="3FD0E6"/>
                </a:solidFill>
                <a:latin typeface="Inter" pitchFamily="34" charset="0"/>
                <a:ea typeface="Inter" pitchFamily="34" charset="-122"/>
                <a:cs typeface="Inter" pitchFamily="34" charset="-120"/>
              </a:rPr>
              <a:t>THEY ARE CONVERSATION TOO</a:t>
            </a:r>
            <a:endParaRPr lang="en-US" sz="1550" dirty="0"/>
          </a:p>
        </p:txBody>
      </p:sp>
      <p:sp>
        <p:nvSpPr>
          <p:cNvPr id="10" name="Text 6"/>
          <p:cNvSpPr txBox="1"/>
          <p:nvPr/>
        </p:nvSpPr>
        <p:spPr>
          <a:xfrm>
            <a:off x="1179576" y="2990088"/>
            <a:ext cx="4315968" cy="2130552"/>
          </a:xfrm>
          <a:prstGeom prst="rect">
            <a:avLst/>
          </a:prstGeom>
          <a:noFill/>
          <a:ln/>
        </p:spPr>
        <p:txBody>
          <a:bodyPr wrap="square" lIns="0" tIns="0" rIns="0" bIns="0" rtlCol="0" anchor="t"/>
          <a:lstStyle/>
          <a:p>
            <a:pPr marL="0" indent="0">
              <a:lnSpc>
                <a:spcPct val="118000"/>
              </a:lnSpc>
              <a:spcAft>
                <a:spcPts val="680"/>
              </a:spcAft>
              <a:buNone/>
            </a:pPr>
            <a:r>
              <a:rPr lang="en-US" sz="1360" dirty="0">
                <a:solidFill>
                  <a:srgbClr val="EAF0FF"/>
                </a:solidFill>
                <a:latin typeface="Inter" pitchFamily="34" charset="0"/>
                <a:ea typeface="Inter" pitchFamily="34" charset="-122"/>
                <a:cs typeface="Inter" pitchFamily="34" charset="-120"/>
              </a:rPr>
              <a:t>A real agent turn runs user, then model, then a tool, then model again. All of it is one exchange, and all of it goes in the list.</a:t>
            </a:r>
            <a:endParaRPr lang="en-US" sz="1360" dirty="0"/>
          </a:p>
          <a:p>
            <a:pPr marL="0" indent="0">
              <a:lnSpc>
                <a:spcPct val="118000"/>
              </a:lnSpc>
              <a:spcAft>
                <a:spcPts val="680"/>
              </a:spcAft>
              <a:buNone/>
            </a:pPr>
            <a:r>
              <a:rPr lang="en-US" sz="1292" dirty="0">
                <a:solidFill>
                  <a:srgbClr val="9FB0D6"/>
                </a:solidFill>
                <a:latin typeface="Inter" pitchFamily="34" charset="0"/>
                <a:ea typeface="Inter" pitchFamily="34" charset="-122"/>
                <a:cs typeface="Inter" pitchFamily="34" charset="-120"/>
              </a:rPr>
              <a:t>The request the model made and the result that came back are both kept. Drop the pair and the model no longer knows it ever asked, or what came back.</a:t>
            </a:r>
            <a:endParaRPr lang="en-US" sz="1360" dirty="0"/>
          </a:p>
          <a:p>
            <a:pPr marL="0" indent="0">
              <a:lnSpc>
                <a:spcPct val="118000"/>
              </a:lnSpc>
              <a:spcAft>
                <a:spcPts val="680"/>
              </a:spcAft>
              <a:buNone/>
            </a:pPr>
            <a:r>
              <a:rPr lang="en-US" sz="1292" dirty="0">
                <a:solidFill>
                  <a:srgbClr val="9FB0D6"/>
                </a:solidFill>
                <a:latin typeface="Inter" pitchFamily="34" charset="0"/>
                <a:ea typeface="Inter" pitchFamily="34" charset="-122"/>
                <a:cs typeface="Inter" pitchFamily="34" charset="-120"/>
              </a:rPr>
              <a:t>Every provider names them differently. Learn the shape, not the field names.</a:t>
            </a:r>
            <a:endParaRPr lang="en-US" sz="1360" dirty="0"/>
          </a:p>
        </p:txBody>
      </p:sp>
      <p:sp>
        <p:nvSpPr>
          <p:cNvPr id="11" name="Shape 7"/>
          <p:cNvSpPr/>
          <p:nvPr/>
        </p:nvSpPr>
        <p:spPr>
          <a:xfrm>
            <a:off x="6355080" y="2331720"/>
            <a:ext cx="4937760" cy="3063240"/>
          </a:xfrm>
          <a:prstGeom prst="roundRect">
            <a:avLst>
              <a:gd name="adj" fmla="val 2985"/>
            </a:avLst>
          </a:prstGeom>
          <a:solidFill>
            <a:srgbClr val="0A1024"/>
          </a:solidFill>
          <a:ln w="12700">
            <a:solidFill>
              <a:srgbClr val="1E2A55"/>
            </a:solidFill>
            <a:prstDash val="solid"/>
          </a:ln>
        </p:spPr>
      </p:sp>
      <p:sp>
        <p:nvSpPr>
          <p:cNvPr id="12" name="Text 8"/>
          <p:cNvSpPr txBox="1"/>
          <p:nvPr/>
        </p:nvSpPr>
        <p:spPr>
          <a:xfrm>
            <a:off x="6665976" y="2551176"/>
            <a:ext cx="4389120" cy="274320"/>
          </a:xfrm>
          <a:prstGeom prst="rect">
            <a:avLst/>
          </a:prstGeom>
          <a:noFill/>
          <a:ln/>
        </p:spPr>
        <p:txBody>
          <a:bodyPr wrap="square" lIns="0" tIns="0" rIns="0" bIns="0" rtlCol="0" anchor="ctr"/>
          <a:lstStyle/>
          <a:p>
            <a:pPr marL="0" indent="0">
              <a:buNone/>
            </a:pPr>
            <a:r>
              <a:rPr lang="en-US" sz="1550" b="1" kern="0" spc="200" dirty="0">
                <a:solidFill>
                  <a:srgbClr val="F5C542"/>
                </a:solidFill>
                <a:latin typeface="Inter" pitchFamily="34" charset="0"/>
                <a:ea typeface="Inter" pitchFamily="34" charset="-122"/>
                <a:cs typeface="Inter" pitchFamily="34" charset="-120"/>
              </a:rPr>
              <a:t>AND ORDER IS CAUSALITY</a:t>
            </a:r>
            <a:endParaRPr lang="en-US" sz="1550" dirty="0"/>
          </a:p>
        </p:txBody>
      </p:sp>
      <p:sp>
        <p:nvSpPr>
          <p:cNvPr id="13" name="Text 9"/>
          <p:cNvSpPr txBox="1"/>
          <p:nvPr/>
        </p:nvSpPr>
        <p:spPr>
          <a:xfrm>
            <a:off x="6665976" y="2990088"/>
            <a:ext cx="4315968" cy="2130552"/>
          </a:xfrm>
          <a:prstGeom prst="rect">
            <a:avLst/>
          </a:prstGeom>
          <a:noFill/>
          <a:ln/>
        </p:spPr>
        <p:txBody>
          <a:bodyPr wrap="square" lIns="0" tIns="0" rIns="0" bIns="0" rtlCol="0" anchor="t"/>
          <a:lstStyle/>
          <a:p>
            <a:pPr marL="0" indent="0">
              <a:lnSpc>
                <a:spcPct val="118000"/>
              </a:lnSpc>
              <a:spcAft>
                <a:spcPts val="680"/>
              </a:spcAft>
              <a:buNone/>
            </a:pPr>
            <a:r>
              <a:rPr lang="en-US" sz="1360" dirty="0">
                <a:solidFill>
                  <a:srgbClr val="EAF0FF"/>
                </a:solidFill>
                <a:latin typeface="Inter" pitchFamily="34" charset="0"/>
                <a:ea typeface="Inter" pitchFamily="34" charset="-122"/>
                <a:cs typeface="Inter" pitchFamily="34" charset="-120"/>
              </a:rPr>
              <a:t>Read it as a conversation and the right order is obvious. What is twenty times five? Then: calculator, compute it. Then: the answer is 100.</a:t>
            </a:r>
            <a:endParaRPr lang="en-US" sz="1360" dirty="0"/>
          </a:p>
          <a:p>
            <a:pPr marL="0" indent="0">
              <a:lnSpc>
                <a:spcPct val="118000"/>
              </a:lnSpc>
              <a:spcAft>
                <a:spcPts val="680"/>
              </a:spcAft>
              <a:buNone/>
            </a:pPr>
            <a:r>
              <a:rPr lang="en-US" sz="1292" dirty="0">
                <a:solidFill>
                  <a:srgbClr val="9FB0D6"/>
                </a:solidFill>
                <a:latin typeface="Inter" pitchFamily="34" charset="0"/>
                <a:ea typeface="Inter" pitchFamily="34" charset="-122"/>
                <a:cs typeface="Inter" pitchFamily="34" charset="-120"/>
              </a:rPr>
              <a:t>Shuffle it and the result arrives before anything asked for it. 100 of what? Computed when? The model can no longer interpret its own history.</a:t>
            </a:r>
            <a:endParaRPr lang="en-US" sz="1360" dirty="0"/>
          </a:p>
          <a:p>
            <a:pPr marL="0" indent="0">
              <a:lnSpc>
                <a:spcPct val="118000"/>
              </a:lnSpc>
              <a:spcAft>
                <a:spcPts val="680"/>
              </a:spcAft>
              <a:buNone/>
            </a:pPr>
            <a:r>
              <a:rPr lang="en-US" sz="1292" dirty="0">
                <a:solidFill>
                  <a:srgbClr val="F5C542"/>
                </a:solidFill>
                <a:latin typeface="Inter" pitchFamily="34" charset="0"/>
                <a:ea typeface="Inter" pitchFamily="34" charset="-122"/>
                <a:cs typeface="Inter" pitchFamily="34" charset="-120"/>
              </a:rPr>
              <a:t>Append in the order things happened. Never rebuild the list from what you think happened.</a:t>
            </a:r>
            <a:endParaRPr lang="en-US" sz="136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12</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4300" b="1" dirty="0">
                <a:solidFill>
                  <a:srgbClr val="EAF0FF"/>
                </a:solidFill>
                <a:latin typeface="Poppins" pitchFamily="34" charset="0"/>
                <a:ea typeface="Poppins" pitchFamily="34" charset="-122"/>
                <a:cs typeface="Poppins" pitchFamily="34" charset="-120"/>
              </a:rPr>
              <a:t>What agent memory holds</a:t>
            </a:r>
            <a:endParaRPr lang="en-US" sz="4300" dirty="0"/>
          </a:p>
        </p:txBody>
      </p:sp>
      <p:sp>
        <p:nvSpPr>
          <p:cNvPr id="7" name="Shape 3"/>
          <p:cNvSpPr/>
          <p:nvPr/>
        </p:nvSpPr>
        <p:spPr>
          <a:xfrm>
            <a:off x="868680" y="1600200"/>
            <a:ext cx="4937760" cy="3794760"/>
          </a:xfrm>
          <a:prstGeom prst="roundRect">
            <a:avLst>
              <a:gd name="adj" fmla="val 2410"/>
            </a:avLst>
          </a:prstGeom>
          <a:solidFill>
            <a:srgbClr val="0A1024"/>
          </a:solidFill>
          <a:ln w="12700">
            <a:solidFill>
              <a:srgbClr val="1E2A55"/>
            </a:solidFill>
            <a:prstDash val="solid"/>
          </a:ln>
        </p:spPr>
      </p:sp>
      <p:sp>
        <p:nvSpPr>
          <p:cNvPr id="8" name="Text 4"/>
          <p:cNvSpPr txBox="1"/>
          <p:nvPr/>
        </p:nvSpPr>
        <p:spPr>
          <a:xfrm>
            <a:off x="11795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3FD0E6"/>
                </a:solidFill>
                <a:latin typeface="Inter" pitchFamily="34" charset="0"/>
                <a:ea typeface="Inter" pitchFamily="34" charset="-122"/>
                <a:cs typeface="Inter" pitchFamily="34" charset="-120"/>
              </a:rPr>
              <a:t>A CHATBOT</a:t>
            </a:r>
            <a:endParaRPr lang="en-US" sz="1550" dirty="0"/>
          </a:p>
        </p:txBody>
      </p:sp>
      <p:sp>
        <p:nvSpPr>
          <p:cNvPr id="9" name="Text 5"/>
          <p:cNvSpPr txBox="1"/>
          <p:nvPr/>
        </p:nvSpPr>
        <p:spPr>
          <a:xfrm>
            <a:off x="1179576" y="2258568"/>
            <a:ext cx="4315968" cy="2862072"/>
          </a:xfrm>
          <a:prstGeom prst="rect">
            <a:avLst/>
          </a:prstGeom>
          <a:noFill/>
          <a:ln/>
        </p:spPr>
        <p:txBody>
          <a:bodyPr wrap="square" lIns="0" tIns="0" rIns="0" bIns="0" rtlCol="0" anchor="t"/>
          <a:lstStyle/>
          <a:p>
            <a:pPr marL="0" indent="0">
              <a:lnSpc>
                <a:spcPct val="118000"/>
              </a:lnSpc>
              <a:spcAft>
                <a:spcPts val="1300"/>
              </a:spcAft>
              <a:buNone/>
            </a:pPr>
            <a:r>
              <a:rPr lang="en-US" sz="2000" dirty="0">
                <a:solidFill>
                  <a:srgbClr val="EAF0FF"/>
                </a:solidFill>
                <a:latin typeface="Inter" pitchFamily="34" charset="0"/>
                <a:ea typeface="Inter" pitchFamily="34" charset="-122"/>
                <a:cs typeface="Inter" pitchFamily="34" charset="-120"/>
              </a:rPr>
              <a:t>Append what the user said. Append what the model replied. Repeat.</a:t>
            </a:r>
            <a:endParaRPr lang="en-US" sz="2000" dirty="0"/>
          </a:p>
          <a:p>
            <a:pPr marL="0" indent="0">
              <a:lnSpc>
                <a:spcPct val="118000"/>
              </a:lnSpc>
              <a:spcAft>
                <a:spcPts val="1300"/>
              </a:spcAft>
              <a:buNone/>
            </a:pPr>
            <a:r>
              <a:rPr lang="en-US" sz="1900" dirty="0">
                <a:solidFill>
                  <a:srgbClr val="9FB0D6"/>
                </a:solidFill>
                <a:latin typeface="Inter" pitchFamily="34" charset="0"/>
                <a:ea typeface="Inter" pitchFamily="34" charset="-122"/>
                <a:cs typeface="Inter" pitchFamily="34" charset="-120"/>
              </a:rPr>
              <a:t>Two lines cover the whole thing. The list alternates, and the only question you ever ask it is what was said, and by whom.</a:t>
            </a:r>
            <a:endParaRPr lang="en-US" sz="2000" dirty="0"/>
          </a:p>
        </p:txBody>
      </p:sp>
      <p:sp>
        <p:nvSpPr>
          <p:cNvPr id="10" name="Shape 6"/>
          <p:cNvSpPr/>
          <p:nvPr/>
        </p:nvSpPr>
        <p:spPr>
          <a:xfrm>
            <a:off x="6355080" y="1600200"/>
            <a:ext cx="4937760" cy="3794760"/>
          </a:xfrm>
          <a:prstGeom prst="roundRect">
            <a:avLst>
              <a:gd name="adj" fmla="val 2410"/>
            </a:avLst>
          </a:prstGeom>
          <a:solidFill>
            <a:srgbClr val="0A1024"/>
          </a:solidFill>
          <a:ln w="12700">
            <a:solidFill>
              <a:srgbClr val="1E2A55"/>
            </a:solidFill>
            <a:prstDash val="solid"/>
          </a:ln>
        </p:spPr>
      </p:sp>
      <p:sp>
        <p:nvSpPr>
          <p:cNvPr id="11" name="Text 7"/>
          <p:cNvSpPr txBox="1"/>
          <p:nvPr/>
        </p:nvSpPr>
        <p:spPr>
          <a:xfrm>
            <a:off x="66659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F5C542"/>
                </a:solidFill>
                <a:latin typeface="Inter" pitchFamily="34" charset="0"/>
                <a:ea typeface="Inter" pitchFamily="34" charset="-122"/>
                <a:cs typeface="Inter" pitchFamily="34" charset="-120"/>
              </a:rPr>
              <a:t>AN AGENT</a:t>
            </a:r>
            <a:endParaRPr lang="en-US" sz="1550" dirty="0"/>
          </a:p>
        </p:txBody>
      </p:sp>
      <p:sp>
        <p:nvSpPr>
          <p:cNvPr id="12" name="Text 8"/>
          <p:cNvSpPr txBox="1"/>
          <p:nvPr/>
        </p:nvSpPr>
        <p:spPr>
          <a:xfrm>
            <a:off x="6665976" y="2258568"/>
            <a:ext cx="4315968" cy="2862072"/>
          </a:xfrm>
          <a:prstGeom prst="rect">
            <a:avLst/>
          </a:prstGeom>
          <a:noFill/>
          <a:ln/>
        </p:spPr>
        <p:txBody>
          <a:bodyPr wrap="square" lIns="0" tIns="0" rIns="0" bIns="0" rtlCol="0" anchor="t"/>
          <a:lstStyle/>
          <a:p>
            <a:pPr marL="0" indent="0">
              <a:lnSpc>
                <a:spcPct val="118000"/>
              </a:lnSpc>
              <a:spcAft>
                <a:spcPts val="949"/>
              </a:spcAft>
              <a:buNone/>
            </a:pPr>
            <a:r>
              <a:rPr lang="en-US" sz="1460" dirty="0">
                <a:solidFill>
                  <a:srgbClr val="EAF0FF"/>
                </a:solidFill>
                <a:latin typeface="Inter" pitchFamily="34" charset="0"/>
                <a:ea typeface="Inter" pitchFamily="34" charset="-122"/>
                <a:cs typeface="Inter" pitchFamily="34" charset="-120"/>
              </a:rPr>
              <a:t>User messages, model replies, tool calls, tool results, workflow state and intermediate outputs.</a:t>
            </a:r>
            <a:endParaRPr lang="en-US" sz="1460" dirty="0"/>
          </a:p>
          <a:p>
            <a:pPr marL="0" indent="0">
              <a:lnSpc>
                <a:spcPct val="118000"/>
              </a:lnSpc>
              <a:spcAft>
                <a:spcPts val="949"/>
              </a:spcAft>
              <a:buNone/>
            </a:pPr>
            <a:r>
              <a:rPr lang="en-US" sz="1387" dirty="0">
                <a:solidFill>
                  <a:srgbClr val="9FB0D6"/>
                </a:solidFill>
                <a:latin typeface="Inter" pitchFamily="34" charset="0"/>
                <a:ea typeface="Inter" pitchFamily="34" charset="-122"/>
                <a:cs typeface="Inter" pitchFamily="34" charset="-120"/>
              </a:rPr>
              <a:t>The last two are the ones nobody expects. Which step am I on. What did step two return. Whether step three has already failed once.</a:t>
            </a:r>
            <a:endParaRPr lang="en-US" sz="1460" dirty="0"/>
          </a:p>
          <a:p>
            <a:pPr marL="0" indent="0">
              <a:lnSpc>
                <a:spcPct val="118000"/>
              </a:lnSpc>
              <a:spcAft>
                <a:spcPts val="949"/>
              </a:spcAft>
              <a:buNone/>
            </a:pPr>
            <a:r>
              <a:rPr lang="en-US" sz="1460" dirty="0">
                <a:solidFill>
                  <a:srgbClr val="EAF0FF"/>
                </a:solidFill>
                <a:latin typeface="Inter" pitchFamily="34" charset="0"/>
                <a:ea typeface="Inter" pitchFamily="34" charset="-122"/>
                <a:cs typeface="Inter" pitchFamily="34" charset="-120"/>
              </a:rPr>
              <a:t>That is not a transcript. It is the state of a running process.</a:t>
            </a:r>
            <a:endParaRPr lang="en-US" sz="1460" dirty="0"/>
          </a:p>
        </p:txBody>
      </p:sp>
      <p:sp>
        <p:nvSpPr>
          <p:cNvPr id="13" name="Text 9"/>
          <p:cNvSpPr txBox="1"/>
          <p:nvPr/>
        </p:nvSpPr>
        <p:spPr>
          <a:xfrm>
            <a:off x="868680" y="5486400"/>
            <a:ext cx="10424160" cy="658368"/>
          </a:xfrm>
          <a:prstGeom prst="rect">
            <a:avLst/>
          </a:prstGeom>
          <a:noFill/>
          <a:ln/>
        </p:spPr>
        <p:txBody>
          <a:bodyPr wrap="square" lIns="0" tIns="0" rIns="0" bIns="0" rtlCol="0" anchor="ctr"/>
          <a:lstStyle/>
          <a:p>
            <a:pPr marL="0" indent="0">
              <a:buNone/>
            </a:pPr>
            <a:r>
              <a:rPr lang="en-US" sz="2200" dirty="0">
                <a:solidFill>
                  <a:srgbClr val="9FB0D6"/>
                </a:solidFill>
                <a:latin typeface="Inter" pitchFamily="34" charset="0"/>
                <a:ea typeface="Inter" pitchFamily="34" charset="-122"/>
                <a:cs typeface="Inter" pitchFamily="34" charset="-120"/>
              </a:rPr>
              <a:t>Two lines of append covered a chat. They do not cover a job with stages.</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13</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4300" b="1" dirty="0">
                <a:solidFill>
                  <a:srgbClr val="EAF0FF"/>
                </a:solidFill>
                <a:latin typeface="Poppins" pitchFamily="34" charset="0"/>
                <a:ea typeface="Poppins" pitchFamily="34" charset="-122"/>
                <a:cs typeface="Poppins" pitchFamily="34" charset="-120"/>
              </a:rPr>
              <a:t>Cost and latency</a:t>
            </a:r>
            <a:endParaRPr lang="en-US" sz="4300" dirty="0"/>
          </a:p>
        </p:txBody>
      </p:sp>
      <p:sp>
        <p:nvSpPr>
          <p:cNvPr id="7" name="Shape 3"/>
          <p:cNvSpPr/>
          <p:nvPr/>
        </p:nvSpPr>
        <p:spPr>
          <a:xfrm>
            <a:off x="868680" y="2907792"/>
            <a:ext cx="1024128" cy="384048"/>
          </a:xfrm>
          <a:prstGeom prst="roundRect">
            <a:avLst>
              <a:gd name="adj" fmla="val 14286"/>
            </a:avLst>
          </a:prstGeom>
          <a:solidFill>
            <a:srgbClr val="3257F0"/>
          </a:solidFill>
          <a:ln w="12700">
            <a:solidFill>
              <a:srgbClr val="3257F0"/>
            </a:solidFill>
            <a:prstDash val="solid"/>
          </a:ln>
        </p:spPr>
      </p:sp>
      <p:sp>
        <p:nvSpPr>
          <p:cNvPr id="8" name="Text 4"/>
          <p:cNvSpPr txBox="1"/>
          <p:nvPr/>
        </p:nvSpPr>
        <p:spPr>
          <a:xfrm>
            <a:off x="868680" y="3346704"/>
            <a:ext cx="1024128" cy="292608"/>
          </a:xfrm>
          <a:prstGeom prst="rect">
            <a:avLst/>
          </a:prstGeom>
          <a:noFill/>
          <a:ln/>
        </p:spPr>
        <p:txBody>
          <a:bodyPr wrap="square" lIns="0" tIns="0" rIns="0" bIns="0" rtlCol="0" anchor="ctr"/>
          <a:lstStyle/>
          <a:p>
            <a:pPr marL="0" indent="0" algn="ctr">
              <a:buNone/>
            </a:pPr>
            <a:r>
              <a:rPr lang="en-US" sz="1600" dirty="0">
                <a:solidFill>
                  <a:srgbClr val="6E80B4"/>
                </a:solidFill>
                <a:latin typeface="Inter" pitchFamily="34" charset="0"/>
                <a:ea typeface="Inter" pitchFamily="34" charset="-122"/>
                <a:cs typeface="Inter" pitchFamily="34" charset="-120"/>
              </a:rPr>
              <a:t>T1</a:t>
            </a:r>
            <a:endParaRPr lang="en-US" sz="1600" dirty="0"/>
          </a:p>
        </p:txBody>
      </p:sp>
      <p:sp>
        <p:nvSpPr>
          <p:cNvPr id="9" name="Shape 5"/>
          <p:cNvSpPr/>
          <p:nvPr/>
        </p:nvSpPr>
        <p:spPr>
          <a:xfrm>
            <a:off x="2185416" y="2752344"/>
            <a:ext cx="1024128" cy="539496"/>
          </a:xfrm>
          <a:prstGeom prst="roundRect">
            <a:avLst>
              <a:gd name="adj" fmla="val 10169"/>
            </a:avLst>
          </a:prstGeom>
          <a:solidFill>
            <a:srgbClr val="3257F0"/>
          </a:solidFill>
          <a:ln w="12700">
            <a:solidFill>
              <a:srgbClr val="3257F0"/>
            </a:solidFill>
            <a:prstDash val="solid"/>
          </a:ln>
        </p:spPr>
      </p:sp>
      <p:sp>
        <p:nvSpPr>
          <p:cNvPr id="10" name="Text 6"/>
          <p:cNvSpPr txBox="1"/>
          <p:nvPr/>
        </p:nvSpPr>
        <p:spPr>
          <a:xfrm>
            <a:off x="2185416" y="3346704"/>
            <a:ext cx="1024128" cy="292608"/>
          </a:xfrm>
          <a:prstGeom prst="rect">
            <a:avLst/>
          </a:prstGeom>
          <a:noFill/>
          <a:ln/>
        </p:spPr>
        <p:txBody>
          <a:bodyPr wrap="square" lIns="0" tIns="0" rIns="0" bIns="0" rtlCol="0" anchor="ctr"/>
          <a:lstStyle/>
          <a:p>
            <a:pPr marL="0" indent="0" algn="ctr">
              <a:buNone/>
            </a:pPr>
            <a:r>
              <a:rPr lang="en-US" sz="1600" dirty="0">
                <a:solidFill>
                  <a:srgbClr val="6E80B4"/>
                </a:solidFill>
                <a:latin typeface="Inter" pitchFamily="34" charset="0"/>
                <a:ea typeface="Inter" pitchFamily="34" charset="-122"/>
                <a:cs typeface="Inter" pitchFamily="34" charset="-120"/>
              </a:rPr>
              <a:t>T2</a:t>
            </a:r>
            <a:endParaRPr lang="en-US" sz="1600" dirty="0"/>
          </a:p>
        </p:txBody>
      </p:sp>
      <p:sp>
        <p:nvSpPr>
          <p:cNvPr id="11" name="Shape 7"/>
          <p:cNvSpPr/>
          <p:nvPr/>
        </p:nvSpPr>
        <p:spPr>
          <a:xfrm>
            <a:off x="3502152" y="2596896"/>
            <a:ext cx="1024128" cy="694944"/>
          </a:xfrm>
          <a:prstGeom prst="roundRect">
            <a:avLst>
              <a:gd name="adj" fmla="val 7895"/>
            </a:avLst>
          </a:prstGeom>
          <a:solidFill>
            <a:srgbClr val="3257F0"/>
          </a:solidFill>
          <a:ln w="12700">
            <a:solidFill>
              <a:srgbClr val="3257F0"/>
            </a:solidFill>
            <a:prstDash val="solid"/>
          </a:ln>
        </p:spPr>
      </p:sp>
      <p:sp>
        <p:nvSpPr>
          <p:cNvPr id="12" name="Text 8"/>
          <p:cNvSpPr txBox="1"/>
          <p:nvPr/>
        </p:nvSpPr>
        <p:spPr>
          <a:xfrm>
            <a:off x="3502152" y="3346704"/>
            <a:ext cx="1024128" cy="292608"/>
          </a:xfrm>
          <a:prstGeom prst="rect">
            <a:avLst/>
          </a:prstGeom>
          <a:noFill/>
          <a:ln/>
        </p:spPr>
        <p:txBody>
          <a:bodyPr wrap="square" lIns="0" tIns="0" rIns="0" bIns="0" rtlCol="0" anchor="ctr"/>
          <a:lstStyle/>
          <a:p>
            <a:pPr marL="0" indent="0" algn="ctr">
              <a:buNone/>
            </a:pPr>
            <a:r>
              <a:rPr lang="en-US" sz="1600" dirty="0">
                <a:solidFill>
                  <a:srgbClr val="6E80B4"/>
                </a:solidFill>
                <a:latin typeface="Inter" pitchFamily="34" charset="0"/>
                <a:ea typeface="Inter" pitchFamily="34" charset="-122"/>
                <a:cs typeface="Inter" pitchFamily="34" charset="-120"/>
              </a:rPr>
              <a:t>T3</a:t>
            </a:r>
            <a:endParaRPr lang="en-US" sz="1600" dirty="0"/>
          </a:p>
        </p:txBody>
      </p:sp>
      <p:sp>
        <p:nvSpPr>
          <p:cNvPr id="13" name="Shape 9"/>
          <p:cNvSpPr/>
          <p:nvPr/>
        </p:nvSpPr>
        <p:spPr>
          <a:xfrm>
            <a:off x="4818888" y="2441448"/>
            <a:ext cx="1024128" cy="850392"/>
          </a:xfrm>
          <a:prstGeom prst="roundRect">
            <a:avLst>
              <a:gd name="adj" fmla="val 6452"/>
            </a:avLst>
          </a:prstGeom>
          <a:solidFill>
            <a:srgbClr val="3257F0"/>
          </a:solidFill>
          <a:ln w="12700">
            <a:solidFill>
              <a:srgbClr val="3257F0"/>
            </a:solidFill>
            <a:prstDash val="solid"/>
          </a:ln>
        </p:spPr>
      </p:sp>
      <p:sp>
        <p:nvSpPr>
          <p:cNvPr id="14" name="Text 10"/>
          <p:cNvSpPr txBox="1"/>
          <p:nvPr/>
        </p:nvSpPr>
        <p:spPr>
          <a:xfrm>
            <a:off x="4818888" y="3346704"/>
            <a:ext cx="1024128" cy="292608"/>
          </a:xfrm>
          <a:prstGeom prst="rect">
            <a:avLst/>
          </a:prstGeom>
          <a:noFill/>
          <a:ln/>
        </p:spPr>
        <p:txBody>
          <a:bodyPr wrap="square" lIns="0" tIns="0" rIns="0" bIns="0" rtlCol="0" anchor="ctr"/>
          <a:lstStyle/>
          <a:p>
            <a:pPr marL="0" indent="0" algn="ctr">
              <a:buNone/>
            </a:pPr>
            <a:r>
              <a:rPr lang="en-US" sz="1600" dirty="0">
                <a:solidFill>
                  <a:srgbClr val="6E80B4"/>
                </a:solidFill>
                <a:latin typeface="Inter" pitchFamily="34" charset="0"/>
                <a:ea typeface="Inter" pitchFamily="34" charset="-122"/>
                <a:cs typeface="Inter" pitchFamily="34" charset="-120"/>
              </a:rPr>
              <a:t>T4</a:t>
            </a:r>
            <a:endParaRPr lang="en-US" sz="1600" dirty="0"/>
          </a:p>
        </p:txBody>
      </p:sp>
      <p:sp>
        <p:nvSpPr>
          <p:cNvPr id="15" name="Shape 11"/>
          <p:cNvSpPr/>
          <p:nvPr/>
        </p:nvSpPr>
        <p:spPr>
          <a:xfrm>
            <a:off x="6135624" y="2286000"/>
            <a:ext cx="1024128" cy="1005840"/>
          </a:xfrm>
          <a:prstGeom prst="roundRect">
            <a:avLst>
              <a:gd name="adj" fmla="val 5455"/>
            </a:avLst>
          </a:prstGeom>
          <a:solidFill>
            <a:srgbClr val="3E7FE0"/>
          </a:solidFill>
          <a:ln w="12700">
            <a:solidFill>
              <a:srgbClr val="3E7FE0"/>
            </a:solidFill>
            <a:prstDash val="solid"/>
          </a:ln>
        </p:spPr>
      </p:sp>
      <p:sp>
        <p:nvSpPr>
          <p:cNvPr id="16" name="Text 12"/>
          <p:cNvSpPr txBox="1"/>
          <p:nvPr/>
        </p:nvSpPr>
        <p:spPr>
          <a:xfrm>
            <a:off x="6135624" y="3346704"/>
            <a:ext cx="1024128" cy="292608"/>
          </a:xfrm>
          <a:prstGeom prst="rect">
            <a:avLst/>
          </a:prstGeom>
          <a:noFill/>
          <a:ln/>
        </p:spPr>
        <p:txBody>
          <a:bodyPr wrap="square" lIns="0" tIns="0" rIns="0" bIns="0" rtlCol="0" anchor="ctr"/>
          <a:lstStyle/>
          <a:p>
            <a:pPr marL="0" indent="0" algn="ctr">
              <a:buNone/>
            </a:pPr>
            <a:r>
              <a:rPr lang="en-US" sz="1600" dirty="0">
                <a:solidFill>
                  <a:srgbClr val="6E80B4"/>
                </a:solidFill>
                <a:latin typeface="Inter" pitchFamily="34" charset="0"/>
                <a:ea typeface="Inter" pitchFamily="34" charset="-122"/>
                <a:cs typeface="Inter" pitchFamily="34" charset="-120"/>
              </a:rPr>
              <a:t>T5</a:t>
            </a:r>
            <a:endParaRPr lang="en-US" sz="1600" dirty="0"/>
          </a:p>
        </p:txBody>
      </p:sp>
      <p:sp>
        <p:nvSpPr>
          <p:cNvPr id="17" name="Shape 13"/>
          <p:cNvSpPr/>
          <p:nvPr/>
        </p:nvSpPr>
        <p:spPr>
          <a:xfrm>
            <a:off x="7452360" y="2130552"/>
            <a:ext cx="1024128" cy="1161288"/>
          </a:xfrm>
          <a:prstGeom prst="roundRect">
            <a:avLst>
              <a:gd name="adj" fmla="val 5357"/>
            </a:avLst>
          </a:prstGeom>
          <a:solidFill>
            <a:srgbClr val="3E7FE0"/>
          </a:solidFill>
          <a:ln w="12700">
            <a:solidFill>
              <a:srgbClr val="3E7FE0"/>
            </a:solidFill>
            <a:prstDash val="solid"/>
          </a:ln>
        </p:spPr>
      </p:sp>
      <p:sp>
        <p:nvSpPr>
          <p:cNvPr id="18" name="Text 14"/>
          <p:cNvSpPr txBox="1"/>
          <p:nvPr/>
        </p:nvSpPr>
        <p:spPr>
          <a:xfrm>
            <a:off x="7452360" y="3346704"/>
            <a:ext cx="1024128" cy="292608"/>
          </a:xfrm>
          <a:prstGeom prst="rect">
            <a:avLst/>
          </a:prstGeom>
          <a:noFill/>
          <a:ln/>
        </p:spPr>
        <p:txBody>
          <a:bodyPr wrap="square" lIns="0" tIns="0" rIns="0" bIns="0" rtlCol="0" anchor="ctr"/>
          <a:lstStyle/>
          <a:p>
            <a:pPr marL="0" indent="0" algn="ctr">
              <a:buNone/>
            </a:pPr>
            <a:r>
              <a:rPr lang="en-US" sz="1600" dirty="0">
                <a:solidFill>
                  <a:srgbClr val="6E80B4"/>
                </a:solidFill>
                <a:latin typeface="Inter" pitchFamily="34" charset="0"/>
                <a:ea typeface="Inter" pitchFamily="34" charset="-122"/>
                <a:cs typeface="Inter" pitchFamily="34" charset="-120"/>
              </a:rPr>
              <a:t>T6</a:t>
            </a:r>
            <a:endParaRPr lang="en-US" sz="1600" dirty="0"/>
          </a:p>
        </p:txBody>
      </p:sp>
      <p:sp>
        <p:nvSpPr>
          <p:cNvPr id="19" name="Shape 15"/>
          <p:cNvSpPr/>
          <p:nvPr/>
        </p:nvSpPr>
        <p:spPr>
          <a:xfrm>
            <a:off x="8769096" y="1975104"/>
            <a:ext cx="1024128" cy="1316736"/>
          </a:xfrm>
          <a:prstGeom prst="roundRect">
            <a:avLst>
              <a:gd name="adj" fmla="val 5357"/>
            </a:avLst>
          </a:prstGeom>
          <a:solidFill>
            <a:srgbClr val="F5C542"/>
          </a:solidFill>
          <a:ln w="12700">
            <a:solidFill>
              <a:srgbClr val="F5C542"/>
            </a:solidFill>
            <a:prstDash val="solid"/>
          </a:ln>
        </p:spPr>
      </p:sp>
      <p:sp>
        <p:nvSpPr>
          <p:cNvPr id="20" name="Text 16"/>
          <p:cNvSpPr txBox="1"/>
          <p:nvPr/>
        </p:nvSpPr>
        <p:spPr>
          <a:xfrm>
            <a:off x="8769096" y="3346704"/>
            <a:ext cx="1024128" cy="292608"/>
          </a:xfrm>
          <a:prstGeom prst="rect">
            <a:avLst/>
          </a:prstGeom>
          <a:noFill/>
          <a:ln/>
        </p:spPr>
        <p:txBody>
          <a:bodyPr wrap="square" lIns="0" tIns="0" rIns="0" bIns="0" rtlCol="0" anchor="ctr"/>
          <a:lstStyle/>
          <a:p>
            <a:pPr marL="0" indent="0" algn="ctr">
              <a:buNone/>
            </a:pPr>
            <a:r>
              <a:rPr lang="en-US" sz="1600" dirty="0">
                <a:solidFill>
                  <a:srgbClr val="6E80B4"/>
                </a:solidFill>
                <a:latin typeface="Inter" pitchFamily="34" charset="0"/>
                <a:ea typeface="Inter" pitchFamily="34" charset="-122"/>
                <a:cs typeface="Inter" pitchFamily="34" charset="-120"/>
              </a:rPr>
              <a:t>T7</a:t>
            </a:r>
            <a:endParaRPr lang="en-US" sz="1600" dirty="0"/>
          </a:p>
        </p:txBody>
      </p:sp>
      <p:sp>
        <p:nvSpPr>
          <p:cNvPr id="21" name="Shape 17"/>
          <p:cNvSpPr/>
          <p:nvPr/>
        </p:nvSpPr>
        <p:spPr>
          <a:xfrm>
            <a:off x="10085832" y="1819656"/>
            <a:ext cx="1024128" cy="1472184"/>
          </a:xfrm>
          <a:prstGeom prst="roundRect">
            <a:avLst>
              <a:gd name="adj" fmla="val 5357"/>
            </a:avLst>
          </a:prstGeom>
          <a:solidFill>
            <a:srgbClr val="F5C542"/>
          </a:solidFill>
          <a:ln w="12700">
            <a:solidFill>
              <a:srgbClr val="F5C542"/>
            </a:solidFill>
            <a:prstDash val="solid"/>
          </a:ln>
        </p:spPr>
      </p:sp>
      <p:sp>
        <p:nvSpPr>
          <p:cNvPr id="22" name="Text 18"/>
          <p:cNvSpPr txBox="1"/>
          <p:nvPr/>
        </p:nvSpPr>
        <p:spPr>
          <a:xfrm>
            <a:off x="10085832" y="3346704"/>
            <a:ext cx="1024128" cy="292608"/>
          </a:xfrm>
          <a:prstGeom prst="rect">
            <a:avLst/>
          </a:prstGeom>
          <a:noFill/>
          <a:ln/>
        </p:spPr>
        <p:txBody>
          <a:bodyPr wrap="square" lIns="0" tIns="0" rIns="0" bIns="0" rtlCol="0" anchor="ctr"/>
          <a:lstStyle/>
          <a:p>
            <a:pPr marL="0" indent="0" algn="ctr">
              <a:buNone/>
            </a:pPr>
            <a:r>
              <a:rPr lang="en-US" sz="1600" dirty="0">
                <a:solidFill>
                  <a:srgbClr val="6E80B4"/>
                </a:solidFill>
                <a:latin typeface="Inter" pitchFamily="34" charset="0"/>
                <a:ea typeface="Inter" pitchFamily="34" charset="-122"/>
                <a:cs typeface="Inter" pitchFamily="34" charset="-120"/>
              </a:rPr>
              <a:t>T8</a:t>
            </a:r>
            <a:endParaRPr lang="en-US" sz="1600" dirty="0"/>
          </a:p>
        </p:txBody>
      </p:sp>
      <p:sp>
        <p:nvSpPr>
          <p:cNvPr id="23" name="Shape 19"/>
          <p:cNvSpPr/>
          <p:nvPr/>
        </p:nvSpPr>
        <p:spPr>
          <a:xfrm>
            <a:off x="868680" y="3794760"/>
            <a:ext cx="10424160" cy="1600200"/>
          </a:xfrm>
          <a:prstGeom prst="roundRect">
            <a:avLst>
              <a:gd name="adj" fmla="val 5714"/>
            </a:avLst>
          </a:prstGeom>
          <a:solidFill>
            <a:srgbClr val="0A1024"/>
          </a:solidFill>
          <a:ln w="12700">
            <a:solidFill>
              <a:srgbClr val="1E2A55"/>
            </a:solidFill>
            <a:prstDash val="solid"/>
          </a:ln>
        </p:spPr>
      </p:sp>
      <p:sp>
        <p:nvSpPr>
          <p:cNvPr id="24" name="Text 20"/>
          <p:cNvSpPr txBox="1"/>
          <p:nvPr/>
        </p:nvSpPr>
        <p:spPr>
          <a:xfrm>
            <a:off x="1179576" y="4105656"/>
            <a:ext cx="9802368" cy="978408"/>
          </a:xfrm>
          <a:prstGeom prst="rect">
            <a:avLst/>
          </a:prstGeom>
          <a:noFill/>
          <a:ln/>
        </p:spPr>
        <p:txBody>
          <a:bodyPr wrap="square" lIns="0" tIns="0" rIns="0" bIns="0" rtlCol="0" anchor="t"/>
          <a:lstStyle/>
          <a:p>
            <a:pPr marL="0" indent="0">
              <a:lnSpc>
                <a:spcPct val="118000"/>
              </a:lnSpc>
              <a:spcAft>
                <a:spcPts val="680"/>
              </a:spcAft>
              <a:buNone/>
            </a:pPr>
            <a:r>
              <a:rPr lang="en-US" sz="1360" dirty="0">
                <a:solidFill>
                  <a:srgbClr val="EAF0FF"/>
                </a:solidFill>
                <a:latin typeface="Inter" pitchFamily="34" charset="0"/>
                <a:ea typeface="Inter" pitchFamily="34" charset="-122"/>
                <a:cs typeface="Inter" pitchFamily="34" charset="-120"/>
              </a:rPr>
              <a:t>Cost. You pay for the whole list again, every single turn. Turn one sends one message; turn eight sends fifteen; turn one hundred sends the entire conversation, again.</a:t>
            </a:r>
            <a:endParaRPr lang="en-US" sz="1292" dirty="0"/>
          </a:p>
          <a:p>
            <a:pPr marL="0" indent="0">
              <a:lnSpc>
                <a:spcPct val="118000"/>
              </a:lnSpc>
              <a:spcAft>
                <a:spcPts val="680"/>
              </a:spcAft>
              <a:buNone/>
            </a:pPr>
            <a:r>
              <a:rPr lang="en-US" sz="1292" dirty="0">
                <a:solidFill>
                  <a:srgbClr val="9FB0D6"/>
                </a:solidFill>
                <a:latin typeface="Inter" pitchFamily="34" charset="0"/>
                <a:ea typeface="Inter" pitchFamily="34" charset="-122"/>
                <a:cs typeface="Inter" pitchFamily="34" charset="-120"/>
              </a:rPr>
              <a:t>Latency. More context to read means longer before the first word appears. Caching softens the bill, but the shape of the problem does not change.</a:t>
            </a:r>
            <a:endParaRPr lang="en-US" sz="1292"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14</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4300" b="1" dirty="0">
                <a:solidFill>
                  <a:srgbClr val="EAF0FF"/>
                </a:solidFill>
                <a:latin typeface="Poppins" pitchFamily="34" charset="0"/>
                <a:ea typeface="Poppins" pitchFamily="34" charset="-122"/>
                <a:cs typeface="Poppins" pitchFamily="34" charset="-120"/>
              </a:rPr>
              <a:t>Three ways to make it fit</a:t>
            </a:r>
            <a:endParaRPr lang="en-US" sz="4300" dirty="0"/>
          </a:p>
        </p:txBody>
      </p:sp>
      <p:sp>
        <p:nvSpPr>
          <p:cNvPr id="7" name="Shape 3"/>
          <p:cNvSpPr/>
          <p:nvPr/>
        </p:nvSpPr>
        <p:spPr>
          <a:xfrm>
            <a:off x="868680" y="1600200"/>
            <a:ext cx="3200400" cy="3794760"/>
          </a:xfrm>
          <a:prstGeom prst="roundRect">
            <a:avLst>
              <a:gd name="adj" fmla="val 2857"/>
            </a:avLst>
          </a:prstGeom>
          <a:solidFill>
            <a:srgbClr val="0A1024"/>
          </a:solidFill>
          <a:ln w="12700">
            <a:solidFill>
              <a:srgbClr val="1E2A55"/>
            </a:solidFill>
            <a:prstDash val="solid"/>
          </a:ln>
        </p:spPr>
      </p:sp>
      <p:sp>
        <p:nvSpPr>
          <p:cNvPr id="8" name="Text 4"/>
          <p:cNvSpPr txBox="1"/>
          <p:nvPr/>
        </p:nvSpPr>
        <p:spPr>
          <a:xfrm>
            <a:off x="1143000" y="1856232"/>
            <a:ext cx="2651760" cy="402336"/>
          </a:xfrm>
          <a:prstGeom prst="rect">
            <a:avLst/>
          </a:prstGeom>
          <a:noFill/>
          <a:ln/>
        </p:spPr>
        <p:txBody>
          <a:bodyPr wrap="square" lIns="0" tIns="0" rIns="0" bIns="0" rtlCol="0" anchor="ctr"/>
          <a:lstStyle/>
          <a:p>
            <a:pPr marL="0" indent="0">
              <a:buNone/>
            </a:pPr>
            <a:r>
              <a:rPr lang="en-US" sz="1600" b="1" kern="0" spc="200" dirty="0">
                <a:solidFill>
                  <a:srgbClr val="3FD0E6"/>
                </a:solidFill>
                <a:latin typeface="Inter" pitchFamily="34" charset="0"/>
                <a:ea typeface="Inter" pitchFamily="34" charset="-122"/>
                <a:cs typeface="Inter" pitchFamily="34" charset="-120"/>
              </a:rPr>
              <a:t>SLIDING WINDOW</a:t>
            </a:r>
            <a:endParaRPr lang="en-US" sz="1600" dirty="0"/>
          </a:p>
        </p:txBody>
      </p:sp>
      <p:sp>
        <p:nvSpPr>
          <p:cNvPr id="9" name="Text 5"/>
          <p:cNvSpPr txBox="1"/>
          <p:nvPr/>
        </p:nvSpPr>
        <p:spPr>
          <a:xfrm>
            <a:off x="1143000" y="2313432"/>
            <a:ext cx="2651760" cy="2834640"/>
          </a:xfrm>
          <a:prstGeom prst="rect">
            <a:avLst/>
          </a:prstGeom>
          <a:noFill/>
          <a:ln/>
        </p:spPr>
        <p:txBody>
          <a:bodyPr wrap="square" lIns="0" tIns="0" rIns="0" bIns="0" rtlCol="0" anchor="t"/>
          <a:lstStyle/>
          <a:p>
            <a:pPr marL="0" indent="0">
              <a:lnSpc>
                <a:spcPct val="120000"/>
              </a:lnSpc>
              <a:buNone/>
            </a:pPr>
            <a:r>
              <a:rPr lang="en-US" sz="1692" dirty="0">
                <a:solidFill>
                  <a:srgbClr val="EAF0FF"/>
                </a:solidFill>
                <a:latin typeface="Inter" pitchFamily="34" charset="0"/>
                <a:ea typeface="Inter" pitchFamily="34" charset="-122"/>
                <a:cs typeface="Inter" pitchFamily="34" charset="-120"/>
              </a:rPr>
              <a:t>Keep the last ten entries, drop the rest. One line of Python, and it genuinely solves overflow. Then message two was “My name is Aarav”, and twenty turns later it is gone.</a:t>
            </a:r>
            <a:endParaRPr lang="en-US" sz="1692" dirty="0"/>
          </a:p>
        </p:txBody>
      </p:sp>
      <p:sp>
        <p:nvSpPr>
          <p:cNvPr id="10" name="Shape 6"/>
          <p:cNvSpPr/>
          <p:nvPr/>
        </p:nvSpPr>
        <p:spPr>
          <a:xfrm>
            <a:off x="4434840" y="1600200"/>
            <a:ext cx="3200400" cy="3794760"/>
          </a:xfrm>
          <a:prstGeom prst="roundRect">
            <a:avLst>
              <a:gd name="adj" fmla="val 2857"/>
            </a:avLst>
          </a:prstGeom>
          <a:solidFill>
            <a:srgbClr val="0A1024"/>
          </a:solidFill>
          <a:ln w="12700">
            <a:solidFill>
              <a:srgbClr val="1E2A55"/>
            </a:solidFill>
            <a:prstDash val="solid"/>
          </a:ln>
        </p:spPr>
      </p:sp>
      <p:sp>
        <p:nvSpPr>
          <p:cNvPr id="11" name="Text 7"/>
          <p:cNvSpPr txBox="1"/>
          <p:nvPr/>
        </p:nvSpPr>
        <p:spPr>
          <a:xfrm>
            <a:off x="4709160" y="1856232"/>
            <a:ext cx="2651760" cy="402336"/>
          </a:xfrm>
          <a:prstGeom prst="rect">
            <a:avLst/>
          </a:prstGeom>
          <a:noFill/>
          <a:ln/>
        </p:spPr>
        <p:txBody>
          <a:bodyPr wrap="square" lIns="0" tIns="0" rIns="0" bIns="0" rtlCol="0" anchor="ctr"/>
          <a:lstStyle/>
          <a:p>
            <a:pPr marL="0" indent="0">
              <a:buNone/>
            </a:pPr>
            <a:r>
              <a:rPr lang="en-US" sz="1600" b="1" kern="0" spc="200" dirty="0">
                <a:solidFill>
                  <a:srgbClr val="3FD0E6"/>
                </a:solidFill>
                <a:latin typeface="Inter" pitchFamily="34" charset="0"/>
                <a:ea typeface="Inter" pitchFamily="34" charset="-122"/>
                <a:cs typeface="Inter" pitchFamily="34" charset="-120"/>
              </a:rPr>
              <a:t>SUMMARISATION</a:t>
            </a:r>
            <a:endParaRPr lang="en-US" sz="1600" dirty="0"/>
          </a:p>
        </p:txBody>
      </p:sp>
      <p:sp>
        <p:nvSpPr>
          <p:cNvPr id="12" name="Text 8"/>
          <p:cNvSpPr txBox="1"/>
          <p:nvPr/>
        </p:nvSpPr>
        <p:spPr>
          <a:xfrm>
            <a:off x="4709160" y="2313432"/>
            <a:ext cx="2651760" cy="2834640"/>
          </a:xfrm>
          <a:prstGeom prst="rect">
            <a:avLst/>
          </a:prstGeom>
          <a:noFill/>
          <a:ln/>
        </p:spPr>
        <p:txBody>
          <a:bodyPr wrap="square" lIns="0" tIns="0" rIns="0" bIns="0" rtlCol="0" anchor="t"/>
          <a:lstStyle/>
          <a:p>
            <a:pPr marL="0" indent="0">
              <a:lnSpc>
                <a:spcPct val="120000"/>
              </a:lnSpc>
              <a:buNone/>
            </a:pPr>
            <a:r>
              <a:rPr lang="en-US" sz="1584" dirty="0">
                <a:solidFill>
                  <a:srgbClr val="EAF0FF"/>
                </a:solidFill>
                <a:latin typeface="Inter" pitchFamily="34" charset="0"/>
                <a:ea typeface="Inter" pitchFamily="34" charset="-122"/>
                <a:cs typeface="Inter" pitchFamily="34" charset="-120"/>
              </a:rPr>
              <a:t>Fold fifty old turns into one paragraph: who this is, what they decided, what they are working on. Then keep the summary plus recent messages. Lossy compression. Whatever the summariser drops is gone for good.</a:t>
            </a:r>
            <a:endParaRPr lang="en-US" sz="1584" dirty="0"/>
          </a:p>
        </p:txBody>
      </p:sp>
      <p:sp>
        <p:nvSpPr>
          <p:cNvPr id="13" name="Shape 9"/>
          <p:cNvSpPr/>
          <p:nvPr/>
        </p:nvSpPr>
        <p:spPr>
          <a:xfrm>
            <a:off x="8001000" y="1600200"/>
            <a:ext cx="3200400" cy="3794760"/>
          </a:xfrm>
          <a:prstGeom prst="roundRect">
            <a:avLst>
              <a:gd name="adj" fmla="val 2857"/>
            </a:avLst>
          </a:prstGeom>
          <a:solidFill>
            <a:srgbClr val="16123A"/>
          </a:solidFill>
          <a:ln w="12700">
            <a:solidFill>
              <a:srgbClr val="4B3E9E"/>
            </a:solidFill>
            <a:prstDash val="solid"/>
          </a:ln>
        </p:spPr>
      </p:sp>
      <p:sp>
        <p:nvSpPr>
          <p:cNvPr id="14" name="Text 10"/>
          <p:cNvSpPr txBox="1"/>
          <p:nvPr/>
        </p:nvSpPr>
        <p:spPr>
          <a:xfrm>
            <a:off x="8275320" y="1856232"/>
            <a:ext cx="2651760" cy="402336"/>
          </a:xfrm>
          <a:prstGeom prst="rect">
            <a:avLst/>
          </a:prstGeom>
          <a:noFill/>
          <a:ln/>
        </p:spPr>
        <p:txBody>
          <a:bodyPr wrap="square" lIns="0" tIns="0" rIns="0" bIns="0" rtlCol="0" anchor="ctr"/>
          <a:lstStyle/>
          <a:p>
            <a:pPr marL="0" indent="0">
              <a:buNone/>
            </a:pPr>
            <a:r>
              <a:rPr lang="en-US" sz="1600" b="1" kern="0" spc="200" dirty="0">
                <a:solidFill>
                  <a:srgbClr val="F5C542"/>
                </a:solidFill>
                <a:latin typeface="Inter" pitchFamily="34" charset="0"/>
                <a:ea typeface="Inter" pitchFamily="34" charset="-122"/>
                <a:cs typeface="Inter" pitchFamily="34" charset="-120"/>
              </a:rPr>
              <a:t>PINNED FACTS</a:t>
            </a:r>
            <a:endParaRPr lang="en-US" sz="1600" dirty="0"/>
          </a:p>
        </p:txBody>
      </p:sp>
      <p:sp>
        <p:nvSpPr>
          <p:cNvPr id="15" name="Text 11"/>
          <p:cNvSpPr txBox="1"/>
          <p:nvPr/>
        </p:nvSpPr>
        <p:spPr>
          <a:xfrm>
            <a:off x="8275320" y="2313432"/>
            <a:ext cx="2651760" cy="2834640"/>
          </a:xfrm>
          <a:prstGeom prst="rect">
            <a:avLst/>
          </a:prstGeom>
          <a:noFill/>
          <a:ln/>
        </p:spPr>
        <p:txBody>
          <a:bodyPr wrap="square" lIns="0" tIns="0" rIns="0" bIns="0" rtlCol="0" anchor="t"/>
          <a:lstStyle/>
          <a:p>
            <a:pPr marL="0" indent="0">
              <a:lnSpc>
                <a:spcPct val="120000"/>
              </a:lnSpc>
              <a:buNone/>
            </a:pPr>
            <a:r>
              <a:rPr lang="en-US" sz="1584" dirty="0">
                <a:solidFill>
                  <a:srgbClr val="EAF0FF"/>
                </a:solidFill>
                <a:latin typeface="Inter" pitchFamily="34" charset="0"/>
                <a:ea typeface="Inter" pitchFamily="34" charset="-122"/>
                <a:cs typeface="Inter" pitchFamily="34" charset="-120"/>
              </a:rPr>
              <a:t>A handful of durable facts held outside the transcript and injected every time. The user is Aarav, he prefers Python, his project is vehicle detection. Old history can go; the lines that define the user stay.</a:t>
            </a:r>
            <a:endParaRPr lang="en-US" sz="1584" dirty="0"/>
          </a:p>
        </p:txBody>
      </p:sp>
      <p:sp>
        <p:nvSpPr>
          <p:cNvPr id="16" name="Text 12"/>
          <p:cNvSpPr txBox="1"/>
          <p:nvPr/>
        </p:nvSpPr>
        <p:spPr>
          <a:xfrm>
            <a:off x="868680" y="5486400"/>
            <a:ext cx="10424160" cy="658368"/>
          </a:xfrm>
          <a:prstGeom prst="rect">
            <a:avLst/>
          </a:prstGeom>
          <a:noFill/>
          <a:ln/>
        </p:spPr>
        <p:txBody>
          <a:bodyPr wrap="square" lIns="0" tIns="0" rIns="0" bIns="0" rtlCol="0" anchor="ctr"/>
          <a:lstStyle/>
          <a:p>
            <a:pPr marL="0" indent="0">
              <a:buNone/>
            </a:pPr>
            <a:r>
              <a:rPr lang="en-US" sz="2200" dirty="0">
                <a:solidFill>
                  <a:srgbClr val="9FB0D6"/>
                </a:solidFill>
                <a:latin typeface="Inter" pitchFamily="34" charset="0"/>
                <a:ea typeface="Inter" pitchFamily="34" charset="-122"/>
                <a:cs typeface="Inter" pitchFamily="34" charset="-120"/>
              </a:rPr>
              <a:t>Every strategy trades something. Sliding windows trade old facts for simplicity.</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15</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4300" b="1" dirty="0">
                <a:solidFill>
                  <a:srgbClr val="EAF0FF"/>
                </a:solidFill>
                <a:latin typeface="Poppins" pitchFamily="34" charset="0"/>
                <a:ea typeface="Poppins" pitchFamily="34" charset="-122"/>
                <a:cs typeface="Poppins" pitchFamily="34" charset="-120"/>
              </a:rPr>
              <a:t>Combining the strategies</a:t>
            </a:r>
            <a:endParaRPr lang="en-US" sz="4300" dirty="0"/>
          </a:p>
        </p:txBody>
      </p:sp>
      <p:sp>
        <p:nvSpPr>
          <p:cNvPr id="7" name="Shape 3"/>
          <p:cNvSpPr/>
          <p:nvPr/>
        </p:nvSpPr>
        <p:spPr>
          <a:xfrm>
            <a:off x="868680" y="1600200"/>
            <a:ext cx="6675120" cy="3794760"/>
          </a:xfrm>
          <a:prstGeom prst="roundRect">
            <a:avLst>
              <a:gd name="adj" fmla="val 2410"/>
            </a:avLst>
          </a:prstGeom>
          <a:solidFill>
            <a:srgbClr val="0A1024"/>
          </a:solidFill>
          <a:ln w="12700">
            <a:solidFill>
              <a:srgbClr val="1E2A55"/>
            </a:solidFill>
            <a:prstDash val="solid"/>
          </a:ln>
        </p:spPr>
      </p:sp>
      <p:sp>
        <p:nvSpPr>
          <p:cNvPr id="8" name="Text 4"/>
          <p:cNvSpPr txBox="1"/>
          <p:nvPr/>
        </p:nvSpPr>
        <p:spPr>
          <a:xfrm>
            <a:off x="1179576" y="1819656"/>
            <a:ext cx="6126480" cy="274320"/>
          </a:xfrm>
          <a:prstGeom prst="rect">
            <a:avLst/>
          </a:prstGeom>
          <a:noFill/>
          <a:ln/>
        </p:spPr>
        <p:txBody>
          <a:bodyPr wrap="square" lIns="0" tIns="0" rIns="0" bIns="0" rtlCol="0" anchor="ctr"/>
          <a:lstStyle/>
          <a:p>
            <a:pPr marL="0" indent="0">
              <a:buNone/>
            </a:pPr>
            <a:r>
              <a:rPr lang="en-US" sz="1550" b="1" kern="0" spc="200" dirty="0">
                <a:solidFill>
                  <a:srgbClr val="3FD0E6"/>
                </a:solidFill>
                <a:latin typeface="Inter" pitchFamily="34" charset="0"/>
                <a:ea typeface="Inter" pitchFamily="34" charset="-122"/>
                <a:cs typeface="Inter" pitchFamily="34" charset="-120"/>
              </a:rPr>
              <a:t>HOW THE CONTEXT GETS ASSEMBLED</a:t>
            </a:r>
            <a:endParaRPr lang="en-US" sz="1550" dirty="0"/>
          </a:p>
        </p:txBody>
      </p:sp>
      <p:sp>
        <p:nvSpPr>
          <p:cNvPr id="9" name="Text 5"/>
          <p:cNvSpPr txBox="1"/>
          <p:nvPr/>
        </p:nvSpPr>
        <p:spPr>
          <a:xfrm>
            <a:off x="1179576" y="2258568"/>
            <a:ext cx="6053328" cy="2862072"/>
          </a:xfrm>
          <a:prstGeom prst="rect">
            <a:avLst/>
          </a:prstGeom>
          <a:noFill/>
          <a:ln/>
        </p:spPr>
        <p:txBody>
          <a:bodyPr wrap="square" lIns="0" tIns="0" rIns="0" bIns="0" rtlCol="0" anchor="t"/>
          <a:lstStyle/>
          <a:p>
            <a:pPr marL="0" indent="0">
              <a:lnSpc>
                <a:spcPct val="118000"/>
              </a:lnSpc>
              <a:spcAft>
                <a:spcPts val="612"/>
              </a:spcAft>
              <a:buNone/>
            </a:pPr>
            <a:r>
              <a:rPr lang="en-US" sz="1292" dirty="0">
                <a:solidFill>
                  <a:srgbClr val="EAF0FF"/>
                </a:solidFill>
                <a:latin typeface="Inter" pitchFamily="34" charset="0"/>
                <a:ea typeface="Inter" pitchFamily="34" charset="-122"/>
                <a:cs typeface="Inter" pitchFamily="34" charset="-120"/>
              </a:rPr>
              <a:t>Pinned facts ride along on every single call. Name, preferred language, the project. A handful of lines that never age out, however old the conversation gets.</a:t>
            </a:r>
            <a:endParaRPr lang="en-US" sz="1292" dirty="0"/>
          </a:p>
          <a:p>
            <a:pPr marL="0" indent="0">
              <a:lnSpc>
                <a:spcPct val="118000"/>
              </a:lnSpc>
              <a:spcAft>
                <a:spcPts val="612"/>
              </a:spcAft>
              <a:buNone/>
            </a:pPr>
            <a:r>
              <a:rPr lang="en-US" sz="1292" dirty="0">
                <a:solidFill>
                  <a:srgbClr val="EAF0FF"/>
                </a:solidFill>
                <a:latin typeface="Inter" pitchFamily="34" charset="0"/>
                <a:ea typeface="Inter" pitchFamily="34" charset="-122"/>
                <a:cs typeface="Inter" pitchFamily="34" charset="-120"/>
              </a:rPr>
              <a:t>A summary covers the middle. Fifty turns folded into a paragraph: who this is, what they decided, what they are working on.</a:t>
            </a:r>
            <a:endParaRPr lang="en-US" sz="1292" dirty="0"/>
          </a:p>
          <a:p>
            <a:pPr marL="0" indent="0">
              <a:lnSpc>
                <a:spcPct val="118000"/>
              </a:lnSpc>
              <a:spcAft>
                <a:spcPts val="612"/>
              </a:spcAft>
              <a:buNone/>
            </a:pPr>
            <a:r>
              <a:rPr lang="en-US" sz="1292" dirty="0">
                <a:solidFill>
                  <a:srgbClr val="EAF0FF"/>
                </a:solidFill>
                <a:latin typeface="Inter" pitchFamily="34" charset="0"/>
                <a:ea typeface="Inter" pitchFamily="34" charset="-122"/>
                <a:cs typeface="Inter" pitchFamily="34" charset="-120"/>
              </a:rPr>
              <a:t>Recent turns stay verbatim. The last few exchanges go in word for word, because tone, phrasing and the immediate thread matter there.</a:t>
            </a:r>
            <a:endParaRPr lang="en-US" sz="1292" dirty="0"/>
          </a:p>
          <a:p>
            <a:pPr marL="0" indent="0">
              <a:lnSpc>
                <a:spcPct val="118000"/>
              </a:lnSpc>
              <a:spcAft>
                <a:spcPts val="612"/>
              </a:spcAft>
              <a:buNone/>
            </a:pPr>
            <a:r>
              <a:rPr lang="en-US" sz="1292" dirty="0">
                <a:solidFill>
                  <a:srgbClr val="9FB0D6"/>
                </a:solidFill>
                <a:latin typeface="Inter" pitchFamily="34" charset="0"/>
                <a:ea typeface="Inter" pitchFamily="34" charset="-122"/>
                <a:cs typeface="Inter" pitchFamily="34" charset="-120"/>
              </a:rPr>
              <a:t>All three are concatenated into the working context and sent. No magic, just a fixed budget spent deliberately.</a:t>
            </a:r>
            <a:endParaRPr lang="en-US" sz="1292" dirty="0"/>
          </a:p>
        </p:txBody>
      </p:sp>
      <p:sp>
        <p:nvSpPr>
          <p:cNvPr id="10" name="Shape 6"/>
          <p:cNvSpPr/>
          <p:nvPr/>
        </p:nvSpPr>
        <p:spPr>
          <a:xfrm>
            <a:off x="7818120" y="1600200"/>
            <a:ext cx="3474720" cy="3794760"/>
          </a:xfrm>
          <a:prstGeom prst="roundRect">
            <a:avLst>
              <a:gd name="adj" fmla="val 2632"/>
            </a:avLst>
          </a:prstGeom>
          <a:solidFill>
            <a:srgbClr val="0A1024"/>
          </a:solidFill>
          <a:ln w="12700">
            <a:solidFill>
              <a:srgbClr val="1E2A55"/>
            </a:solidFill>
            <a:prstDash val="solid"/>
          </a:ln>
        </p:spPr>
      </p:sp>
      <p:sp>
        <p:nvSpPr>
          <p:cNvPr id="11" name="Text 7"/>
          <p:cNvSpPr txBox="1"/>
          <p:nvPr/>
        </p:nvSpPr>
        <p:spPr>
          <a:xfrm>
            <a:off x="8129016" y="1819656"/>
            <a:ext cx="2926080" cy="274320"/>
          </a:xfrm>
          <a:prstGeom prst="rect">
            <a:avLst/>
          </a:prstGeom>
          <a:noFill/>
          <a:ln/>
        </p:spPr>
        <p:txBody>
          <a:bodyPr wrap="square" lIns="0" tIns="0" rIns="0" bIns="0" rtlCol="0" anchor="ctr"/>
          <a:lstStyle/>
          <a:p>
            <a:pPr marL="0" indent="0">
              <a:buNone/>
            </a:pPr>
            <a:r>
              <a:rPr lang="en-US" sz="1550" b="1" kern="0" spc="200" dirty="0">
                <a:solidFill>
                  <a:srgbClr val="F5C542"/>
                </a:solidFill>
                <a:latin typeface="Inter" pitchFamily="34" charset="0"/>
                <a:ea typeface="Inter" pitchFamily="34" charset="-122"/>
                <a:cs typeface="Inter" pitchFamily="34" charset="-120"/>
              </a:rPr>
              <a:t>THE SHAPE</a:t>
            </a:r>
            <a:endParaRPr lang="en-US" sz="1550" dirty="0"/>
          </a:p>
        </p:txBody>
      </p:sp>
      <p:sp>
        <p:nvSpPr>
          <p:cNvPr id="12" name="Text 8"/>
          <p:cNvSpPr txBox="1"/>
          <p:nvPr/>
        </p:nvSpPr>
        <p:spPr>
          <a:xfrm>
            <a:off x="8129016" y="2258568"/>
            <a:ext cx="2852928" cy="2862072"/>
          </a:xfrm>
          <a:prstGeom prst="rect">
            <a:avLst/>
          </a:prstGeom>
          <a:noFill/>
          <a:ln/>
        </p:spPr>
        <p:txBody>
          <a:bodyPr wrap="square" lIns="0" tIns="0" rIns="0" bIns="0" rtlCol="0" anchor="t"/>
          <a:lstStyle/>
          <a:p>
            <a:pPr marL="0" indent="0">
              <a:lnSpc>
                <a:spcPct val="118000"/>
              </a:lnSpc>
              <a:spcAft>
                <a:spcPts val="272"/>
              </a:spcAft>
              <a:buNone/>
            </a:pPr>
            <a:r>
              <a:rPr lang="en-US" sz="1360" dirty="0">
                <a:solidFill>
                  <a:srgbClr val="F5C542"/>
                </a:solidFill>
                <a:latin typeface="Inter" pitchFamily="34" charset="0"/>
                <a:ea typeface="Inter" pitchFamily="34" charset="-122"/>
                <a:cs typeface="Inter" pitchFamily="34" charset="-120"/>
              </a:rPr>
              <a:t>pinned facts</a:t>
            </a:r>
            <a:endParaRPr lang="en-US" sz="1292" dirty="0"/>
          </a:p>
          <a:p>
            <a:pPr marL="0" indent="0">
              <a:lnSpc>
                <a:spcPct val="118000"/>
              </a:lnSpc>
              <a:spcAft>
                <a:spcPts val="272"/>
              </a:spcAft>
              <a:buNone/>
            </a:pPr>
            <a:r>
              <a:rPr lang="en-US" sz="1224" dirty="0">
                <a:solidFill>
                  <a:srgbClr val="6E80B4"/>
                </a:solidFill>
                <a:latin typeface="Inter" pitchFamily="34" charset="0"/>
                <a:ea typeface="Inter" pitchFamily="34" charset="-122"/>
                <a:cs typeface="Inter" pitchFamily="34" charset="-120"/>
              </a:rPr>
              <a:t>     +</a:t>
            </a:r>
            <a:endParaRPr lang="en-US" sz="1292" dirty="0"/>
          </a:p>
          <a:p>
            <a:pPr marL="0" indent="0">
              <a:lnSpc>
                <a:spcPct val="118000"/>
              </a:lnSpc>
              <a:spcAft>
                <a:spcPts val="272"/>
              </a:spcAft>
              <a:buNone/>
            </a:pPr>
            <a:r>
              <a:rPr lang="en-US" sz="1360" dirty="0">
                <a:solidFill>
                  <a:srgbClr val="EAF0FF"/>
                </a:solidFill>
                <a:latin typeface="Inter" pitchFamily="34" charset="0"/>
                <a:ea typeface="Inter" pitchFamily="34" charset="-122"/>
                <a:cs typeface="Inter" pitchFamily="34" charset="-120"/>
              </a:rPr>
              <a:t>summary</a:t>
            </a:r>
            <a:endParaRPr lang="en-US" sz="1292" dirty="0"/>
          </a:p>
          <a:p>
            <a:pPr marL="0" indent="0">
              <a:lnSpc>
                <a:spcPct val="118000"/>
              </a:lnSpc>
              <a:spcAft>
                <a:spcPts val="272"/>
              </a:spcAft>
              <a:buNone/>
            </a:pPr>
            <a:r>
              <a:rPr lang="en-US" sz="1224" dirty="0">
                <a:solidFill>
                  <a:srgbClr val="6E80B4"/>
                </a:solidFill>
                <a:latin typeface="Inter" pitchFamily="34" charset="0"/>
                <a:ea typeface="Inter" pitchFamily="34" charset="-122"/>
                <a:cs typeface="Inter" pitchFamily="34" charset="-120"/>
              </a:rPr>
              <a:t>     +</a:t>
            </a:r>
            <a:endParaRPr lang="en-US" sz="1292" dirty="0"/>
          </a:p>
          <a:p>
            <a:pPr marL="0" indent="0">
              <a:lnSpc>
                <a:spcPct val="118000"/>
              </a:lnSpc>
              <a:spcAft>
                <a:spcPts val="272"/>
              </a:spcAft>
              <a:buNone/>
            </a:pPr>
            <a:r>
              <a:rPr lang="en-US" sz="1360" dirty="0">
                <a:solidFill>
                  <a:srgbClr val="EAF0FF"/>
                </a:solidFill>
                <a:latin typeface="Inter" pitchFamily="34" charset="0"/>
                <a:ea typeface="Inter" pitchFamily="34" charset="-122"/>
                <a:cs typeface="Inter" pitchFamily="34" charset="-120"/>
              </a:rPr>
              <a:t>recent turns</a:t>
            </a:r>
            <a:endParaRPr lang="en-US" sz="1292" dirty="0"/>
          </a:p>
          <a:p>
            <a:pPr marL="0" indent="0">
              <a:lnSpc>
                <a:spcPct val="118000"/>
              </a:lnSpc>
              <a:spcAft>
                <a:spcPts val="272"/>
              </a:spcAft>
              <a:buNone/>
            </a:pPr>
            <a:r>
              <a:rPr lang="en-US" sz="1224" dirty="0">
                <a:solidFill>
                  <a:srgbClr val="6E80B4"/>
                </a:solidFill>
                <a:latin typeface="Inter" pitchFamily="34" charset="0"/>
                <a:ea typeface="Inter" pitchFamily="34" charset="-122"/>
                <a:cs typeface="Inter" pitchFamily="34" charset="-120"/>
              </a:rPr>
              <a:t>     ↓</a:t>
            </a:r>
            <a:endParaRPr lang="en-US" sz="1292" dirty="0"/>
          </a:p>
          <a:p>
            <a:pPr marL="0" indent="0">
              <a:lnSpc>
                <a:spcPct val="118000"/>
              </a:lnSpc>
              <a:spcAft>
                <a:spcPts val="272"/>
              </a:spcAft>
              <a:buNone/>
            </a:pPr>
            <a:r>
              <a:rPr lang="en-US" sz="1360" dirty="0">
                <a:solidFill>
                  <a:srgbClr val="3FD0E6"/>
                </a:solidFill>
                <a:latin typeface="Inter" pitchFamily="34" charset="0"/>
                <a:ea typeface="Inter" pitchFamily="34" charset="-122"/>
                <a:cs typeface="Inter" pitchFamily="34" charset="-120"/>
              </a:rPr>
              <a:t>working context</a:t>
            </a:r>
            <a:endParaRPr lang="en-US" sz="1292" dirty="0"/>
          </a:p>
          <a:p>
            <a:pPr marL="0" indent="0">
              <a:lnSpc>
                <a:spcPct val="118000"/>
              </a:lnSpc>
              <a:spcAft>
                <a:spcPts val="272"/>
              </a:spcAft>
              <a:buNone/>
            </a:pPr>
            <a:r>
              <a:rPr lang="en-US" sz="1224" dirty="0">
                <a:solidFill>
                  <a:srgbClr val="6E80B4"/>
                </a:solidFill>
                <a:latin typeface="Inter" pitchFamily="34" charset="0"/>
                <a:ea typeface="Inter" pitchFamily="34" charset="-122"/>
                <a:cs typeface="Inter" pitchFamily="34" charset="-120"/>
              </a:rPr>
              <a:t>     ↓</a:t>
            </a:r>
            <a:endParaRPr lang="en-US" sz="1292" dirty="0"/>
          </a:p>
          <a:p>
            <a:pPr marL="0" indent="0">
              <a:lnSpc>
                <a:spcPct val="118000"/>
              </a:lnSpc>
              <a:spcAft>
                <a:spcPts val="272"/>
              </a:spcAft>
              <a:buNone/>
            </a:pPr>
            <a:r>
              <a:rPr lang="en-US" sz="1360" dirty="0">
                <a:solidFill>
                  <a:srgbClr val="3FD0E6"/>
                </a:solidFill>
                <a:latin typeface="Inter" pitchFamily="34" charset="0"/>
                <a:ea typeface="Inter" pitchFamily="34" charset="-122"/>
                <a:cs typeface="Inter" pitchFamily="34" charset="-120"/>
              </a:rPr>
              <a:t>the model</a:t>
            </a:r>
            <a:endParaRPr lang="en-US" sz="1292"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16</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4300" b="1" dirty="0">
                <a:solidFill>
                  <a:srgbClr val="EAF0FF"/>
                </a:solidFill>
                <a:latin typeface="Poppins" pitchFamily="34" charset="0"/>
                <a:ea typeface="Poppins" pitchFamily="34" charset="-122"/>
                <a:cs typeface="Poppins" pitchFamily="34" charset="-120"/>
              </a:rPr>
              <a:t>Short-term vs long-term</a:t>
            </a:r>
            <a:endParaRPr lang="en-US" sz="4300" dirty="0"/>
          </a:p>
        </p:txBody>
      </p:sp>
      <p:sp>
        <p:nvSpPr>
          <p:cNvPr id="7" name="Shape 3"/>
          <p:cNvSpPr/>
          <p:nvPr/>
        </p:nvSpPr>
        <p:spPr>
          <a:xfrm>
            <a:off x="868680" y="1600200"/>
            <a:ext cx="4937760" cy="3794760"/>
          </a:xfrm>
          <a:prstGeom prst="roundRect">
            <a:avLst>
              <a:gd name="adj" fmla="val 2410"/>
            </a:avLst>
          </a:prstGeom>
          <a:solidFill>
            <a:srgbClr val="0A1024"/>
          </a:solidFill>
          <a:ln w="12700">
            <a:solidFill>
              <a:srgbClr val="1E2A55"/>
            </a:solidFill>
            <a:prstDash val="solid"/>
          </a:ln>
        </p:spPr>
      </p:sp>
      <p:sp>
        <p:nvSpPr>
          <p:cNvPr id="8" name="Text 4"/>
          <p:cNvSpPr txBox="1"/>
          <p:nvPr/>
        </p:nvSpPr>
        <p:spPr>
          <a:xfrm>
            <a:off x="11795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3FD0E6"/>
                </a:solidFill>
                <a:latin typeface="Inter" pitchFamily="34" charset="0"/>
                <a:ea typeface="Inter" pitchFamily="34" charset="-122"/>
                <a:cs typeface="Inter" pitchFamily="34" charset="-120"/>
              </a:rPr>
              <a:t>SHORT-TERM / WORKING</a:t>
            </a:r>
            <a:endParaRPr lang="en-US" sz="1550" dirty="0"/>
          </a:p>
        </p:txBody>
      </p:sp>
      <p:sp>
        <p:nvSpPr>
          <p:cNvPr id="9" name="Text 5"/>
          <p:cNvSpPr txBox="1"/>
          <p:nvPr/>
        </p:nvSpPr>
        <p:spPr>
          <a:xfrm>
            <a:off x="1179576" y="2258568"/>
            <a:ext cx="4315968" cy="2862072"/>
          </a:xfrm>
          <a:prstGeom prst="rect">
            <a:avLst/>
          </a:prstGeom>
          <a:noFill/>
          <a:ln/>
        </p:spPr>
        <p:txBody>
          <a:bodyPr wrap="square" lIns="0" tIns="0" rIns="0" bIns="0" rtlCol="0" anchor="t"/>
          <a:lstStyle/>
          <a:p>
            <a:pPr marL="0" indent="0">
              <a:lnSpc>
                <a:spcPct val="118000"/>
              </a:lnSpc>
              <a:spcAft>
                <a:spcPts val="984"/>
              </a:spcAft>
              <a:buNone/>
            </a:pPr>
            <a:r>
              <a:rPr lang="en-US" sz="1640" dirty="0">
                <a:solidFill>
                  <a:srgbClr val="EAF0FF"/>
                </a:solidFill>
                <a:latin typeface="Inter" pitchFamily="34" charset="0"/>
                <a:ea typeface="Inter" pitchFamily="34" charset="-122"/>
                <a:cs typeface="Inter" pitchFamily="34" charset="-120"/>
              </a:rPr>
              <a:t>What is needed right now. The current chat, the current task, recent tool results.</a:t>
            </a:r>
            <a:endParaRPr lang="en-US" sz="1640" dirty="0"/>
          </a:p>
          <a:p>
            <a:pPr marL="0" indent="0">
              <a:lnSpc>
                <a:spcPct val="118000"/>
              </a:lnSpc>
              <a:spcAft>
                <a:spcPts val="984"/>
              </a:spcAft>
              <a:buNone/>
            </a:pPr>
            <a:r>
              <a:rPr lang="en-US" sz="1558" dirty="0">
                <a:solidFill>
                  <a:srgbClr val="9FB0D6"/>
                </a:solidFill>
                <a:latin typeface="Inter" pitchFamily="34" charset="0"/>
                <a:ea typeface="Inter" pitchFamily="34" charset="-122"/>
                <a:cs typeface="Inter" pitchFamily="34" charset="-120"/>
              </a:rPr>
              <a:t>It dies with the session. Everything you built in the notebook is short-term; restart the runtime and it is gone.</a:t>
            </a:r>
            <a:endParaRPr lang="en-US" sz="1640" dirty="0"/>
          </a:p>
          <a:p>
            <a:pPr marL="0" indent="0">
              <a:lnSpc>
                <a:spcPct val="118000"/>
              </a:lnSpc>
              <a:spcAft>
                <a:spcPts val="984"/>
              </a:spcAft>
              <a:buNone/>
            </a:pPr>
            <a:r>
              <a:rPr lang="en-US" sz="1558" dirty="0">
                <a:solidFill>
                  <a:srgbClr val="9FB0D6"/>
                </a:solidFill>
                <a:latin typeface="Inter" pitchFamily="34" charset="0"/>
                <a:ea typeface="Inter" pitchFamily="34" charset="-122"/>
                <a:cs typeface="Inter" pitchFamily="34" charset="-120"/>
              </a:rPr>
              <a:t>Like holding twenty-five times four in your head while you multiply.</a:t>
            </a:r>
            <a:endParaRPr lang="en-US" sz="1640" dirty="0"/>
          </a:p>
        </p:txBody>
      </p:sp>
      <p:sp>
        <p:nvSpPr>
          <p:cNvPr id="10" name="Shape 6"/>
          <p:cNvSpPr/>
          <p:nvPr/>
        </p:nvSpPr>
        <p:spPr>
          <a:xfrm>
            <a:off x="6355080" y="1600200"/>
            <a:ext cx="4937760" cy="3794760"/>
          </a:xfrm>
          <a:prstGeom prst="roundRect">
            <a:avLst>
              <a:gd name="adj" fmla="val 2410"/>
            </a:avLst>
          </a:prstGeom>
          <a:solidFill>
            <a:srgbClr val="0A1024"/>
          </a:solidFill>
          <a:ln w="12700">
            <a:solidFill>
              <a:srgbClr val="1E2A55"/>
            </a:solidFill>
            <a:prstDash val="solid"/>
          </a:ln>
        </p:spPr>
      </p:sp>
      <p:sp>
        <p:nvSpPr>
          <p:cNvPr id="11" name="Text 7"/>
          <p:cNvSpPr txBox="1"/>
          <p:nvPr/>
        </p:nvSpPr>
        <p:spPr>
          <a:xfrm>
            <a:off x="66659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F5C542"/>
                </a:solidFill>
                <a:latin typeface="Inter" pitchFamily="34" charset="0"/>
                <a:ea typeface="Inter" pitchFamily="34" charset="-122"/>
                <a:cs typeface="Inter" pitchFamily="34" charset="-120"/>
              </a:rPr>
              <a:t>LONG-TERM / PERSISTENT</a:t>
            </a:r>
            <a:endParaRPr lang="en-US" sz="1550" dirty="0"/>
          </a:p>
        </p:txBody>
      </p:sp>
      <p:sp>
        <p:nvSpPr>
          <p:cNvPr id="12" name="Text 8"/>
          <p:cNvSpPr txBox="1"/>
          <p:nvPr/>
        </p:nvSpPr>
        <p:spPr>
          <a:xfrm>
            <a:off x="6665976" y="2258568"/>
            <a:ext cx="4315968" cy="2862072"/>
          </a:xfrm>
          <a:prstGeom prst="rect">
            <a:avLst/>
          </a:prstGeom>
          <a:noFill/>
          <a:ln/>
        </p:spPr>
        <p:txBody>
          <a:bodyPr wrap="square" lIns="0" tIns="0" rIns="0" bIns="0" rtlCol="0" anchor="t"/>
          <a:lstStyle/>
          <a:p>
            <a:pPr marL="0" indent="0">
              <a:lnSpc>
                <a:spcPct val="118000"/>
              </a:lnSpc>
              <a:spcAft>
                <a:spcPts val="984"/>
              </a:spcAft>
              <a:buNone/>
            </a:pPr>
            <a:r>
              <a:rPr lang="en-US" sz="1640" dirty="0">
                <a:solidFill>
                  <a:srgbClr val="EAF0FF"/>
                </a:solidFill>
                <a:latin typeface="Inter" pitchFamily="34" charset="0"/>
                <a:ea typeface="Inter" pitchFamily="34" charset="-122"/>
                <a:cs typeface="Inter" pitchFamily="34" charset="-120"/>
              </a:rPr>
              <a:t>What should outlive it. Preferences, decisions, project facts, documents.</a:t>
            </a:r>
            <a:endParaRPr lang="en-US" sz="1640" dirty="0"/>
          </a:p>
          <a:p>
            <a:pPr marL="0" indent="0">
              <a:lnSpc>
                <a:spcPct val="118000"/>
              </a:lnSpc>
              <a:spcAft>
                <a:spcPts val="984"/>
              </a:spcAft>
              <a:buNone/>
            </a:pPr>
            <a:r>
              <a:rPr lang="en-US" sz="1558" dirty="0">
                <a:solidFill>
                  <a:srgbClr val="9FB0D6"/>
                </a:solidFill>
                <a:latin typeface="Inter" pitchFamily="34" charset="0"/>
                <a:ea typeface="Inter" pitchFamily="34" charset="-122"/>
                <a:cs typeface="Inter" pitchFamily="34" charset="-120"/>
              </a:rPr>
              <a:t>It lives in a store you own and write to, because persistence is never a model feature.</a:t>
            </a:r>
            <a:endParaRPr lang="en-US" sz="1640" dirty="0"/>
          </a:p>
          <a:p>
            <a:pPr marL="0" indent="0">
              <a:lnSpc>
                <a:spcPct val="118000"/>
              </a:lnSpc>
              <a:spcAft>
                <a:spcPts val="984"/>
              </a:spcAft>
              <a:buNone/>
            </a:pPr>
            <a:r>
              <a:rPr lang="en-US" sz="1558" dirty="0">
                <a:solidFill>
                  <a:srgbClr val="9FB0D6"/>
                </a:solidFill>
                <a:latin typeface="Inter" pitchFamily="34" charset="0"/>
                <a:ea typeface="Inter" pitchFamily="34" charset="-122"/>
                <a:cs typeface="Inter" pitchFamily="34" charset="-120"/>
              </a:rPr>
              <a:t>Like knowing you study computer science. Still true in six months.</a:t>
            </a:r>
            <a:endParaRPr lang="en-US" sz="1640" dirty="0"/>
          </a:p>
        </p:txBody>
      </p:sp>
      <p:sp>
        <p:nvSpPr>
          <p:cNvPr id="13" name="Text 9"/>
          <p:cNvSpPr txBox="1"/>
          <p:nvPr/>
        </p:nvSpPr>
        <p:spPr>
          <a:xfrm>
            <a:off x="868680" y="5486400"/>
            <a:ext cx="10424160" cy="658368"/>
          </a:xfrm>
          <a:prstGeom prst="rect">
            <a:avLst/>
          </a:prstGeom>
          <a:noFill/>
          <a:ln/>
        </p:spPr>
        <p:txBody>
          <a:bodyPr wrap="square" lIns="0" tIns="0" rIns="0" bIns="0" rtlCol="0" anchor="ctr"/>
          <a:lstStyle/>
          <a:p>
            <a:pPr marL="0" indent="0">
              <a:buNone/>
            </a:pPr>
            <a:r>
              <a:rPr lang="en-US" sz="2200" dirty="0">
                <a:solidFill>
                  <a:srgbClr val="9FB0D6"/>
                </a:solidFill>
                <a:latin typeface="Inter" pitchFamily="34" charset="0"/>
                <a:ea typeface="Inter" pitchFamily="34" charset="-122"/>
                <a:cs typeface="Inter" pitchFamily="34" charset="-120"/>
              </a:rPr>
              <a:t>Long-term memory is not something the model has. It is something you build.</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17</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3500" b="1" dirty="0">
                <a:solidFill>
                  <a:srgbClr val="EAF0FF"/>
                </a:solidFill>
                <a:latin typeface="Poppins" pitchFamily="34" charset="0"/>
                <a:ea typeface="Poppins" pitchFamily="34" charset="-122"/>
                <a:cs typeface="Poppins" pitchFamily="34" charset="-120"/>
              </a:rPr>
              <a:t>Long-term memory: </a:t>
            </a:r>
            <a:r>
              <a:rPr lang="en-US" sz="3500" b="1" dirty="0">
                <a:solidFill>
                  <a:srgbClr val="3FD0E6"/>
                </a:solidFill>
                <a:latin typeface="Poppins" pitchFamily="34" charset="0"/>
                <a:ea typeface="Poppins" pitchFamily="34" charset="-122"/>
                <a:cs typeface="Poppins" pitchFamily="34" charset="-120"/>
              </a:rPr>
              <a:t>databases and files</a:t>
            </a:r>
            <a:endParaRPr lang="en-US" sz="3500" dirty="0"/>
          </a:p>
        </p:txBody>
      </p:sp>
      <p:sp>
        <p:nvSpPr>
          <p:cNvPr id="7" name="Shape 3"/>
          <p:cNvSpPr/>
          <p:nvPr/>
        </p:nvSpPr>
        <p:spPr>
          <a:xfrm>
            <a:off x="868680" y="1600200"/>
            <a:ext cx="4937760" cy="3794760"/>
          </a:xfrm>
          <a:prstGeom prst="roundRect">
            <a:avLst>
              <a:gd name="adj" fmla="val 2410"/>
            </a:avLst>
          </a:prstGeom>
          <a:solidFill>
            <a:srgbClr val="0A1024"/>
          </a:solidFill>
          <a:ln w="12700">
            <a:solidFill>
              <a:srgbClr val="1E2A55"/>
            </a:solidFill>
            <a:prstDash val="solid"/>
          </a:ln>
        </p:spPr>
      </p:sp>
      <p:sp>
        <p:nvSpPr>
          <p:cNvPr id="8" name="Text 4"/>
          <p:cNvSpPr txBox="1"/>
          <p:nvPr/>
        </p:nvSpPr>
        <p:spPr>
          <a:xfrm>
            <a:off x="11795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3FD0E6"/>
                </a:solidFill>
                <a:latin typeface="Inter" pitchFamily="34" charset="0"/>
                <a:ea typeface="Inter" pitchFamily="34" charset="-122"/>
                <a:cs typeface="Inter" pitchFamily="34" charset="-120"/>
              </a:rPr>
              <a:t>A DATABASE</a:t>
            </a:r>
            <a:endParaRPr lang="en-US" sz="1550" dirty="0"/>
          </a:p>
        </p:txBody>
      </p:sp>
      <p:sp>
        <p:nvSpPr>
          <p:cNvPr id="9" name="Text 5"/>
          <p:cNvSpPr txBox="1"/>
          <p:nvPr/>
        </p:nvSpPr>
        <p:spPr>
          <a:xfrm>
            <a:off x="1179576" y="2258568"/>
            <a:ext cx="4315968" cy="2862072"/>
          </a:xfrm>
          <a:prstGeom prst="rect">
            <a:avLst/>
          </a:prstGeom>
          <a:noFill/>
          <a:ln/>
        </p:spPr>
        <p:txBody>
          <a:bodyPr wrap="square" lIns="0" tIns="0" rIns="0" bIns="0" rtlCol="0" anchor="t"/>
          <a:lstStyle/>
          <a:p>
            <a:pPr marL="0" indent="0">
              <a:lnSpc>
                <a:spcPct val="118000"/>
              </a:lnSpc>
              <a:spcAft>
                <a:spcPts val="748"/>
              </a:spcAft>
              <a:buNone/>
            </a:pPr>
            <a:r>
              <a:rPr lang="en-US" sz="1360" dirty="0">
                <a:solidFill>
                  <a:srgbClr val="EAF0FF"/>
                </a:solidFill>
                <a:latin typeface="Inter" pitchFamily="34" charset="0"/>
                <a:ea typeface="Inter" pitchFamily="34" charset="-122"/>
                <a:cs typeface="Inter" pitchFamily="34" charset="-120"/>
              </a:rPr>
              <a:t>Use it when the information has a shape. One user, one field, one value. Preferences, decisions, which step a workflow reached.</a:t>
            </a:r>
            <a:endParaRPr lang="en-US" sz="1360" dirty="0"/>
          </a:p>
          <a:p>
            <a:pPr marL="0" indent="0">
              <a:lnSpc>
                <a:spcPct val="118000"/>
              </a:lnSpc>
              <a:spcAft>
                <a:spcPts val="748"/>
              </a:spcAft>
              <a:buNone/>
            </a:pPr>
            <a:r>
              <a:rPr lang="en-US" sz="1292" dirty="0">
                <a:solidFill>
                  <a:srgbClr val="9FB0D6"/>
                </a:solidFill>
                <a:latin typeface="Inter" pitchFamily="34" charset="0"/>
                <a:ea typeface="Inter" pitchFamily="34" charset="-122"/>
                <a:cs typeface="Inter" pitchFamily="34" charset="-120"/>
              </a:rPr>
              <a:t>Retrieval is exact, because you know precisely what you are asking for. Ask the store for this user's preferred language and you get Python. Nothing guessed, nothing lost.</a:t>
            </a:r>
            <a:endParaRPr lang="en-US" sz="1360" dirty="0"/>
          </a:p>
          <a:p>
            <a:pPr marL="0" indent="0">
              <a:lnSpc>
                <a:spcPct val="118000"/>
              </a:lnSpc>
              <a:spcAft>
                <a:spcPts val="748"/>
              </a:spcAft>
              <a:buNone/>
            </a:pPr>
            <a:r>
              <a:rPr lang="en-US" sz="1292" dirty="0">
                <a:solidFill>
                  <a:srgbClr val="F5C542"/>
                </a:solidFill>
                <a:latin typeface="Inter" pitchFamily="34" charset="0"/>
                <a:ea typeface="Inter" pitchFamily="34" charset="-122"/>
                <a:cs typeface="Inter" pitchFamily="34" charset="-120"/>
              </a:rPr>
              <a:t>Cheap. Exact. Boring. And half of what students imagine needs a vector database is one row in a table.</a:t>
            </a:r>
            <a:endParaRPr lang="en-US" sz="1360" dirty="0"/>
          </a:p>
        </p:txBody>
      </p:sp>
      <p:sp>
        <p:nvSpPr>
          <p:cNvPr id="10" name="Shape 6"/>
          <p:cNvSpPr/>
          <p:nvPr/>
        </p:nvSpPr>
        <p:spPr>
          <a:xfrm>
            <a:off x="6355080" y="1600200"/>
            <a:ext cx="4937760" cy="3794760"/>
          </a:xfrm>
          <a:prstGeom prst="roundRect">
            <a:avLst>
              <a:gd name="adj" fmla="val 2410"/>
            </a:avLst>
          </a:prstGeom>
          <a:solidFill>
            <a:srgbClr val="0A1024"/>
          </a:solidFill>
          <a:ln w="12700">
            <a:solidFill>
              <a:srgbClr val="1E2A55"/>
            </a:solidFill>
            <a:prstDash val="solid"/>
          </a:ln>
        </p:spPr>
      </p:sp>
      <p:sp>
        <p:nvSpPr>
          <p:cNvPr id="11" name="Text 7"/>
          <p:cNvSpPr txBox="1"/>
          <p:nvPr/>
        </p:nvSpPr>
        <p:spPr>
          <a:xfrm>
            <a:off x="66659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F5C542"/>
                </a:solidFill>
                <a:latin typeface="Inter" pitchFamily="34" charset="0"/>
                <a:ea typeface="Inter" pitchFamily="34" charset="-122"/>
                <a:cs typeface="Inter" pitchFamily="34" charset="-120"/>
              </a:rPr>
              <a:t>FILES</a:t>
            </a:r>
            <a:endParaRPr lang="en-US" sz="1550" dirty="0"/>
          </a:p>
        </p:txBody>
      </p:sp>
      <p:sp>
        <p:nvSpPr>
          <p:cNvPr id="12" name="Text 8"/>
          <p:cNvSpPr txBox="1"/>
          <p:nvPr/>
        </p:nvSpPr>
        <p:spPr>
          <a:xfrm>
            <a:off x="6665976" y="2258568"/>
            <a:ext cx="4315968" cy="2862072"/>
          </a:xfrm>
          <a:prstGeom prst="rect">
            <a:avLst/>
          </a:prstGeom>
          <a:noFill/>
          <a:ln/>
        </p:spPr>
        <p:txBody>
          <a:bodyPr wrap="square" lIns="0" tIns="0" rIns="0" bIns="0" rtlCol="0" anchor="t"/>
          <a:lstStyle/>
          <a:p>
            <a:pPr marL="0" indent="0">
              <a:lnSpc>
                <a:spcPct val="118000"/>
              </a:lnSpc>
              <a:spcAft>
                <a:spcPts val="748"/>
              </a:spcAft>
              <a:buNone/>
            </a:pPr>
            <a:r>
              <a:rPr lang="en-US" sz="1360" dirty="0">
                <a:solidFill>
                  <a:srgbClr val="EAF0FF"/>
                </a:solidFill>
                <a:latin typeface="Inter" pitchFamily="34" charset="0"/>
                <a:ea typeface="Inter" pitchFamily="34" charset="-122"/>
                <a:cs typeface="Inter" pitchFamily="34" charset="-120"/>
              </a:rPr>
              <a:t>Use them when the information is big and unstructured. A report, a paper, a transcript. No field to extract; the value is in the whole thing.</a:t>
            </a:r>
            <a:endParaRPr lang="en-US" sz="1360" dirty="0"/>
          </a:p>
          <a:p>
            <a:pPr marL="0" indent="0">
              <a:lnSpc>
                <a:spcPct val="118000"/>
              </a:lnSpc>
              <a:spcAft>
                <a:spcPts val="748"/>
              </a:spcAft>
              <a:buNone/>
            </a:pPr>
            <a:r>
              <a:rPr lang="en-US" sz="1292" dirty="0">
                <a:solidFill>
                  <a:srgbClr val="9FB0D6"/>
                </a:solidFill>
                <a:latin typeface="Inter" pitchFamily="34" charset="0"/>
                <a:ea typeface="Inter" pitchFamily="34" charset="-122"/>
                <a:cs typeface="Inter" pitchFamily="34" charset="-120"/>
              </a:rPr>
              <a:t>You keep it whole and fetch it back when the task needs it. No schema to design, no summariser to lose the paragraph that mattered.</a:t>
            </a:r>
            <a:endParaRPr lang="en-US" sz="1360" dirty="0"/>
          </a:p>
          <a:p>
            <a:pPr marL="0" indent="0">
              <a:lnSpc>
                <a:spcPct val="118000"/>
              </a:lnSpc>
              <a:spcAft>
                <a:spcPts val="748"/>
              </a:spcAft>
              <a:buNone/>
            </a:pPr>
            <a:r>
              <a:rPr lang="en-US" sz="1292" dirty="0">
                <a:solidFill>
                  <a:srgbClr val="F5C542"/>
                </a:solidFill>
                <a:latin typeface="Inter" pitchFamily="34" charset="0"/>
                <a:ea typeface="Inter" pitchFamily="34" charset="-122"/>
                <a:cs typeface="Inter" pitchFamily="34" charset="-120"/>
              </a:rPr>
              <a:t>But storing a file is not the same as the agent knowing what is in it. Sixty pages do not fit in a context window.</a:t>
            </a:r>
            <a:endParaRPr lang="en-US" sz="1360" dirty="0"/>
          </a:p>
        </p:txBody>
      </p:sp>
      <p:sp>
        <p:nvSpPr>
          <p:cNvPr id="13" name="Text 9"/>
          <p:cNvSpPr txBox="1"/>
          <p:nvPr/>
        </p:nvSpPr>
        <p:spPr>
          <a:xfrm>
            <a:off x="868680" y="5486400"/>
            <a:ext cx="10424160" cy="658368"/>
          </a:xfrm>
          <a:prstGeom prst="rect">
            <a:avLst/>
          </a:prstGeom>
          <a:noFill/>
          <a:ln/>
        </p:spPr>
        <p:txBody>
          <a:bodyPr wrap="square" lIns="0" tIns="0" rIns="0" bIns="0" rtlCol="0" anchor="ctr"/>
          <a:lstStyle/>
          <a:p>
            <a:pPr marL="0" indent="0">
              <a:buNone/>
            </a:pPr>
            <a:r>
              <a:rPr lang="en-US" sz="2200" dirty="0">
                <a:solidFill>
                  <a:srgbClr val="9FB0D6"/>
                </a:solidFill>
                <a:latin typeface="Inter" pitchFamily="34" charset="0"/>
                <a:ea typeface="Inter" pitchFamily="34" charset="-122"/>
                <a:cs typeface="Inter" pitchFamily="34" charset="-120"/>
              </a:rPr>
              <a:t>Which page belongs in the context, for this question, is the hard part.</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18</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4300" b="1" dirty="0">
                <a:solidFill>
                  <a:srgbClr val="EAF0FF"/>
                </a:solidFill>
                <a:latin typeface="Poppins" pitchFamily="34" charset="0"/>
                <a:ea typeface="Poppins" pitchFamily="34" charset="-122"/>
                <a:cs typeface="Poppins" pitchFamily="34" charset="-120"/>
              </a:rPr>
              <a:t>RAG: </a:t>
            </a:r>
            <a:r>
              <a:rPr lang="en-US" sz="4300" b="1" dirty="0">
                <a:solidFill>
                  <a:srgbClr val="3FD0E6"/>
                </a:solidFill>
                <a:latin typeface="Poppins" pitchFamily="34" charset="0"/>
                <a:ea typeface="Poppins" pitchFamily="34" charset="-122"/>
                <a:cs typeface="Poppins" pitchFamily="34" charset="-120"/>
              </a:rPr>
              <a:t>the problem it solves</a:t>
            </a:r>
            <a:endParaRPr lang="en-US" sz="4300" dirty="0"/>
          </a:p>
        </p:txBody>
      </p:sp>
      <p:sp>
        <p:nvSpPr>
          <p:cNvPr id="7" name="Shape 3"/>
          <p:cNvSpPr/>
          <p:nvPr/>
        </p:nvSpPr>
        <p:spPr>
          <a:xfrm>
            <a:off x="868680" y="1600200"/>
            <a:ext cx="4937760" cy="3794760"/>
          </a:xfrm>
          <a:prstGeom prst="roundRect">
            <a:avLst>
              <a:gd name="adj" fmla="val 2410"/>
            </a:avLst>
          </a:prstGeom>
          <a:solidFill>
            <a:srgbClr val="0A1024"/>
          </a:solidFill>
          <a:ln w="12700">
            <a:solidFill>
              <a:srgbClr val="1E2A55"/>
            </a:solidFill>
            <a:prstDash val="solid"/>
          </a:ln>
        </p:spPr>
      </p:sp>
      <p:sp>
        <p:nvSpPr>
          <p:cNvPr id="8" name="Text 4"/>
          <p:cNvSpPr txBox="1"/>
          <p:nvPr/>
        </p:nvSpPr>
        <p:spPr>
          <a:xfrm>
            <a:off x="11795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F5C542"/>
                </a:solidFill>
                <a:latin typeface="Inter" pitchFamily="34" charset="0"/>
                <a:ea typeface="Inter" pitchFamily="34" charset="-122"/>
                <a:cs typeface="Inter" pitchFamily="34" charset="-120"/>
              </a:rPr>
              <a:t>THE PROBLEM</a:t>
            </a:r>
            <a:endParaRPr lang="en-US" sz="1550" dirty="0"/>
          </a:p>
        </p:txBody>
      </p:sp>
      <p:sp>
        <p:nvSpPr>
          <p:cNvPr id="9" name="Text 5"/>
          <p:cNvSpPr txBox="1"/>
          <p:nvPr/>
        </p:nvSpPr>
        <p:spPr>
          <a:xfrm>
            <a:off x="1179576" y="2258568"/>
            <a:ext cx="4315968" cy="2862072"/>
          </a:xfrm>
          <a:prstGeom prst="rect">
            <a:avLst/>
          </a:prstGeom>
          <a:noFill/>
          <a:ln/>
        </p:spPr>
        <p:txBody>
          <a:bodyPr wrap="square" lIns="0" tIns="0" rIns="0" bIns="0" rtlCol="0" anchor="t"/>
          <a:lstStyle/>
          <a:p>
            <a:pPr marL="0" indent="0">
              <a:lnSpc>
                <a:spcPct val="118000"/>
              </a:lnSpc>
              <a:spcAft>
                <a:spcPts val="748"/>
              </a:spcAft>
              <a:buNone/>
            </a:pPr>
            <a:r>
              <a:rPr lang="en-US" sz="1428" dirty="0">
                <a:solidFill>
                  <a:srgbClr val="EAF0FF"/>
                </a:solidFill>
                <a:latin typeface="Inter" pitchFamily="34" charset="0"/>
                <a:ea typeface="Inter" pitchFamily="34" charset="-122"/>
                <a:cs typeface="Inter" pitchFamily="34" charset="-120"/>
              </a:rPr>
              <a:t>Ten thousand documents. Tens of millions of tokens. The window holds about two hundred thousand.</a:t>
            </a:r>
            <a:endParaRPr lang="en-US" sz="1428" dirty="0"/>
          </a:p>
          <a:p>
            <a:pPr marL="0" indent="0">
              <a:lnSpc>
                <a:spcPct val="118000"/>
              </a:lnSpc>
              <a:spcAft>
                <a:spcPts val="748"/>
              </a:spcAft>
              <a:buNone/>
            </a:pPr>
            <a:r>
              <a:rPr lang="en-US" sz="1360" dirty="0">
                <a:solidFill>
                  <a:srgbClr val="9FB0D6"/>
                </a:solidFill>
                <a:latin typeface="Inter" pitchFamily="34" charset="0"/>
                <a:ea typeface="Inter" pitchFamily="34" charset="-122"/>
                <a:cs typeface="Inter" pitchFamily="34" charset="-120"/>
              </a:rPr>
              <a:t>And the model never saw your files during training. Two separate problems: they do not fit, and it has never read them.</a:t>
            </a:r>
            <a:endParaRPr lang="en-US" sz="1428" dirty="0"/>
          </a:p>
          <a:p>
            <a:pPr marL="0" indent="0">
              <a:lnSpc>
                <a:spcPct val="118000"/>
              </a:lnSpc>
              <a:spcAft>
                <a:spcPts val="748"/>
              </a:spcAft>
              <a:buNone/>
            </a:pPr>
            <a:r>
              <a:rPr lang="en-US" sz="1292" dirty="0">
                <a:solidFill>
                  <a:srgbClr val="9FB0D6"/>
                </a:solidFill>
                <a:latin typeface="Inter" pitchFamily="34" charset="0"/>
                <a:ea typeface="Inter" pitchFamily="34" charset="-122"/>
                <a:cs typeface="Inter" pitchFamily="34" charset="-120"/>
              </a:rPr>
              <a:t>Stuffing the prompt fails on size. Fine-tuning is slow, costly, and has to be redone whenever a document changes.</a:t>
            </a:r>
            <a:endParaRPr lang="en-US" sz="1428" dirty="0"/>
          </a:p>
        </p:txBody>
      </p:sp>
      <p:sp>
        <p:nvSpPr>
          <p:cNvPr id="10" name="Shape 6"/>
          <p:cNvSpPr/>
          <p:nvPr/>
        </p:nvSpPr>
        <p:spPr>
          <a:xfrm>
            <a:off x="6355080" y="1600200"/>
            <a:ext cx="4937760" cy="3794760"/>
          </a:xfrm>
          <a:prstGeom prst="roundRect">
            <a:avLst>
              <a:gd name="adj" fmla="val 2410"/>
            </a:avLst>
          </a:prstGeom>
          <a:solidFill>
            <a:srgbClr val="0A1024"/>
          </a:solidFill>
          <a:ln w="12700">
            <a:solidFill>
              <a:srgbClr val="1E2A55"/>
            </a:solidFill>
            <a:prstDash val="solid"/>
          </a:ln>
        </p:spPr>
      </p:sp>
      <p:sp>
        <p:nvSpPr>
          <p:cNvPr id="11" name="Text 7"/>
          <p:cNvSpPr txBox="1"/>
          <p:nvPr/>
        </p:nvSpPr>
        <p:spPr>
          <a:xfrm>
            <a:off x="66659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3FD0E6"/>
                </a:solidFill>
                <a:latin typeface="Inter" pitchFamily="34" charset="0"/>
                <a:ea typeface="Inter" pitchFamily="34" charset="-122"/>
                <a:cs typeface="Inter" pitchFamily="34" charset="-120"/>
              </a:rPr>
              <a:t>THE MOVE</a:t>
            </a:r>
            <a:endParaRPr lang="en-US" sz="1550" dirty="0"/>
          </a:p>
        </p:txBody>
      </p:sp>
      <p:sp>
        <p:nvSpPr>
          <p:cNvPr id="12" name="Text 8"/>
          <p:cNvSpPr txBox="1"/>
          <p:nvPr/>
        </p:nvSpPr>
        <p:spPr>
          <a:xfrm>
            <a:off x="6665976" y="2258568"/>
            <a:ext cx="4315968" cy="2862072"/>
          </a:xfrm>
          <a:prstGeom prst="rect">
            <a:avLst/>
          </a:prstGeom>
          <a:noFill/>
          <a:ln/>
        </p:spPr>
        <p:txBody>
          <a:bodyPr wrap="square" lIns="0" tIns="0" rIns="0" bIns="0" rtlCol="0" anchor="t"/>
          <a:lstStyle/>
          <a:p>
            <a:pPr marL="0" indent="0">
              <a:lnSpc>
                <a:spcPct val="118000"/>
              </a:lnSpc>
              <a:spcAft>
                <a:spcPts val="1144"/>
              </a:spcAft>
              <a:buNone/>
            </a:pPr>
            <a:r>
              <a:rPr lang="en-US" sz="1848" dirty="0">
                <a:solidFill>
                  <a:srgbClr val="EAF0FF"/>
                </a:solidFill>
                <a:latin typeface="Inter" pitchFamily="34" charset="0"/>
                <a:ea typeface="Inter" pitchFamily="34" charset="-122"/>
                <a:cs typeface="Inter" pitchFamily="34" charset="-120"/>
              </a:rPr>
              <a:t>Don't send the library. Search it.</a:t>
            </a:r>
            <a:endParaRPr lang="en-US" sz="1848" dirty="0"/>
          </a:p>
          <a:p>
            <a:pPr marL="0" indent="0">
              <a:lnSpc>
                <a:spcPct val="118000"/>
              </a:lnSpc>
              <a:spcAft>
                <a:spcPts val="1144"/>
              </a:spcAft>
              <a:buNone/>
            </a:pPr>
            <a:r>
              <a:rPr lang="en-US" sz="1848" dirty="0">
                <a:solidFill>
                  <a:srgbClr val="EAF0FF"/>
                </a:solidFill>
                <a:latin typeface="Inter" pitchFamily="34" charset="0"/>
                <a:ea typeface="Inter" pitchFamily="34" charset="-122"/>
                <a:cs typeface="Inter" pitchFamily="34" charset="-120"/>
              </a:rPr>
              <a:t>Send back the three paragraphs that matter, and only those.</a:t>
            </a:r>
            <a:endParaRPr lang="en-US" sz="1848" dirty="0"/>
          </a:p>
          <a:p>
            <a:pPr marL="0" indent="0">
              <a:lnSpc>
                <a:spcPct val="118000"/>
              </a:lnSpc>
              <a:spcAft>
                <a:spcPts val="1144"/>
              </a:spcAft>
              <a:buNone/>
            </a:pPr>
            <a:r>
              <a:rPr lang="en-US" sz="1760" dirty="0">
                <a:solidFill>
                  <a:srgbClr val="9FB0D6"/>
                </a:solidFill>
                <a:latin typeface="Inter" pitchFamily="34" charset="0"/>
                <a:ea typeface="Inter" pitchFamily="34" charset="-122"/>
                <a:cs typeface="Inter" pitchFamily="34" charset="-120"/>
              </a:rPr>
              <a:t>Open-book exam. You don't memorise the textbook, you look up the right page.</a:t>
            </a:r>
            <a:endParaRPr lang="en-US" sz="1848"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19</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4300" b="1" dirty="0">
                <a:solidFill>
                  <a:srgbClr val="EAF0FF"/>
                </a:solidFill>
                <a:latin typeface="Poppins" pitchFamily="34" charset="0"/>
                <a:ea typeface="Poppins" pitchFamily="34" charset="-122"/>
                <a:cs typeface="Poppins" pitchFamily="34" charset="-120"/>
              </a:rPr>
              <a:t>RAG: </a:t>
            </a:r>
            <a:r>
              <a:rPr lang="en-US" sz="4300" b="1" dirty="0">
                <a:solidFill>
                  <a:srgbClr val="3FD0E6"/>
                </a:solidFill>
                <a:latin typeface="Poppins" pitchFamily="34" charset="0"/>
                <a:ea typeface="Poppins" pitchFamily="34" charset="-122"/>
                <a:cs typeface="Poppins" pitchFamily="34" charset="-120"/>
              </a:rPr>
              <a:t>how it works</a:t>
            </a:r>
            <a:endParaRPr lang="en-US" sz="4300" dirty="0"/>
          </a:p>
        </p:txBody>
      </p:sp>
      <p:sp>
        <p:nvSpPr>
          <p:cNvPr id="7" name="Shape 3"/>
          <p:cNvSpPr/>
          <p:nvPr/>
        </p:nvSpPr>
        <p:spPr>
          <a:xfrm>
            <a:off x="868680" y="1600200"/>
            <a:ext cx="5394960" cy="3794760"/>
          </a:xfrm>
          <a:prstGeom prst="roundRect">
            <a:avLst>
              <a:gd name="adj" fmla="val 2410"/>
            </a:avLst>
          </a:prstGeom>
          <a:solidFill>
            <a:srgbClr val="0A1024"/>
          </a:solidFill>
          <a:ln w="12700">
            <a:solidFill>
              <a:srgbClr val="1E2A55"/>
            </a:solidFill>
            <a:prstDash val="solid"/>
          </a:ln>
        </p:spPr>
      </p:sp>
      <p:sp>
        <p:nvSpPr>
          <p:cNvPr id="8" name="Text 4"/>
          <p:cNvSpPr txBox="1"/>
          <p:nvPr/>
        </p:nvSpPr>
        <p:spPr>
          <a:xfrm>
            <a:off x="1179576" y="1819656"/>
            <a:ext cx="4846320" cy="274320"/>
          </a:xfrm>
          <a:prstGeom prst="rect">
            <a:avLst/>
          </a:prstGeom>
          <a:noFill/>
          <a:ln/>
        </p:spPr>
        <p:txBody>
          <a:bodyPr wrap="square" lIns="0" tIns="0" rIns="0" bIns="0" rtlCol="0" anchor="ctr"/>
          <a:lstStyle/>
          <a:p>
            <a:pPr marL="0" indent="0">
              <a:buNone/>
            </a:pPr>
            <a:r>
              <a:rPr lang="en-US" sz="1550" b="1" kern="0" spc="200" dirty="0">
                <a:solidFill>
                  <a:srgbClr val="3FD0E6"/>
                </a:solidFill>
                <a:latin typeface="Inter" pitchFamily="34" charset="0"/>
                <a:ea typeface="Inter" pitchFamily="34" charset="-122"/>
                <a:cs typeface="Inter" pitchFamily="34" charset="-120"/>
              </a:rPr>
              <a:t>WHAT THE MODEL ACTUALLY RECEIVES</a:t>
            </a:r>
            <a:endParaRPr lang="en-US" sz="1550" dirty="0"/>
          </a:p>
        </p:txBody>
      </p:sp>
      <p:sp>
        <p:nvSpPr>
          <p:cNvPr id="9" name="Text 5"/>
          <p:cNvSpPr txBox="1"/>
          <p:nvPr/>
        </p:nvSpPr>
        <p:spPr>
          <a:xfrm>
            <a:off x="1179576" y="2258568"/>
            <a:ext cx="4773168" cy="2862072"/>
          </a:xfrm>
          <a:prstGeom prst="rect">
            <a:avLst/>
          </a:prstGeom>
          <a:noFill/>
          <a:ln/>
        </p:spPr>
        <p:txBody>
          <a:bodyPr wrap="square" lIns="0" tIns="0" rIns="0" bIns="0" rtlCol="0" anchor="t"/>
          <a:lstStyle/>
          <a:p>
            <a:pPr marL="0" indent="0">
              <a:lnSpc>
                <a:spcPct val="118000"/>
              </a:lnSpc>
              <a:spcAft>
                <a:spcPts val="884"/>
              </a:spcAft>
              <a:buNone/>
            </a:pPr>
            <a:r>
              <a:rPr lang="en-US" sz="1292" dirty="0">
                <a:solidFill>
                  <a:srgbClr val="EAF0FF"/>
                </a:solidFill>
                <a:latin typeface="Inter" pitchFamily="34" charset="0"/>
                <a:ea typeface="Inter" pitchFamily="34" charset="-122"/>
                <a:cs typeface="Inter" pitchFamily="34" charset="-120"/>
              </a:rPr>
              <a:t>Two paragraphs of your own refund policy, quoted verbatim. Refunds are available within thirty days of purchase, with proof of order. Damaged goods may be returned at any time.</a:t>
            </a:r>
            <a:endParaRPr lang="en-US" sz="1360" dirty="0"/>
          </a:p>
          <a:p>
            <a:pPr marL="0" indent="0">
              <a:lnSpc>
                <a:spcPct val="118000"/>
              </a:lnSpc>
              <a:spcAft>
                <a:spcPts val="884"/>
              </a:spcAft>
              <a:buNone/>
            </a:pPr>
            <a:r>
              <a:rPr lang="en-US" sz="1292" dirty="0">
                <a:solidFill>
                  <a:srgbClr val="EAF0FF"/>
                </a:solidFill>
                <a:latin typeface="Inter" pitchFamily="34" charset="0"/>
                <a:ea typeface="Inter" pitchFamily="34" charset="-122"/>
                <a:cs typeface="Inter" pitchFamily="34" charset="-120"/>
              </a:rPr>
              <a:t>And underneath them, the question: what does our refund policy say?</a:t>
            </a:r>
            <a:endParaRPr lang="en-US" sz="1360" dirty="0"/>
          </a:p>
          <a:p>
            <a:pPr marL="0" indent="0">
              <a:lnSpc>
                <a:spcPct val="118000"/>
              </a:lnSpc>
              <a:spcAft>
                <a:spcPts val="884"/>
              </a:spcAft>
              <a:buNone/>
            </a:pPr>
            <a:r>
              <a:rPr lang="en-US" sz="1292" dirty="0">
                <a:solidFill>
                  <a:srgbClr val="F5C542"/>
                </a:solidFill>
                <a:latin typeface="Inter" pitchFamily="34" charset="0"/>
                <a:ea typeface="Inter" pitchFamily="34" charset="-122"/>
                <a:cs typeface="Inter" pitchFamily="34" charset="-120"/>
              </a:rPr>
              <a:t>That is the entire trick. Two paragraphs somebody looked up, placed above the question, sent as one ordinary prompt.</a:t>
            </a:r>
            <a:endParaRPr lang="en-US" sz="1360" dirty="0"/>
          </a:p>
        </p:txBody>
      </p:sp>
      <p:sp>
        <p:nvSpPr>
          <p:cNvPr id="10" name="Shape 6"/>
          <p:cNvSpPr/>
          <p:nvPr/>
        </p:nvSpPr>
        <p:spPr>
          <a:xfrm>
            <a:off x="6537960" y="1600200"/>
            <a:ext cx="4754880" cy="3794760"/>
          </a:xfrm>
          <a:prstGeom prst="roundRect">
            <a:avLst>
              <a:gd name="adj" fmla="val 2410"/>
            </a:avLst>
          </a:prstGeom>
          <a:solidFill>
            <a:srgbClr val="0A1024"/>
          </a:solidFill>
          <a:ln w="12700">
            <a:solidFill>
              <a:srgbClr val="1E2A55"/>
            </a:solidFill>
            <a:prstDash val="solid"/>
          </a:ln>
        </p:spPr>
      </p:sp>
      <p:sp>
        <p:nvSpPr>
          <p:cNvPr id="11" name="Text 7"/>
          <p:cNvSpPr txBox="1"/>
          <p:nvPr/>
        </p:nvSpPr>
        <p:spPr>
          <a:xfrm>
            <a:off x="6848856" y="1819656"/>
            <a:ext cx="4206240" cy="274320"/>
          </a:xfrm>
          <a:prstGeom prst="rect">
            <a:avLst/>
          </a:prstGeom>
          <a:noFill/>
          <a:ln/>
        </p:spPr>
        <p:txBody>
          <a:bodyPr wrap="square" lIns="0" tIns="0" rIns="0" bIns="0" rtlCol="0" anchor="ctr"/>
          <a:lstStyle/>
          <a:p>
            <a:pPr marL="0" indent="0">
              <a:buNone/>
            </a:pPr>
            <a:r>
              <a:rPr lang="en-US" sz="1550" b="1" kern="0" spc="200" dirty="0">
                <a:solidFill>
                  <a:srgbClr val="F5C542"/>
                </a:solidFill>
                <a:latin typeface="Inter" pitchFamily="34" charset="0"/>
                <a:ea typeface="Inter" pitchFamily="34" charset="-122"/>
                <a:cs typeface="Inter" pitchFamily="34" charset="-120"/>
              </a:rPr>
              <a:t>WHAT HAPPENED</a:t>
            </a:r>
            <a:endParaRPr lang="en-US" sz="1550" dirty="0"/>
          </a:p>
        </p:txBody>
      </p:sp>
      <p:sp>
        <p:nvSpPr>
          <p:cNvPr id="12" name="Text 8"/>
          <p:cNvSpPr txBox="1"/>
          <p:nvPr/>
        </p:nvSpPr>
        <p:spPr>
          <a:xfrm>
            <a:off x="6848856" y="2258568"/>
            <a:ext cx="4133088" cy="2862072"/>
          </a:xfrm>
          <a:prstGeom prst="rect">
            <a:avLst/>
          </a:prstGeom>
          <a:noFill/>
          <a:ln/>
        </p:spPr>
        <p:txBody>
          <a:bodyPr wrap="square" lIns="0" tIns="0" rIns="0" bIns="0" rtlCol="0" anchor="t"/>
          <a:lstStyle/>
          <a:p>
            <a:pPr marL="0" indent="0">
              <a:lnSpc>
                <a:spcPct val="118000"/>
              </a:lnSpc>
              <a:spcAft>
                <a:spcPts val="949"/>
              </a:spcAft>
              <a:buNone/>
            </a:pPr>
            <a:r>
              <a:rPr lang="en-US" sz="1387" dirty="0">
                <a:solidFill>
                  <a:srgbClr val="9FB0D6"/>
                </a:solidFill>
                <a:latin typeface="Inter" pitchFamily="34" charset="0"/>
                <a:ea typeface="Inter" pitchFamily="34" charset="-122"/>
                <a:cs typeface="Inter" pitchFamily="34" charset="-120"/>
              </a:rPr>
              <a:t>Long before the question, every document was split into paragraph-sized chunks and stored so they could be searched.</a:t>
            </a:r>
            <a:endParaRPr lang="en-US" sz="1460" dirty="0"/>
          </a:p>
          <a:p>
            <a:pPr marL="0" indent="0">
              <a:lnSpc>
                <a:spcPct val="118000"/>
              </a:lnSpc>
              <a:spcAft>
                <a:spcPts val="949"/>
              </a:spcAft>
              <a:buNone/>
            </a:pPr>
            <a:r>
              <a:rPr lang="en-US" sz="1387" dirty="0">
                <a:solidFill>
                  <a:srgbClr val="EAF0FF"/>
                </a:solidFill>
                <a:latin typeface="Inter" pitchFamily="34" charset="0"/>
                <a:ea typeface="Inter" pitchFamily="34" charset="-122"/>
                <a:cs typeface="Inter" pitchFamily="34" charset="-120"/>
              </a:rPr>
              <a:t>The question went to that store, not to the model, and two paragraphs came back.</a:t>
            </a:r>
            <a:endParaRPr lang="en-US" sz="1460" dirty="0"/>
          </a:p>
          <a:p>
            <a:pPr marL="0" indent="0">
              <a:lnSpc>
                <a:spcPct val="118000"/>
              </a:lnSpc>
              <a:spcAft>
                <a:spcPts val="949"/>
              </a:spcAft>
              <a:buNone/>
            </a:pPr>
            <a:r>
              <a:rPr lang="en-US" sz="1387" dirty="0">
                <a:solidFill>
                  <a:srgbClr val="9FB0D6"/>
                </a:solidFill>
                <a:latin typeface="Inter" pitchFamily="34" charset="0"/>
                <a:ea typeface="Inter" pitchFamily="34" charset="-122"/>
                <a:cs typeface="Inter" pitchFamily="34" charset="-120"/>
              </a:rPr>
              <a:t>Your code placed them above the question. The model never searched anything; it answered from text it was handed.</a:t>
            </a:r>
            <a:endParaRPr lang="en-US" sz="1460" dirty="0"/>
          </a:p>
        </p:txBody>
      </p:sp>
      <p:sp>
        <p:nvSpPr>
          <p:cNvPr id="13" name="Text 9"/>
          <p:cNvSpPr txBox="1"/>
          <p:nvPr/>
        </p:nvSpPr>
        <p:spPr>
          <a:xfrm>
            <a:off x="868680" y="5486400"/>
            <a:ext cx="10424160" cy="658368"/>
          </a:xfrm>
          <a:prstGeom prst="rect">
            <a:avLst/>
          </a:prstGeom>
          <a:noFill/>
          <a:ln/>
        </p:spPr>
        <p:txBody>
          <a:bodyPr wrap="square" lIns="0" tIns="0" rIns="0" bIns="0" rtlCol="0" anchor="ctr"/>
          <a:lstStyle/>
          <a:p>
            <a:pPr marL="0" indent="0">
              <a:buNone/>
            </a:pPr>
            <a:r>
              <a:rPr lang="en-US" sz="2200" dirty="0">
                <a:solidFill>
                  <a:srgbClr val="9FB0D6"/>
                </a:solidFill>
                <a:latin typeface="Inter" pitchFamily="34" charset="0"/>
                <a:ea typeface="Inter" pitchFamily="34" charset="-122"/>
                <a:cs typeface="Inter" pitchFamily="34" charset="-120"/>
              </a:rPr>
              <a:t>No magic step. Retrieval just adds more text to the same list.</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20</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3900" b="1" dirty="0">
                <a:solidFill>
                  <a:srgbClr val="EAF0FF"/>
                </a:solidFill>
                <a:latin typeface="Poppins" pitchFamily="34" charset="0"/>
                <a:ea typeface="Poppins" pitchFamily="34" charset="-122"/>
                <a:cs typeface="Poppins" pitchFamily="34" charset="-120"/>
              </a:rPr>
              <a:t>Memory vs RAG, and four decisions</a:t>
            </a:r>
            <a:endParaRPr lang="en-US" sz="3900" dirty="0"/>
          </a:p>
        </p:txBody>
      </p:sp>
      <p:sp>
        <p:nvSpPr>
          <p:cNvPr id="7" name="Shape 3"/>
          <p:cNvSpPr/>
          <p:nvPr/>
        </p:nvSpPr>
        <p:spPr>
          <a:xfrm>
            <a:off x="868680" y="1600200"/>
            <a:ext cx="4937760" cy="3794760"/>
          </a:xfrm>
          <a:prstGeom prst="roundRect">
            <a:avLst>
              <a:gd name="adj" fmla="val 2410"/>
            </a:avLst>
          </a:prstGeom>
          <a:solidFill>
            <a:srgbClr val="0A1024"/>
          </a:solidFill>
          <a:ln w="12700">
            <a:solidFill>
              <a:srgbClr val="1E2A55"/>
            </a:solidFill>
            <a:prstDash val="solid"/>
          </a:ln>
        </p:spPr>
      </p:sp>
      <p:sp>
        <p:nvSpPr>
          <p:cNvPr id="8" name="Text 4"/>
          <p:cNvSpPr txBox="1"/>
          <p:nvPr/>
        </p:nvSpPr>
        <p:spPr>
          <a:xfrm>
            <a:off x="11795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3FD0E6"/>
                </a:solidFill>
                <a:latin typeface="Inter" pitchFamily="34" charset="0"/>
                <a:ea typeface="Inter" pitchFamily="34" charset="-122"/>
                <a:cs typeface="Inter" pitchFamily="34" charset="-120"/>
              </a:rPr>
              <a:t>RELATED, NOT THE SAME</a:t>
            </a:r>
            <a:endParaRPr lang="en-US" sz="1550" dirty="0"/>
          </a:p>
        </p:txBody>
      </p:sp>
      <p:sp>
        <p:nvSpPr>
          <p:cNvPr id="9" name="Text 5"/>
          <p:cNvSpPr txBox="1"/>
          <p:nvPr/>
        </p:nvSpPr>
        <p:spPr>
          <a:xfrm>
            <a:off x="1179576" y="2258568"/>
            <a:ext cx="4315968" cy="2862072"/>
          </a:xfrm>
          <a:prstGeom prst="rect">
            <a:avLst/>
          </a:prstGeom>
          <a:noFill/>
          <a:ln/>
        </p:spPr>
        <p:txBody>
          <a:bodyPr wrap="square" lIns="0" tIns="0" rIns="0" bIns="0" rtlCol="0" anchor="t"/>
          <a:lstStyle/>
          <a:p>
            <a:pPr marL="0" indent="0">
              <a:lnSpc>
                <a:spcPct val="118000"/>
              </a:lnSpc>
              <a:spcAft>
                <a:spcPts val="876"/>
              </a:spcAft>
              <a:buNone/>
            </a:pPr>
            <a:r>
              <a:rPr lang="en-US" sz="1460" dirty="0">
                <a:solidFill>
                  <a:srgbClr val="EAF0FF"/>
                </a:solidFill>
                <a:latin typeface="Inter" pitchFamily="34" charset="0"/>
                <a:ea typeface="Inter" pitchFamily="34" charset="-122"/>
                <a:cs typeface="Inter" pitchFamily="34" charset="-120"/>
              </a:rPr>
              <a:t>Memory is about you. Facts about the user, the conversation, the task. “Aarav prefers Python.”</a:t>
            </a:r>
            <a:endParaRPr lang="en-US" sz="1460" dirty="0"/>
          </a:p>
          <a:p>
            <a:pPr marL="0" indent="0">
              <a:lnSpc>
                <a:spcPct val="118000"/>
              </a:lnSpc>
              <a:spcAft>
                <a:spcPts val="876"/>
              </a:spcAft>
              <a:buNone/>
            </a:pPr>
            <a:r>
              <a:rPr lang="en-US" sz="1460" dirty="0">
                <a:solidFill>
                  <a:srgbClr val="EAF0FF"/>
                </a:solidFill>
                <a:latin typeface="Inter" pitchFamily="34" charset="0"/>
                <a:ea typeface="Inter" pitchFamily="34" charset="-122"/>
                <a:cs typeface="Inter" pitchFamily="34" charset="-120"/>
              </a:rPr>
              <a:t>RAG is about the world. Knowledge from documents nobody wrote in the chat. “Refunds within thirty days.”</a:t>
            </a:r>
            <a:endParaRPr lang="en-US" sz="1460" dirty="0"/>
          </a:p>
          <a:p>
            <a:pPr marL="0" indent="0">
              <a:lnSpc>
                <a:spcPct val="118000"/>
              </a:lnSpc>
              <a:spcAft>
                <a:spcPts val="876"/>
              </a:spcAft>
              <a:buNone/>
            </a:pPr>
            <a:r>
              <a:rPr lang="en-US" sz="1387" dirty="0">
                <a:solidFill>
                  <a:srgbClr val="9FB0D6"/>
                </a:solidFill>
                <a:latin typeface="Inter" pitchFamily="34" charset="0"/>
                <a:ea typeface="Inter" pitchFamily="34" charset="-122"/>
                <a:cs typeface="Inter" pitchFamily="34" charset="-120"/>
              </a:rPr>
              <a:t>Same machinery: store, retrieve, inject. Different content. Real products run both at once.</a:t>
            </a:r>
            <a:endParaRPr lang="en-US" sz="1460" dirty="0"/>
          </a:p>
        </p:txBody>
      </p:sp>
      <p:sp>
        <p:nvSpPr>
          <p:cNvPr id="10" name="Shape 6"/>
          <p:cNvSpPr/>
          <p:nvPr/>
        </p:nvSpPr>
        <p:spPr>
          <a:xfrm>
            <a:off x="6355080" y="1600200"/>
            <a:ext cx="4937760" cy="3794760"/>
          </a:xfrm>
          <a:prstGeom prst="roundRect">
            <a:avLst>
              <a:gd name="adj" fmla="val 2410"/>
            </a:avLst>
          </a:prstGeom>
          <a:solidFill>
            <a:srgbClr val="0A1024"/>
          </a:solidFill>
          <a:ln w="12700">
            <a:solidFill>
              <a:srgbClr val="1E2A55"/>
            </a:solidFill>
            <a:prstDash val="solid"/>
          </a:ln>
        </p:spPr>
      </p:sp>
      <p:sp>
        <p:nvSpPr>
          <p:cNvPr id="11" name="Text 7"/>
          <p:cNvSpPr txBox="1"/>
          <p:nvPr/>
        </p:nvSpPr>
        <p:spPr>
          <a:xfrm>
            <a:off x="66659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F5C542"/>
                </a:solidFill>
                <a:latin typeface="Inter" pitchFamily="34" charset="0"/>
                <a:ea typeface="Inter" pitchFamily="34" charset="-122"/>
                <a:cs typeface="Inter" pitchFamily="34" charset="-120"/>
              </a:rPr>
              <a:t>MEMORY ISN'T STORAGE. IT'S JUDGEMENT</a:t>
            </a:r>
            <a:endParaRPr lang="en-US" sz="1550" dirty="0"/>
          </a:p>
        </p:txBody>
      </p:sp>
      <p:sp>
        <p:nvSpPr>
          <p:cNvPr id="12" name="Text 8"/>
          <p:cNvSpPr txBox="1"/>
          <p:nvPr/>
        </p:nvSpPr>
        <p:spPr>
          <a:xfrm>
            <a:off x="6665976" y="2258568"/>
            <a:ext cx="4315968" cy="2862072"/>
          </a:xfrm>
          <a:prstGeom prst="rect">
            <a:avLst/>
          </a:prstGeom>
          <a:noFill/>
          <a:ln/>
        </p:spPr>
        <p:txBody>
          <a:bodyPr wrap="square" lIns="0" tIns="0" rIns="0" bIns="0" rtlCol="0" anchor="t"/>
          <a:lstStyle/>
          <a:p>
            <a:pPr marL="0" indent="0">
              <a:lnSpc>
                <a:spcPct val="118000"/>
              </a:lnSpc>
              <a:spcAft>
                <a:spcPts val="560"/>
              </a:spcAft>
              <a:buNone/>
            </a:pPr>
            <a:r>
              <a:rPr lang="en-US" sz="1330" dirty="0">
                <a:solidFill>
                  <a:srgbClr val="EAF0FF"/>
                </a:solidFill>
                <a:latin typeface="Inter" pitchFamily="34" charset="0"/>
                <a:ea typeface="Inter" pitchFamily="34" charset="-122"/>
                <a:cs typeface="Inter" pitchFamily="34" charset="-120"/>
              </a:rPr>
              <a:t>What should the system retain at all? A system that keeps everything has made no decision.</a:t>
            </a:r>
            <a:endParaRPr lang="en-US" sz="1330" dirty="0"/>
          </a:p>
          <a:p>
            <a:pPr marL="0" indent="0">
              <a:lnSpc>
                <a:spcPct val="118000"/>
              </a:lnSpc>
              <a:spcAft>
                <a:spcPts val="560"/>
              </a:spcAft>
              <a:buNone/>
            </a:pPr>
            <a:r>
              <a:rPr lang="en-US" sz="1330" dirty="0">
                <a:solidFill>
                  <a:srgbClr val="EAF0FF"/>
                </a:solidFill>
                <a:latin typeface="Inter" pitchFamily="34" charset="0"/>
                <a:ea typeface="Inter" pitchFamily="34" charset="-122"/>
                <a:cs typeface="Inter" pitchFamily="34" charset="-120"/>
              </a:rPr>
              <a:t>Where should it retain it? A row, a file, an index. The answer follows the shape of the information.</a:t>
            </a:r>
            <a:endParaRPr lang="en-US" sz="1330" dirty="0"/>
          </a:p>
          <a:p>
            <a:pPr marL="0" indent="0">
              <a:lnSpc>
                <a:spcPct val="118000"/>
              </a:lnSpc>
              <a:spcAft>
                <a:spcPts val="560"/>
              </a:spcAft>
              <a:buNone/>
            </a:pPr>
            <a:r>
              <a:rPr lang="en-US" sz="1330" dirty="0">
                <a:solidFill>
                  <a:srgbClr val="EAF0FF"/>
                </a:solidFill>
                <a:latin typeface="Inter" pitchFamily="34" charset="0"/>
                <a:ea typeface="Inter" pitchFamily="34" charset="-122"/>
                <a:cs typeface="Inter" pitchFamily="34" charset="-120"/>
              </a:rPr>
              <a:t>When should it retrieve it? Pulling back everything you ever stored is the naive loop in a costume.</a:t>
            </a:r>
            <a:endParaRPr lang="en-US" sz="1330" dirty="0"/>
          </a:p>
          <a:p>
            <a:pPr marL="0" indent="0">
              <a:lnSpc>
                <a:spcPct val="118000"/>
              </a:lnSpc>
              <a:spcAft>
                <a:spcPts val="560"/>
              </a:spcAft>
              <a:buNone/>
            </a:pPr>
            <a:r>
              <a:rPr lang="en-US" sz="1330" dirty="0">
                <a:solidFill>
                  <a:srgbClr val="EAF0FF"/>
                </a:solidFill>
                <a:latin typeface="Inter" pitchFamily="34" charset="0"/>
                <a:ea typeface="Inter" pitchFamily="34" charset="-122"/>
                <a:cs typeface="Inter" pitchFamily="34" charset="-120"/>
              </a:rPr>
              <a:t>How much belongs in the model's limited context? Everything retrieved competes with the instructions, the history, and the room the answer needs.</a:t>
            </a:r>
            <a:endParaRPr lang="en-US" sz="1330" dirty="0"/>
          </a:p>
        </p:txBody>
      </p:sp>
      <p:sp>
        <p:nvSpPr>
          <p:cNvPr id="13" name="Text 9"/>
          <p:cNvSpPr txBox="1"/>
          <p:nvPr/>
        </p:nvSpPr>
        <p:spPr>
          <a:xfrm>
            <a:off x="868680" y="5486400"/>
            <a:ext cx="10424160" cy="658368"/>
          </a:xfrm>
          <a:prstGeom prst="rect">
            <a:avLst/>
          </a:prstGeom>
          <a:noFill/>
          <a:ln/>
        </p:spPr>
        <p:txBody>
          <a:bodyPr wrap="square" lIns="0" tIns="0" rIns="0" bIns="0" rtlCol="0" anchor="ctr"/>
          <a:lstStyle/>
          <a:p>
            <a:pPr marL="0" indent="0">
              <a:buNone/>
            </a:pPr>
            <a:r>
              <a:rPr lang="en-US" sz="2200" dirty="0">
                <a:solidFill>
                  <a:srgbClr val="F5C542"/>
                </a:solidFill>
                <a:latin typeface="Inter" pitchFamily="34" charset="0"/>
                <a:ea typeface="Inter" pitchFamily="34" charset="-122"/>
                <a:cs typeface="Inter" pitchFamily="34" charset="-120"/>
              </a:rPr>
              <a:t>Storage is easy. Those four questions are the engineering.</a:t>
            </a:r>
            <a:endParaRPr lang="en-US" sz="2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21</a:t>
            </a:r>
            <a:endParaRPr lang="en-US" sz="1400" dirty="0"/>
          </a:p>
        </p:txBody>
      </p:sp>
      <p:pic>
        <p:nvPicPr>
          <p:cNvPr id="6" name="Image 2" descr="/root/deck/assets/sparkle_cyan.png"/>
          <p:cNvPicPr>
            <a:picLocks noChangeAspect="1"/>
          </p:cNvPicPr>
          <p:nvPr/>
        </p:nvPicPr>
        <p:blipFill>
          <a:blip r:embed="rId6"/>
          <a:stretch>
            <a:fillRect/>
          </a:stretch>
        </p:blipFill>
        <p:spPr>
          <a:xfrm>
            <a:off x="914400" y="1847088"/>
            <a:ext cx="365760" cy="365760"/>
          </a:xfrm>
          <a:prstGeom prst="rect">
            <a:avLst/>
          </a:prstGeom>
        </p:spPr>
      </p:pic>
      <p:sp>
        <p:nvSpPr>
          <p:cNvPr id="7" name="Text 2"/>
          <p:cNvSpPr txBox="1"/>
          <p:nvPr/>
        </p:nvSpPr>
        <p:spPr>
          <a:xfrm>
            <a:off x="1417320" y="1883664"/>
            <a:ext cx="7315200" cy="292608"/>
          </a:xfrm>
          <a:prstGeom prst="rect">
            <a:avLst/>
          </a:prstGeom>
          <a:noFill/>
          <a:ln/>
        </p:spPr>
        <p:txBody>
          <a:bodyPr wrap="square" lIns="0" tIns="0" rIns="0" bIns="0" rtlCol="0" anchor="ctr"/>
          <a:lstStyle/>
          <a:p>
            <a:pPr marL="0" indent="0">
              <a:buNone/>
            </a:pPr>
            <a:r>
              <a:rPr lang="en-US" sz="1700" b="1" kern="0" spc="300" dirty="0">
                <a:solidFill>
                  <a:srgbClr val="3FD0E6"/>
                </a:solidFill>
                <a:latin typeface="Inter" pitchFamily="34" charset="0"/>
                <a:ea typeface="Inter" pitchFamily="34" charset="-122"/>
                <a:cs typeface="Inter" pitchFamily="34" charset="-120"/>
              </a:rPr>
              <a:t>PART THREE</a:t>
            </a:r>
            <a:endParaRPr lang="en-US" sz="1700" dirty="0"/>
          </a:p>
        </p:txBody>
      </p:sp>
      <p:sp>
        <p:nvSpPr>
          <p:cNvPr id="8" name="Text 3"/>
          <p:cNvSpPr txBox="1"/>
          <p:nvPr/>
        </p:nvSpPr>
        <p:spPr>
          <a:xfrm>
            <a:off x="868680" y="2487168"/>
            <a:ext cx="10515600" cy="1920240"/>
          </a:xfrm>
          <a:prstGeom prst="rect">
            <a:avLst/>
          </a:prstGeom>
          <a:noFill/>
          <a:ln/>
        </p:spPr>
        <p:txBody>
          <a:bodyPr wrap="square" lIns="0" tIns="0" rIns="0" bIns="0" rtlCol="0" anchor="t"/>
          <a:lstStyle/>
          <a:p>
            <a:pPr marL="0" indent="0">
              <a:lnSpc>
                <a:spcPct val="112000"/>
              </a:lnSpc>
              <a:buNone/>
            </a:pPr>
            <a:r>
              <a:rPr lang="en-US" sz="5900" b="1" dirty="0">
                <a:solidFill>
                  <a:srgbClr val="EAF0FF"/>
                </a:solidFill>
                <a:latin typeface="Poppins" pitchFamily="34" charset="0"/>
                <a:ea typeface="Poppins" pitchFamily="34" charset="-122"/>
                <a:cs typeface="Poppins" pitchFamily="34" charset="-120"/>
              </a:rPr>
              <a:t>One task.</a:t>
            </a:r>
            <a:endParaRPr lang="en-US" sz="5900" dirty="0"/>
          </a:p>
          <a:p>
            <a:pPr marL="0" indent="0">
              <a:lnSpc>
                <a:spcPct val="112000"/>
              </a:lnSpc>
              <a:buNone/>
            </a:pPr>
            <a:r>
              <a:rPr lang="en-US" sz="5900" b="1" dirty="0">
                <a:solidFill>
                  <a:srgbClr val="EAF0FF"/>
                </a:solidFill>
                <a:latin typeface="Poppins" pitchFamily="34" charset="0"/>
                <a:ea typeface="Poppins" pitchFamily="34" charset="-122"/>
                <a:cs typeface="Poppins" pitchFamily="34" charset="-120"/>
              </a:rPr>
              <a:t>Many </a:t>
            </a:r>
            <a:r>
              <a:rPr lang="en-US" sz="5900" b="1" dirty="0">
                <a:solidFill>
                  <a:srgbClr val="F5C542"/>
                </a:solidFill>
                <a:latin typeface="Poppins" pitchFamily="34" charset="0"/>
                <a:ea typeface="Poppins" pitchFamily="34" charset="-122"/>
                <a:cs typeface="Poppins" pitchFamily="34" charset="-120"/>
              </a:rPr>
              <a:t>steps.</a:t>
            </a:r>
            <a:endParaRPr lang="en-US" sz="5900" dirty="0"/>
          </a:p>
        </p:txBody>
      </p:sp>
      <p:sp>
        <p:nvSpPr>
          <p:cNvPr id="9" name="Text 4"/>
          <p:cNvSpPr txBox="1"/>
          <p:nvPr/>
        </p:nvSpPr>
        <p:spPr>
          <a:xfrm>
            <a:off x="914400" y="4800600"/>
            <a:ext cx="8229600" cy="457200"/>
          </a:xfrm>
          <a:prstGeom prst="rect">
            <a:avLst/>
          </a:prstGeom>
          <a:noFill/>
          <a:ln/>
        </p:spPr>
        <p:txBody>
          <a:bodyPr wrap="square" lIns="0" tIns="0" rIns="0" bIns="0" rtlCol="0" anchor="ctr"/>
          <a:lstStyle/>
          <a:p>
            <a:pPr marL="0" indent="0">
              <a:buNone/>
            </a:pPr>
            <a:r>
              <a:rPr lang="en-US" sz="2500" dirty="0">
                <a:solidFill>
                  <a:srgbClr val="9FB0D6"/>
                </a:solidFill>
                <a:latin typeface="Inter" pitchFamily="34" charset="0"/>
                <a:ea typeface="Inter" pitchFamily="34" charset="-122"/>
                <a:cs typeface="Inter" pitchFamily="34" charset="-120"/>
              </a:rPr>
              <a:t>And memory is what holds them together.</a:t>
            </a:r>
            <a:endParaRPr lang="en-US" sz="2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22</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4300" b="1" dirty="0">
                <a:solidFill>
                  <a:srgbClr val="EAF0FF"/>
                </a:solidFill>
                <a:latin typeface="Poppins" pitchFamily="34" charset="0"/>
                <a:ea typeface="Poppins" pitchFamily="34" charset="-122"/>
                <a:cs typeface="Poppins" pitchFamily="34" charset="-120"/>
              </a:rPr>
              <a:t>Decomposition: </a:t>
            </a:r>
            <a:r>
              <a:rPr lang="en-US" sz="4300" b="1" dirty="0">
                <a:solidFill>
                  <a:srgbClr val="3FD0E6"/>
                </a:solidFill>
                <a:latin typeface="Poppins" pitchFamily="34" charset="0"/>
                <a:ea typeface="Poppins" pitchFamily="34" charset="-122"/>
                <a:cs typeface="Poppins" pitchFamily="34" charset="-120"/>
              </a:rPr>
              <a:t>the idea</a:t>
            </a:r>
            <a:endParaRPr lang="en-US" sz="4300" dirty="0"/>
          </a:p>
        </p:txBody>
      </p:sp>
      <p:sp>
        <p:nvSpPr>
          <p:cNvPr id="7" name="Shape 3"/>
          <p:cNvSpPr/>
          <p:nvPr/>
        </p:nvSpPr>
        <p:spPr>
          <a:xfrm>
            <a:off x="868680" y="1600200"/>
            <a:ext cx="4937760" cy="3794760"/>
          </a:xfrm>
          <a:prstGeom prst="roundRect">
            <a:avLst>
              <a:gd name="adj" fmla="val 2410"/>
            </a:avLst>
          </a:prstGeom>
          <a:solidFill>
            <a:srgbClr val="0A1024"/>
          </a:solidFill>
          <a:ln w="12700">
            <a:solidFill>
              <a:srgbClr val="1E2A55"/>
            </a:solidFill>
            <a:prstDash val="solid"/>
          </a:ln>
        </p:spPr>
      </p:sp>
      <p:sp>
        <p:nvSpPr>
          <p:cNvPr id="8" name="Text 4"/>
          <p:cNvSpPr txBox="1"/>
          <p:nvPr/>
        </p:nvSpPr>
        <p:spPr>
          <a:xfrm>
            <a:off x="11795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F5C542"/>
                </a:solidFill>
                <a:latin typeface="Inter" pitchFamily="34" charset="0"/>
                <a:ea typeface="Inter" pitchFamily="34" charset="-122"/>
                <a:cs typeface="Inter" pitchFamily="34" charset="-120"/>
              </a:rPr>
              <a:t>ONE SHOT</a:t>
            </a:r>
            <a:endParaRPr lang="en-US" sz="1550" dirty="0"/>
          </a:p>
        </p:txBody>
      </p:sp>
      <p:sp>
        <p:nvSpPr>
          <p:cNvPr id="9" name="Text 5"/>
          <p:cNvSpPr txBox="1"/>
          <p:nvPr/>
        </p:nvSpPr>
        <p:spPr>
          <a:xfrm>
            <a:off x="1179576" y="2258568"/>
            <a:ext cx="4315968" cy="2862072"/>
          </a:xfrm>
          <a:prstGeom prst="rect">
            <a:avLst/>
          </a:prstGeom>
          <a:noFill/>
          <a:ln/>
        </p:spPr>
        <p:txBody>
          <a:bodyPr wrap="square" lIns="0" tIns="0" rIns="0" bIns="0" rtlCol="0" anchor="t"/>
          <a:lstStyle/>
          <a:p>
            <a:pPr marL="0" indent="0">
              <a:lnSpc>
                <a:spcPct val="118000"/>
              </a:lnSpc>
              <a:spcAft>
                <a:spcPts val="1066"/>
              </a:spcAft>
              <a:buNone/>
            </a:pPr>
            <a:r>
              <a:rPr lang="en-US" sz="1640" dirty="0">
                <a:solidFill>
                  <a:srgbClr val="EAF0FF"/>
                </a:solidFill>
                <a:latin typeface="Inter" pitchFamily="34" charset="0"/>
                <a:ea typeface="Inter" pitchFamily="34" charset="-122"/>
                <a:cs typeface="Inter" pitchFamily="34" charset="-120"/>
              </a:rPr>
              <a:t>“Create a technical seminar on computer vision.”</a:t>
            </a:r>
            <a:endParaRPr lang="en-US" sz="1640" dirty="0"/>
          </a:p>
          <a:p>
            <a:pPr marL="0" indent="0">
              <a:lnSpc>
                <a:spcPct val="118000"/>
              </a:lnSpc>
              <a:spcAft>
                <a:spcPts val="1066"/>
              </a:spcAft>
              <a:buNone/>
            </a:pPr>
            <a:r>
              <a:rPr lang="en-US" sz="1558" dirty="0">
                <a:solidFill>
                  <a:srgbClr val="9FB0D6"/>
                </a:solidFill>
                <a:latin typeface="Inter" pitchFamily="34" charset="0"/>
                <a:ea typeface="Inter" pitchFamily="34" charset="-122"/>
                <a:cs typeface="Inter" pitchFamily="34" charset="-120"/>
              </a:rPr>
              <a:t>The model must research, structure, write examples, build activities, write a quiz and review its own work, all inside one generation.</a:t>
            </a:r>
            <a:endParaRPr lang="en-US" sz="1640" dirty="0"/>
          </a:p>
          <a:p>
            <a:pPr marL="0" indent="0">
              <a:lnSpc>
                <a:spcPct val="118000"/>
              </a:lnSpc>
              <a:spcAft>
                <a:spcPts val="1066"/>
              </a:spcAft>
              <a:buNone/>
            </a:pPr>
            <a:r>
              <a:rPr lang="en-US" sz="1640" dirty="0">
                <a:solidFill>
                  <a:srgbClr val="F5C542"/>
                </a:solidFill>
                <a:latin typeface="Inter" pitchFamily="34" charset="0"/>
                <a:ea typeface="Inter" pitchFamily="34" charset="-122"/>
                <a:cs typeface="Inter" pitchFamily="34" charset="-120"/>
              </a:rPr>
              <a:t>One output. Nothing to inspect.</a:t>
            </a:r>
            <a:endParaRPr lang="en-US" sz="1640" dirty="0"/>
          </a:p>
        </p:txBody>
      </p:sp>
      <p:sp>
        <p:nvSpPr>
          <p:cNvPr id="10" name="Shape 6"/>
          <p:cNvSpPr/>
          <p:nvPr/>
        </p:nvSpPr>
        <p:spPr>
          <a:xfrm>
            <a:off x="6355080" y="1600200"/>
            <a:ext cx="4937760" cy="3794760"/>
          </a:xfrm>
          <a:prstGeom prst="roundRect">
            <a:avLst>
              <a:gd name="adj" fmla="val 2410"/>
            </a:avLst>
          </a:prstGeom>
          <a:solidFill>
            <a:srgbClr val="0A1024"/>
          </a:solidFill>
          <a:ln w="12700">
            <a:solidFill>
              <a:srgbClr val="1E2A55"/>
            </a:solidFill>
            <a:prstDash val="solid"/>
          </a:ln>
        </p:spPr>
      </p:sp>
      <p:sp>
        <p:nvSpPr>
          <p:cNvPr id="11" name="Text 7"/>
          <p:cNvSpPr txBox="1"/>
          <p:nvPr/>
        </p:nvSpPr>
        <p:spPr>
          <a:xfrm>
            <a:off x="66659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3FD0E6"/>
                </a:solidFill>
                <a:latin typeface="Inter" pitchFamily="34" charset="0"/>
                <a:ea typeface="Inter" pitchFamily="34" charset="-122"/>
                <a:cs typeface="Inter" pitchFamily="34" charset="-120"/>
              </a:rPr>
              <a:t>DECOMPOSED</a:t>
            </a:r>
            <a:endParaRPr lang="en-US" sz="1550" dirty="0"/>
          </a:p>
        </p:txBody>
      </p:sp>
      <p:sp>
        <p:nvSpPr>
          <p:cNvPr id="12" name="Text 8"/>
          <p:cNvSpPr txBox="1"/>
          <p:nvPr/>
        </p:nvSpPr>
        <p:spPr>
          <a:xfrm>
            <a:off x="6665976" y="2258568"/>
            <a:ext cx="4315968" cy="2862072"/>
          </a:xfrm>
          <a:prstGeom prst="rect">
            <a:avLst/>
          </a:prstGeom>
          <a:noFill/>
          <a:ln/>
        </p:spPr>
        <p:txBody>
          <a:bodyPr wrap="square" lIns="0" tIns="0" rIns="0" bIns="0" rtlCol="0" anchor="t"/>
          <a:lstStyle/>
          <a:p>
            <a:pPr marL="0" indent="0">
              <a:lnSpc>
                <a:spcPct val="118000"/>
              </a:lnSpc>
              <a:spcAft>
                <a:spcPts val="492"/>
              </a:spcAft>
              <a:buNone/>
            </a:pPr>
            <a:r>
              <a:rPr lang="en-US" sz="1558" dirty="0">
                <a:solidFill>
                  <a:srgbClr val="EAF0FF"/>
                </a:solidFill>
                <a:latin typeface="Inter" pitchFamily="34" charset="0"/>
                <a:ea typeface="Inter" pitchFamily="34" charset="-122"/>
                <a:cs typeface="Inter" pitchFamily="34" charset="-120"/>
              </a:rPr>
              <a:t>1. Define learning objectives</a:t>
            </a:r>
            <a:endParaRPr lang="en-US" sz="1558" dirty="0"/>
          </a:p>
          <a:p>
            <a:pPr marL="0" indent="0">
              <a:lnSpc>
                <a:spcPct val="118000"/>
              </a:lnSpc>
              <a:spcAft>
                <a:spcPts val="492"/>
              </a:spcAft>
              <a:buNone/>
            </a:pPr>
            <a:r>
              <a:rPr lang="en-US" sz="1558" dirty="0">
                <a:solidFill>
                  <a:srgbClr val="EAF0FF"/>
                </a:solidFill>
                <a:latin typeface="Inter" pitchFamily="34" charset="0"/>
                <a:ea typeface="Inter" pitchFamily="34" charset="-122"/>
                <a:cs typeface="Inter" pitchFamily="34" charset="-120"/>
              </a:rPr>
              <a:t>2. Identify the key concepts</a:t>
            </a:r>
            <a:endParaRPr lang="en-US" sz="1558" dirty="0"/>
          </a:p>
          <a:p>
            <a:pPr marL="0" indent="0">
              <a:lnSpc>
                <a:spcPct val="118000"/>
              </a:lnSpc>
              <a:spcAft>
                <a:spcPts val="492"/>
              </a:spcAft>
              <a:buNone/>
            </a:pPr>
            <a:r>
              <a:rPr lang="en-US" sz="1558" dirty="0">
                <a:solidFill>
                  <a:srgbClr val="EAF0FF"/>
                </a:solidFill>
                <a:latin typeface="Inter" pitchFamily="34" charset="0"/>
                <a:ea typeface="Inter" pitchFamily="34" charset="-122"/>
                <a:cs typeface="Inter" pitchFamily="34" charset="-120"/>
              </a:rPr>
              <a:t>3. Build the lecture structure</a:t>
            </a:r>
            <a:endParaRPr lang="en-US" sz="1558" dirty="0"/>
          </a:p>
          <a:p>
            <a:pPr marL="0" indent="0">
              <a:lnSpc>
                <a:spcPct val="118000"/>
              </a:lnSpc>
              <a:spcAft>
                <a:spcPts val="492"/>
              </a:spcAft>
              <a:buNone/>
            </a:pPr>
            <a:r>
              <a:rPr lang="en-US" sz="1558" dirty="0">
                <a:solidFill>
                  <a:srgbClr val="EAF0FF"/>
                </a:solidFill>
                <a:latin typeface="Inter" pitchFamily="34" charset="0"/>
                <a:ea typeface="Inter" pitchFamily="34" charset="-122"/>
                <a:cs typeface="Inter" pitchFamily="34" charset="-120"/>
              </a:rPr>
              <a:t>4. Develop worked examples</a:t>
            </a:r>
            <a:endParaRPr lang="en-US" sz="1558" dirty="0"/>
          </a:p>
          <a:p>
            <a:pPr marL="0" indent="0">
              <a:lnSpc>
                <a:spcPct val="118000"/>
              </a:lnSpc>
              <a:spcAft>
                <a:spcPts val="492"/>
              </a:spcAft>
              <a:buNone/>
            </a:pPr>
            <a:r>
              <a:rPr lang="en-US" sz="1558" dirty="0">
                <a:solidFill>
                  <a:srgbClr val="EAF0FF"/>
                </a:solidFill>
                <a:latin typeface="Inter" pitchFamily="34" charset="0"/>
                <a:ea typeface="Inter" pitchFamily="34" charset="-122"/>
                <a:cs typeface="Inter" pitchFamily="34" charset="-120"/>
              </a:rPr>
              <a:t>5. Design the practical activity</a:t>
            </a:r>
            <a:endParaRPr lang="en-US" sz="1558" dirty="0"/>
          </a:p>
          <a:p>
            <a:pPr marL="0" indent="0">
              <a:lnSpc>
                <a:spcPct val="118000"/>
              </a:lnSpc>
              <a:spcAft>
                <a:spcPts val="492"/>
              </a:spcAft>
              <a:buNone/>
            </a:pPr>
            <a:r>
              <a:rPr lang="en-US" sz="1558" dirty="0">
                <a:solidFill>
                  <a:srgbClr val="EAF0FF"/>
                </a:solidFill>
                <a:latin typeface="Inter" pitchFamily="34" charset="0"/>
                <a:ea typeface="Inter" pitchFamily="34" charset="-122"/>
                <a:cs typeface="Inter" pitchFamily="34" charset="-120"/>
              </a:rPr>
              <a:t>6. Create the assessment</a:t>
            </a:r>
            <a:endParaRPr lang="en-US" sz="1558" dirty="0"/>
          </a:p>
          <a:p>
            <a:pPr marL="0" indent="0">
              <a:lnSpc>
                <a:spcPct val="118000"/>
              </a:lnSpc>
              <a:spcAft>
                <a:spcPts val="492"/>
              </a:spcAft>
              <a:buNone/>
            </a:pPr>
            <a:r>
              <a:rPr lang="en-US" sz="1558" dirty="0">
                <a:solidFill>
                  <a:srgbClr val="EAF0FF"/>
                </a:solidFill>
                <a:latin typeface="Inter" pitchFamily="34" charset="0"/>
                <a:ea typeface="Inter" pitchFamily="34" charset="-122"/>
                <a:cs typeface="Inter" pitchFamily="34" charset="-120"/>
              </a:rPr>
              <a:t>7. Review the whole seminar</a:t>
            </a:r>
            <a:endParaRPr lang="en-US" sz="1558" dirty="0"/>
          </a:p>
        </p:txBody>
      </p:sp>
      <p:sp>
        <p:nvSpPr>
          <p:cNvPr id="13" name="Text 9"/>
          <p:cNvSpPr txBox="1"/>
          <p:nvPr/>
        </p:nvSpPr>
        <p:spPr>
          <a:xfrm>
            <a:off x="868680" y="5486400"/>
            <a:ext cx="10424160" cy="658368"/>
          </a:xfrm>
          <a:prstGeom prst="rect">
            <a:avLst/>
          </a:prstGeom>
          <a:noFill/>
          <a:ln/>
        </p:spPr>
        <p:txBody>
          <a:bodyPr wrap="square" lIns="0" tIns="0" rIns="0" bIns="0" rtlCol="0" anchor="ctr"/>
          <a:lstStyle/>
          <a:p>
            <a:pPr marL="0" indent="0">
              <a:buNone/>
            </a:pPr>
            <a:r>
              <a:rPr lang="en-US" sz="2200" dirty="0">
                <a:solidFill>
                  <a:srgbClr val="9FB0D6"/>
                </a:solidFill>
                <a:latin typeface="Inter" pitchFamily="34" charset="0"/>
                <a:ea typeface="Inter" pitchFamily="34" charset="-122"/>
                <a:cs typeface="Inter" pitchFamily="34" charset="-120"/>
              </a:rPr>
              <a:t>Same task. The second version has parts you can name, check and redo.</a:t>
            </a:r>
            <a:endParaRPr lang="en-US" sz="2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23</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3100" b="1" dirty="0">
                <a:solidFill>
                  <a:srgbClr val="EAF0FF"/>
                </a:solidFill>
                <a:latin typeface="Poppins" pitchFamily="34" charset="0"/>
                <a:ea typeface="Poppins" pitchFamily="34" charset="-122"/>
                <a:cs typeface="Poppins" pitchFamily="34" charset="-120"/>
              </a:rPr>
              <a:t>Decomposition: </a:t>
            </a:r>
            <a:r>
              <a:rPr lang="en-US" sz="3100" b="1" dirty="0">
                <a:solidFill>
                  <a:srgbClr val="3FD0E6"/>
                </a:solidFill>
                <a:latin typeface="Poppins" pitchFamily="34" charset="0"/>
                <a:ea typeface="Poppins" pitchFamily="34" charset="-122"/>
                <a:cs typeface="Poppins" pitchFamily="34" charset="-120"/>
              </a:rPr>
              <a:t>what one shot gets wrong</a:t>
            </a:r>
            <a:endParaRPr lang="en-US" sz="3100" dirty="0"/>
          </a:p>
        </p:txBody>
      </p:sp>
      <p:sp>
        <p:nvSpPr>
          <p:cNvPr id="7" name="Shape 3"/>
          <p:cNvSpPr/>
          <p:nvPr/>
        </p:nvSpPr>
        <p:spPr>
          <a:xfrm>
            <a:off x="868680" y="1600200"/>
            <a:ext cx="4937760" cy="3794760"/>
          </a:xfrm>
          <a:prstGeom prst="roundRect">
            <a:avLst>
              <a:gd name="adj" fmla="val 2410"/>
            </a:avLst>
          </a:prstGeom>
          <a:solidFill>
            <a:srgbClr val="0A1024"/>
          </a:solidFill>
          <a:ln w="12700">
            <a:solidFill>
              <a:srgbClr val="1E2A55"/>
            </a:solidFill>
            <a:prstDash val="solid"/>
          </a:ln>
        </p:spPr>
      </p:sp>
      <p:sp>
        <p:nvSpPr>
          <p:cNvPr id="8" name="Text 4"/>
          <p:cNvSpPr txBox="1"/>
          <p:nvPr/>
        </p:nvSpPr>
        <p:spPr>
          <a:xfrm>
            <a:off x="11795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F5C542"/>
                </a:solidFill>
                <a:latin typeface="Inter" pitchFamily="34" charset="0"/>
                <a:ea typeface="Inter" pitchFamily="34" charset="-122"/>
                <a:cs typeface="Inter" pitchFamily="34" charset="-120"/>
              </a:rPr>
              <a:t>REQUIREMENTS GO MISSING</a:t>
            </a:r>
            <a:endParaRPr lang="en-US" sz="1550" dirty="0"/>
          </a:p>
        </p:txBody>
      </p:sp>
      <p:sp>
        <p:nvSpPr>
          <p:cNvPr id="9" name="Text 5"/>
          <p:cNvSpPr txBox="1"/>
          <p:nvPr/>
        </p:nvSpPr>
        <p:spPr>
          <a:xfrm>
            <a:off x="1179576" y="2258568"/>
            <a:ext cx="4315968" cy="2862072"/>
          </a:xfrm>
          <a:prstGeom prst="rect">
            <a:avLst/>
          </a:prstGeom>
          <a:noFill/>
          <a:ln/>
        </p:spPr>
        <p:txBody>
          <a:bodyPr wrap="square" lIns="0" tIns="0" rIns="0" bIns="0" rtlCol="0" anchor="t"/>
          <a:lstStyle/>
          <a:p>
            <a:pPr marL="0" indent="0">
              <a:lnSpc>
                <a:spcPct val="118000"/>
              </a:lnSpc>
              <a:spcAft>
                <a:spcPts val="803"/>
              </a:spcAft>
              <a:buNone/>
            </a:pPr>
            <a:r>
              <a:rPr lang="en-US" sz="1600" dirty="0">
                <a:solidFill>
                  <a:srgbClr val="EAF0FF"/>
                </a:solidFill>
                <a:latin typeface="Inter" pitchFamily="34" charset="0"/>
                <a:ea typeface="Inter" pitchFamily="34" charset="-122"/>
                <a:cs typeface="Inter" pitchFamily="34" charset="-120"/>
              </a:rPr>
              <a:t>You asked for eight things: React, PostgreSQL, authentication, mobile responsive, dark mode, an admin dashboard, unit tests and documentation.</a:t>
            </a:r>
            <a:endParaRPr lang="en-US" sz="1600" dirty="0"/>
          </a:p>
          <a:p>
            <a:pPr marL="0" indent="0">
              <a:lnSpc>
                <a:spcPct val="118000"/>
              </a:lnSpc>
              <a:spcAft>
                <a:spcPts val="803"/>
              </a:spcAft>
              <a:buNone/>
            </a:pPr>
            <a:r>
              <a:rPr lang="en-US" sz="1600" dirty="0">
                <a:solidFill>
                  <a:srgbClr val="F5C542"/>
                </a:solidFill>
                <a:latin typeface="Inter" pitchFamily="34" charset="0"/>
                <a:ea typeface="Inter" pitchFamily="34" charset="-122"/>
                <a:cs typeface="Inter" pitchFamily="34" charset="-120"/>
              </a:rPr>
              <a:t>You got six. No tests. No documentation. Nothing announced the loss.</a:t>
            </a:r>
            <a:endParaRPr lang="en-US" sz="1600" dirty="0"/>
          </a:p>
          <a:p>
            <a:pPr marL="0" indent="0">
              <a:lnSpc>
                <a:spcPct val="118000"/>
              </a:lnSpc>
              <a:spcAft>
                <a:spcPts val="803"/>
              </a:spcAft>
              <a:buNone/>
            </a:pPr>
            <a:r>
              <a:rPr lang="en-US" sz="1600" dirty="0">
                <a:solidFill>
                  <a:srgbClr val="9FB0D6"/>
                </a:solidFill>
                <a:latin typeface="Inter" pitchFamily="34" charset="0"/>
                <a:ea typeface="Inter" pitchFamily="34" charset="-122"/>
                <a:cs typeface="Inter" pitchFamily="34" charset="-120"/>
              </a:rPr>
              <a:t>That is what makes it dangerous. The answer is coherent and confident, and you only notice if you go back and check the original list.</a:t>
            </a:r>
            <a:endParaRPr lang="en-US" sz="1600" dirty="0"/>
          </a:p>
        </p:txBody>
      </p:sp>
      <p:sp>
        <p:nvSpPr>
          <p:cNvPr id="10" name="Shape 6"/>
          <p:cNvSpPr/>
          <p:nvPr/>
        </p:nvSpPr>
        <p:spPr>
          <a:xfrm>
            <a:off x="6355080" y="1663835"/>
            <a:ext cx="4937760" cy="3794760"/>
          </a:xfrm>
          <a:prstGeom prst="roundRect">
            <a:avLst>
              <a:gd name="adj" fmla="val 2410"/>
            </a:avLst>
          </a:prstGeom>
          <a:solidFill>
            <a:srgbClr val="0A1024"/>
          </a:solidFill>
          <a:ln w="12700">
            <a:solidFill>
              <a:srgbClr val="1E2A55"/>
            </a:solidFill>
            <a:prstDash val="solid"/>
          </a:ln>
        </p:spPr>
      </p:sp>
      <p:sp>
        <p:nvSpPr>
          <p:cNvPr id="11" name="Text 7"/>
          <p:cNvSpPr txBox="1"/>
          <p:nvPr/>
        </p:nvSpPr>
        <p:spPr>
          <a:xfrm>
            <a:off x="66659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3FD0E6"/>
                </a:solidFill>
                <a:latin typeface="Inter" pitchFamily="34" charset="0"/>
                <a:ea typeface="Inter" pitchFamily="34" charset="-122"/>
                <a:cs typeface="Inter" pitchFamily="34" charset="-120"/>
              </a:rPr>
              <a:t>AND THE GOAL DRIFTS</a:t>
            </a:r>
            <a:endParaRPr lang="en-US" sz="1550" dirty="0"/>
          </a:p>
        </p:txBody>
      </p:sp>
      <p:sp>
        <p:nvSpPr>
          <p:cNvPr id="12" name="Text 8"/>
          <p:cNvSpPr txBox="1"/>
          <p:nvPr/>
        </p:nvSpPr>
        <p:spPr>
          <a:xfrm>
            <a:off x="6665976" y="2258568"/>
            <a:ext cx="4315968" cy="2862072"/>
          </a:xfrm>
          <a:prstGeom prst="rect">
            <a:avLst/>
          </a:prstGeom>
          <a:noFill/>
          <a:ln/>
        </p:spPr>
        <p:txBody>
          <a:bodyPr wrap="square" lIns="0" tIns="0" rIns="0" bIns="0" rtlCol="0" anchor="t"/>
          <a:lstStyle/>
          <a:p>
            <a:pPr marL="0" indent="0">
              <a:lnSpc>
                <a:spcPct val="118000"/>
              </a:lnSpc>
              <a:spcAft>
                <a:spcPts val="770"/>
              </a:spcAft>
              <a:buNone/>
            </a:pPr>
            <a:r>
              <a:rPr lang="en-US" dirty="0">
                <a:solidFill>
                  <a:srgbClr val="EAF0FF"/>
                </a:solidFill>
                <a:latin typeface="Inter" pitchFamily="34" charset="0"/>
                <a:ea typeface="Inter" pitchFamily="34" charset="-122"/>
                <a:cs typeface="Inter" pitchFamily="34" charset="-120"/>
              </a:rPr>
              <a:t>Start: “Build a beginner-friendly ML workshop.” Step one introduces supervised learning. Reasonable.</a:t>
            </a:r>
            <a:endParaRPr lang="en-US" dirty="0"/>
          </a:p>
          <a:p>
            <a:pPr marL="0" indent="0">
              <a:lnSpc>
                <a:spcPct val="118000"/>
              </a:lnSpc>
              <a:spcAft>
                <a:spcPts val="770"/>
              </a:spcAft>
              <a:buNone/>
            </a:pPr>
            <a:r>
              <a:rPr lang="en-US" dirty="0">
                <a:solidFill>
                  <a:srgbClr val="9FB0D6"/>
                </a:solidFill>
                <a:latin typeface="Inter" pitchFamily="34" charset="0"/>
                <a:ea typeface="Inter" pitchFamily="34" charset="-122"/>
                <a:cs typeface="Inter" pitchFamily="34" charset="-120"/>
              </a:rPr>
              <a:t>Step two adds a note on loss functions. Step three explains gradient descent with calculus. Step four derives backpropagation.</a:t>
            </a:r>
            <a:endParaRPr lang="en-US" dirty="0"/>
          </a:p>
          <a:p>
            <a:pPr marL="0" indent="0">
              <a:lnSpc>
                <a:spcPct val="118000"/>
              </a:lnSpc>
              <a:spcAft>
                <a:spcPts val="770"/>
              </a:spcAft>
              <a:buNone/>
            </a:pPr>
            <a:r>
              <a:rPr lang="en-US" dirty="0">
                <a:solidFill>
                  <a:srgbClr val="EAF0FF"/>
                </a:solidFill>
                <a:latin typeface="Inter" pitchFamily="34" charset="0"/>
                <a:ea typeface="Inter" pitchFamily="34" charset="-122"/>
                <a:cs typeface="Inter" pitchFamily="34" charset="-120"/>
              </a:rPr>
              <a:t>No single step is wrong. The destination is. The word beginner stopped constraining the output paragraphs ago.</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24</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3500" b="1" dirty="0">
                <a:solidFill>
                  <a:srgbClr val="EAF0FF"/>
                </a:solidFill>
                <a:latin typeface="Poppins" pitchFamily="34" charset="0"/>
                <a:ea typeface="Poppins" pitchFamily="34" charset="-122"/>
                <a:cs typeface="Poppins" pitchFamily="34" charset="-120"/>
              </a:rPr>
              <a:t>Put the requirements in the workflow</a:t>
            </a:r>
            <a:endParaRPr lang="en-US" sz="3500" dirty="0"/>
          </a:p>
        </p:txBody>
      </p:sp>
      <p:sp>
        <p:nvSpPr>
          <p:cNvPr id="7" name="Shape 3"/>
          <p:cNvSpPr/>
          <p:nvPr/>
        </p:nvSpPr>
        <p:spPr>
          <a:xfrm>
            <a:off x="868680" y="1600200"/>
            <a:ext cx="4937760" cy="3794760"/>
          </a:xfrm>
          <a:prstGeom prst="roundRect">
            <a:avLst>
              <a:gd name="adj" fmla="val 2410"/>
            </a:avLst>
          </a:prstGeom>
          <a:solidFill>
            <a:srgbClr val="0A1024"/>
          </a:solidFill>
          <a:ln w="12700">
            <a:solidFill>
              <a:srgbClr val="1E2A55"/>
            </a:solidFill>
            <a:prstDash val="solid"/>
          </a:ln>
        </p:spPr>
      </p:sp>
      <p:sp>
        <p:nvSpPr>
          <p:cNvPr id="8" name="Text 4"/>
          <p:cNvSpPr txBox="1"/>
          <p:nvPr/>
        </p:nvSpPr>
        <p:spPr>
          <a:xfrm>
            <a:off x="11795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F5C542"/>
                </a:solidFill>
                <a:latin typeface="Inter" pitchFamily="34" charset="0"/>
                <a:ea typeface="Inter" pitchFamily="34" charset="-122"/>
                <a:cs typeface="Inter" pitchFamily="34" charset="-120"/>
              </a:rPr>
              <a:t>IMPLICIT</a:t>
            </a:r>
            <a:endParaRPr lang="en-US" sz="1550" dirty="0"/>
          </a:p>
        </p:txBody>
      </p:sp>
      <p:sp>
        <p:nvSpPr>
          <p:cNvPr id="9" name="Text 5"/>
          <p:cNvSpPr txBox="1"/>
          <p:nvPr/>
        </p:nvSpPr>
        <p:spPr>
          <a:xfrm>
            <a:off x="1179576" y="2258568"/>
            <a:ext cx="4315968" cy="2862072"/>
          </a:xfrm>
          <a:prstGeom prst="rect">
            <a:avLst/>
          </a:prstGeom>
          <a:noFill/>
          <a:ln/>
        </p:spPr>
        <p:txBody>
          <a:bodyPr wrap="square" lIns="0" tIns="0" rIns="0" bIns="0" rtlCol="0" anchor="t"/>
          <a:lstStyle/>
          <a:p>
            <a:pPr marL="0" indent="0">
              <a:lnSpc>
                <a:spcPct val="118000"/>
              </a:lnSpc>
              <a:spcAft>
                <a:spcPts val="1144"/>
              </a:spcAft>
              <a:buNone/>
            </a:pPr>
            <a:r>
              <a:rPr lang="en-US" sz="1760" dirty="0">
                <a:solidFill>
                  <a:srgbClr val="EAF0FF"/>
                </a:solidFill>
                <a:latin typeface="Inter" pitchFamily="34" charset="0"/>
                <a:ea typeface="Inter" pitchFamily="34" charset="-122"/>
                <a:cs typeface="Inter" pitchFamily="34" charset="-120"/>
              </a:rPr>
              <a:t>“Build a workshop satisfying A, B, C, D, E, F, G and H.”</a:t>
            </a:r>
            <a:endParaRPr lang="en-US" sz="1760" dirty="0"/>
          </a:p>
          <a:p>
            <a:pPr marL="0" indent="0">
              <a:lnSpc>
                <a:spcPct val="118000"/>
              </a:lnSpc>
              <a:spcAft>
                <a:spcPts val="1144"/>
              </a:spcAft>
              <a:buNone/>
            </a:pPr>
            <a:r>
              <a:rPr lang="en-US" sz="1672" dirty="0">
                <a:solidFill>
                  <a:srgbClr val="9FB0D6"/>
                </a:solidFill>
                <a:latin typeface="Inter" pitchFamily="34" charset="0"/>
                <a:ea typeface="Inter" pitchFamily="34" charset="-122"/>
                <a:cs typeface="Inter" pitchFamily="34" charset="-120"/>
              </a:rPr>
              <a:t>Eight constraints, all living inside one sentence. Nothing in the system knows they exist. Nothing checks whether they were met. If two quietly vanish, the output still looks finished.</a:t>
            </a:r>
            <a:endParaRPr lang="en-US" sz="1760" dirty="0"/>
          </a:p>
        </p:txBody>
      </p:sp>
      <p:sp>
        <p:nvSpPr>
          <p:cNvPr id="10" name="Shape 6"/>
          <p:cNvSpPr/>
          <p:nvPr/>
        </p:nvSpPr>
        <p:spPr>
          <a:xfrm>
            <a:off x="6355080" y="1600200"/>
            <a:ext cx="4937760" cy="3794760"/>
          </a:xfrm>
          <a:prstGeom prst="roundRect">
            <a:avLst>
              <a:gd name="adj" fmla="val 2410"/>
            </a:avLst>
          </a:prstGeom>
          <a:solidFill>
            <a:srgbClr val="0A1024"/>
          </a:solidFill>
          <a:ln w="12700">
            <a:solidFill>
              <a:srgbClr val="1E2A55"/>
            </a:solidFill>
            <a:prstDash val="solid"/>
          </a:ln>
        </p:spPr>
      </p:sp>
      <p:sp>
        <p:nvSpPr>
          <p:cNvPr id="11" name="Text 7"/>
          <p:cNvSpPr txBox="1"/>
          <p:nvPr/>
        </p:nvSpPr>
        <p:spPr>
          <a:xfrm>
            <a:off x="66659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3FD0E6"/>
                </a:solidFill>
                <a:latin typeface="Inter" pitchFamily="34" charset="0"/>
                <a:ea typeface="Inter" pitchFamily="34" charset="-122"/>
                <a:cs typeface="Inter" pitchFamily="34" charset="-120"/>
              </a:rPr>
              <a:t>EXPLICIT</a:t>
            </a:r>
            <a:endParaRPr lang="en-US" sz="1550" dirty="0"/>
          </a:p>
        </p:txBody>
      </p:sp>
      <p:sp>
        <p:nvSpPr>
          <p:cNvPr id="12" name="Text 8"/>
          <p:cNvSpPr txBox="1"/>
          <p:nvPr/>
        </p:nvSpPr>
        <p:spPr>
          <a:xfrm>
            <a:off x="6665976" y="2258568"/>
            <a:ext cx="4315968" cy="2862072"/>
          </a:xfrm>
          <a:prstGeom prst="rect">
            <a:avLst/>
          </a:prstGeom>
          <a:noFill/>
          <a:ln/>
        </p:spPr>
        <p:txBody>
          <a:bodyPr wrap="square" lIns="0" tIns="0" rIns="0" bIns="0" rtlCol="0" anchor="t"/>
          <a:lstStyle/>
          <a:p>
            <a:pPr marL="0" indent="0">
              <a:lnSpc>
                <a:spcPct val="118000"/>
              </a:lnSpc>
              <a:spcAft>
                <a:spcPts val="1027"/>
              </a:spcAft>
              <a:buNone/>
            </a:pPr>
            <a:r>
              <a:rPr lang="en-US" sz="1501" dirty="0">
                <a:solidFill>
                  <a:srgbClr val="EAF0FF"/>
                </a:solidFill>
                <a:latin typeface="Inter" pitchFamily="34" charset="0"/>
                <a:ea typeface="Inter" pitchFamily="34" charset="-122"/>
                <a:cs typeface="Inter" pitchFamily="34" charset="-120"/>
              </a:rPr>
              <a:t>1. Define beginner objectives. 2. Select introductory concepts. 3. Create simple examples. 4. Design the hands-on activity. 5. Create the quiz. 6. Check the result against the requirements.</a:t>
            </a:r>
            <a:endParaRPr lang="en-US" sz="1501" dirty="0"/>
          </a:p>
          <a:p>
            <a:pPr marL="0" indent="0">
              <a:lnSpc>
                <a:spcPct val="118000"/>
              </a:lnSpc>
              <a:spcAft>
                <a:spcPts val="1027"/>
              </a:spcAft>
              <a:buNone/>
            </a:pPr>
            <a:r>
              <a:rPr lang="en-US" sz="1501" dirty="0">
                <a:solidFill>
                  <a:srgbClr val="9FB0D6"/>
                </a:solidFill>
                <a:latin typeface="Inter" pitchFamily="34" charset="0"/>
                <a:ea typeface="Inter" pitchFamily="34" charset="-122"/>
                <a:cs typeface="Inter" pitchFamily="34" charset="-120"/>
              </a:rPr>
              <a:t>Now the requirements are represented in the workflow itself, and step six exists purely to catch what the earlier steps dropped.</a:t>
            </a:r>
            <a:endParaRPr lang="en-US" sz="1501" dirty="0"/>
          </a:p>
        </p:txBody>
      </p:sp>
      <p:sp>
        <p:nvSpPr>
          <p:cNvPr id="13" name="Text 9"/>
          <p:cNvSpPr txBox="1"/>
          <p:nvPr/>
        </p:nvSpPr>
        <p:spPr>
          <a:xfrm>
            <a:off x="868680" y="5486400"/>
            <a:ext cx="10424160" cy="658368"/>
          </a:xfrm>
          <a:prstGeom prst="rect">
            <a:avLst/>
          </a:prstGeom>
          <a:noFill/>
          <a:ln/>
        </p:spPr>
        <p:txBody>
          <a:bodyPr wrap="square" lIns="0" tIns="0" rIns="0" bIns="0" rtlCol="0" anchor="ctr"/>
          <a:lstStyle/>
          <a:p>
            <a:pPr marL="0" indent="0">
              <a:buNone/>
            </a:pPr>
            <a:r>
              <a:rPr lang="en-US" sz="2200" dirty="0">
                <a:solidFill>
                  <a:srgbClr val="9FB0D6"/>
                </a:solidFill>
                <a:latin typeface="Inter" pitchFamily="34" charset="0"/>
                <a:ea typeface="Inter" pitchFamily="34" charset="-122"/>
                <a:cs typeface="Inter" pitchFamily="34" charset="-120"/>
              </a:rPr>
              <a:t>A requirement in a sentence is a hope. A requirement as a step is testable.</a:t>
            </a:r>
            <a:endParaRPr 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25</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4300" b="1" dirty="0">
                <a:solidFill>
                  <a:srgbClr val="EAF0FF"/>
                </a:solidFill>
                <a:latin typeface="Poppins" pitchFamily="34" charset="0"/>
                <a:ea typeface="Poppins" pitchFamily="34" charset="-122"/>
                <a:cs typeface="Poppins" pitchFamily="34" charset="-120"/>
              </a:rPr>
              <a:t>What decomposition buys</a:t>
            </a:r>
            <a:endParaRPr lang="en-US" sz="4300" dirty="0"/>
          </a:p>
        </p:txBody>
      </p:sp>
      <p:sp>
        <p:nvSpPr>
          <p:cNvPr id="7" name="Shape 3"/>
          <p:cNvSpPr/>
          <p:nvPr/>
        </p:nvSpPr>
        <p:spPr>
          <a:xfrm>
            <a:off x="868680" y="1600200"/>
            <a:ext cx="3200400" cy="3794760"/>
          </a:xfrm>
          <a:prstGeom prst="roundRect">
            <a:avLst>
              <a:gd name="adj" fmla="val 2857"/>
            </a:avLst>
          </a:prstGeom>
          <a:solidFill>
            <a:srgbClr val="0A1024"/>
          </a:solidFill>
          <a:ln w="12700">
            <a:solidFill>
              <a:srgbClr val="1E2A55"/>
            </a:solidFill>
            <a:prstDash val="solid"/>
          </a:ln>
        </p:spPr>
      </p:sp>
      <p:sp>
        <p:nvSpPr>
          <p:cNvPr id="8" name="Text 4"/>
          <p:cNvSpPr txBox="1"/>
          <p:nvPr/>
        </p:nvSpPr>
        <p:spPr>
          <a:xfrm>
            <a:off x="1143000" y="1856232"/>
            <a:ext cx="2651760" cy="402336"/>
          </a:xfrm>
          <a:prstGeom prst="rect">
            <a:avLst/>
          </a:prstGeom>
          <a:noFill/>
          <a:ln/>
        </p:spPr>
        <p:txBody>
          <a:bodyPr wrap="square" lIns="0" tIns="0" rIns="0" bIns="0" rtlCol="0" anchor="ctr"/>
          <a:lstStyle/>
          <a:p>
            <a:pPr marL="0" indent="0">
              <a:buNone/>
            </a:pPr>
            <a:r>
              <a:rPr lang="en-US" sz="1600" b="1" kern="0" spc="200" dirty="0">
                <a:solidFill>
                  <a:srgbClr val="3FD0E6"/>
                </a:solidFill>
                <a:latin typeface="Inter" pitchFamily="34" charset="0"/>
                <a:ea typeface="Inter" pitchFamily="34" charset="-122"/>
                <a:cs typeface="Inter" pitchFamily="34" charset="-120"/>
              </a:rPr>
              <a:t>CHECKPOINTS</a:t>
            </a:r>
            <a:endParaRPr lang="en-US" sz="1600" dirty="0"/>
          </a:p>
        </p:txBody>
      </p:sp>
      <p:sp>
        <p:nvSpPr>
          <p:cNvPr id="9" name="Text 5"/>
          <p:cNvSpPr txBox="1"/>
          <p:nvPr/>
        </p:nvSpPr>
        <p:spPr>
          <a:xfrm>
            <a:off x="1143000" y="2313432"/>
            <a:ext cx="2651760" cy="2834640"/>
          </a:xfrm>
          <a:prstGeom prst="rect">
            <a:avLst/>
          </a:prstGeom>
          <a:noFill/>
          <a:ln/>
        </p:spPr>
        <p:txBody>
          <a:bodyPr wrap="square" lIns="0" tIns="0" rIns="0" bIns="0" rtlCol="0" anchor="t"/>
          <a:lstStyle/>
          <a:p>
            <a:pPr marL="0" indent="0">
              <a:lnSpc>
                <a:spcPct val="120000"/>
              </a:lnSpc>
              <a:buNone/>
            </a:pPr>
            <a:r>
              <a:rPr lang="en-US" sz="1638" dirty="0">
                <a:solidFill>
                  <a:srgbClr val="EAF0FF"/>
                </a:solidFill>
                <a:latin typeface="Inter" pitchFamily="34" charset="0"/>
                <a:ea typeface="Inter" pitchFamily="34" charset="-122"/>
                <a:cs typeface="Inter" pitchFamily="34" charset="-120"/>
              </a:rPr>
              <a:t>A monolith gives you one thing to inspect and no way to localise a fault. Steps tell you that step three failed, so you fix step three, re-run from there, and keep the work steps one and two already did.</a:t>
            </a:r>
            <a:endParaRPr lang="en-US" sz="1638" dirty="0"/>
          </a:p>
        </p:txBody>
      </p:sp>
      <p:sp>
        <p:nvSpPr>
          <p:cNvPr id="10" name="Shape 6"/>
          <p:cNvSpPr/>
          <p:nvPr/>
        </p:nvSpPr>
        <p:spPr>
          <a:xfrm>
            <a:off x="4434840" y="1600200"/>
            <a:ext cx="3200400" cy="3794760"/>
          </a:xfrm>
          <a:prstGeom prst="roundRect">
            <a:avLst>
              <a:gd name="adj" fmla="val 2857"/>
            </a:avLst>
          </a:prstGeom>
          <a:solidFill>
            <a:srgbClr val="0A1024"/>
          </a:solidFill>
          <a:ln w="12700">
            <a:solidFill>
              <a:srgbClr val="1E2A55"/>
            </a:solidFill>
            <a:prstDash val="solid"/>
          </a:ln>
        </p:spPr>
      </p:sp>
      <p:sp>
        <p:nvSpPr>
          <p:cNvPr id="11" name="Text 7"/>
          <p:cNvSpPr txBox="1"/>
          <p:nvPr/>
        </p:nvSpPr>
        <p:spPr>
          <a:xfrm>
            <a:off x="4709160" y="1856232"/>
            <a:ext cx="2651760" cy="402336"/>
          </a:xfrm>
          <a:prstGeom prst="rect">
            <a:avLst/>
          </a:prstGeom>
          <a:noFill/>
          <a:ln/>
        </p:spPr>
        <p:txBody>
          <a:bodyPr wrap="square" lIns="0" tIns="0" rIns="0" bIns="0" rtlCol="0" anchor="ctr"/>
          <a:lstStyle/>
          <a:p>
            <a:pPr marL="0" indent="0">
              <a:buNone/>
            </a:pPr>
            <a:r>
              <a:rPr lang="en-US" sz="1600" b="1" kern="0" spc="200" dirty="0">
                <a:solidFill>
                  <a:srgbClr val="3FD0E6"/>
                </a:solidFill>
                <a:latin typeface="Inter" pitchFamily="34" charset="0"/>
                <a:ea typeface="Inter" pitchFamily="34" charset="-122"/>
                <a:cs typeface="Inter" pitchFamily="34" charset="-120"/>
              </a:rPr>
              <a:t>VERIFICATION</a:t>
            </a:r>
            <a:endParaRPr lang="en-US" sz="1600" dirty="0"/>
          </a:p>
        </p:txBody>
      </p:sp>
      <p:sp>
        <p:nvSpPr>
          <p:cNvPr id="12" name="Text 8"/>
          <p:cNvSpPr txBox="1"/>
          <p:nvPr/>
        </p:nvSpPr>
        <p:spPr>
          <a:xfrm>
            <a:off x="4709160" y="2313432"/>
            <a:ext cx="2651760" cy="2834640"/>
          </a:xfrm>
          <a:prstGeom prst="rect">
            <a:avLst/>
          </a:prstGeom>
          <a:noFill/>
          <a:ln/>
        </p:spPr>
        <p:txBody>
          <a:bodyPr wrap="square" lIns="0" tIns="0" rIns="0" bIns="0" rtlCol="0" anchor="t"/>
          <a:lstStyle/>
          <a:p>
            <a:pPr marL="0" indent="0">
              <a:lnSpc>
                <a:spcPct val="120000"/>
              </a:lnSpc>
              <a:buNone/>
            </a:pPr>
            <a:r>
              <a:rPr lang="en-US" sz="1530" dirty="0">
                <a:solidFill>
                  <a:srgbClr val="EAF0FF"/>
                </a:solidFill>
                <a:latin typeface="Inter" pitchFamily="34" charset="0"/>
                <a:ea typeface="Inter" pitchFamily="34" charset="-122"/>
                <a:cs typeface="Inter" pitchFamily="34" charset="-120"/>
              </a:rPr>
              <a:t>A report from five papers becomes: did we find five, extract each methodology, compare them, write it up, and are the citations real? Four stages passed. The citations were invented, and you know before the user does.</a:t>
            </a:r>
            <a:endParaRPr lang="en-US" sz="1530" dirty="0"/>
          </a:p>
        </p:txBody>
      </p:sp>
      <p:sp>
        <p:nvSpPr>
          <p:cNvPr id="13" name="Shape 9"/>
          <p:cNvSpPr/>
          <p:nvPr/>
        </p:nvSpPr>
        <p:spPr>
          <a:xfrm>
            <a:off x="8001000" y="1600200"/>
            <a:ext cx="3200400" cy="3794760"/>
          </a:xfrm>
          <a:prstGeom prst="roundRect">
            <a:avLst>
              <a:gd name="adj" fmla="val 2857"/>
            </a:avLst>
          </a:prstGeom>
          <a:solidFill>
            <a:srgbClr val="16123A"/>
          </a:solidFill>
          <a:ln w="12700">
            <a:solidFill>
              <a:srgbClr val="4B3E9E"/>
            </a:solidFill>
            <a:prstDash val="solid"/>
          </a:ln>
        </p:spPr>
      </p:sp>
      <p:sp>
        <p:nvSpPr>
          <p:cNvPr id="14" name="Text 10"/>
          <p:cNvSpPr txBox="1"/>
          <p:nvPr/>
        </p:nvSpPr>
        <p:spPr>
          <a:xfrm>
            <a:off x="8275320" y="1856232"/>
            <a:ext cx="2651760" cy="402336"/>
          </a:xfrm>
          <a:prstGeom prst="rect">
            <a:avLst/>
          </a:prstGeom>
          <a:noFill/>
          <a:ln/>
        </p:spPr>
        <p:txBody>
          <a:bodyPr wrap="square" lIns="0" tIns="0" rIns="0" bIns="0" rtlCol="0" anchor="ctr"/>
          <a:lstStyle/>
          <a:p>
            <a:pPr marL="0" indent="0">
              <a:buNone/>
            </a:pPr>
            <a:r>
              <a:rPr lang="en-US" sz="1600" b="1" kern="0" spc="200" dirty="0">
                <a:solidFill>
                  <a:srgbClr val="F5C542"/>
                </a:solidFill>
                <a:latin typeface="Inter" pitchFamily="34" charset="0"/>
                <a:ea typeface="Inter" pitchFamily="34" charset="-122"/>
                <a:cs typeface="Inter" pitchFamily="34" charset="-120"/>
              </a:rPr>
              <a:t>PARALLELISM</a:t>
            </a:r>
            <a:endParaRPr lang="en-US" sz="1600" dirty="0"/>
          </a:p>
        </p:txBody>
      </p:sp>
      <p:sp>
        <p:nvSpPr>
          <p:cNvPr id="15" name="Text 11"/>
          <p:cNvSpPr txBox="1"/>
          <p:nvPr/>
        </p:nvSpPr>
        <p:spPr>
          <a:xfrm>
            <a:off x="8275320" y="2313432"/>
            <a:ext cx="2651760" cy="2834640"/>
          </a:xfrm>
          <a:prstGeom prst="rect">
            <a:avLst/>
          </a:prstGeom>
          <a:noFill/>
          <a:ln/>
        </p:spPr>
        <p:txBody>
          <a:bodyPr wrap="square" lIns="0" tIns="0" rIns="0" bIns="0" rtlCol="0" anchor="t"/>
          <a:lstStyle/>
          <a:p>
            <a:pPr marL="0" indent="0">
              <a:lnSpc>
                <a:spcPct val="120000"/>
              </a:lnSpc>
              <a:buNone/>
            </a:pPr>
            <a:r>
              <a:rPr lang="en-US" sz="1800" dirty="0">
                <a:solidFill>
                  <a:srgbClr val="EAF0FF"/>
                </a:solidFill>
                <a:latin typeface="Inter" pitchFamily="34" charset="0"/>
                <a:ea typeface="Inter" pitchFamily="34" charset="-122"/>
                <a:cs typeface="Inter" pitchFamily="34" charset="-120"/>
              </a:rPr>
              <a:t>Research A, B and C have no dependencies between them, so fire them together and merge. You can only parallelise what you can see, and a monolith has no seams.</a:t>
            </a:r>
            <a:endParaRPr lang="en-US" sz="1800" dirty="0"/>
          </a:p>
        </p:txBody>
      </p:sp>
      <p:sp>
        <p:nvSpPr>
          <p:cNvPr id="16" name="Text 12"/>
          <p:cNvSpPr txBox="1"/>
          <p:nvPr/>
        </p:nvSpPr>
        <p:spPr>
          <a:xfrm>
            <a:off x="868680" y="5486400"/>
            <a:ext cx="10424160" cy="658368"/>
          </a:xfrm>
          <a:prstGeom prst="rect">
            <a:avLst/>
          </a:prstGeom>
          <a:noFill/>
          <a:ln/>
        </p:spPr>
        <p:txBody>
          <a:bodyPr wrap="square" lIns="0" tIns="0" rIns="0" bIns="0" rtlCol="0" anchor="ctr"/>
          <a:lstStyle/>
          <a:p>
            <a:pPr marL="0" indent="0">
              <a:buNone/>
            </a:pPr>
            <a:r>
              <a:rPr lang="en-US" sz="2200" dirty="0">
                <a:solidFill>
                  <a:srgbClr val="9FB0D6"/>
                </a:solidFill>
                <a:latin typeface="Inter" pitchFamily="34" charset="0"/>
                <a:ea typeface="Inter" pitchFamily="34" charset="-122"/>
                <a:cs typeface="Inter" pitchFamily="34" charset="-120"/>
              </a:rPr>
              <a:t>None of this makes the model smarter. It makes the work visible.</a:t>
            </a:r>
            <a:endParaRPr lang="en-US" sz="2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26</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4300" b="1" dirty="0">
                <a:solidFill>
                  <a:srgbClr val="EAF0FF"/>
                </a:solidFill>
                <a:latin typeface="Poppins" pitchFamily="34" charset="0"/>
                <a:ea typeface="Poppins" pitchFamily="34" charset="-122"/>
                <a:cs typeface="Poppins" pitchFamily="34" charset="-120"/>
              </a:rPr>
              <a:t>The planner is one model call</a:t>
            </a:r>
            <a:endParaRPr lang="en-US" sz="4300" dirty="0"/>
          </a:p>
        </p:txBody>
      </p:sp>
      <p:sp>
        <p:nvSpPr>
          <p:cNvPr id="7" name="Shape 3"/>
          <p:cNvSpPr/>
          <p:nvPr/>
        </p:nvSpPr>
        <p:spPr>
          <a:xfrm>
            <a:off x="868680" y="1600200"/>
            <a:ext cx="4937760" cy="3794760"/>
          </a:xfrm>
          <a:prstGeom prst="roundRect">
            <a:avLst>
              <a:gd name="adj" fmla="val 2410"/>
            </a:avLst>
          </a:prstGeom>
          <a:solidFill>
            <a:srgbClr val="0A1024"/>
          </a:solidFill>
          <a:ln w="12700">
            <a:solidFill>
              <a:srgbClr val="1E2A55"/>
            </a:solidFill>
            <a:prstDash val="solid"/>
          </a:ln>
        </p:spPr>
      </p:sp>
      <p:sp>
        <p:nvSpPr>
          <p:cNvPr id="8" name="Text 4"/>
          <p:cNvSpPr txBox="1"/>
          <p:nvPr/>
        </p:nvSpPr>
        <p:spPr>
          <a:xfrm>
            <a:off x="11795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3FD0E6"/>
                </a:solidFill>
                <a:latin typeface="Inter" pitchFamily="34" charset="0"/>
                <a:ea typeface="Inter" pitchFamily="34" charset="-122"/>
                <a:cs typeface="Inter" pitchFamily="34" charset="-120"/>
              </a:rPr>
              <a:t>WHAT THE FUNCTION DOES</a:t>
            </a:r>
            <a:endParaRPr lang="en-US" sz="1550" dirty="0"/>
          </a:p>
        </p:txBody>
      </p:sp>
      <p:sp>
        <p:nvSpPr>
          <p:cNvPr id="9" name="Text 5"/>
          <p:cNvSpPr txBox="1"/>
          <p:nvPr/>
        </p:nvSpPr>
        <p:spPr>
          <a:xfrm>
            <a:off x="1179576" y="2258568"/>
            <a:ext cx="4315968" cy="2862072"/>
          </a:xfrm>
          <a:prstGeom prst="rect">
            <a:avLst/>
          </a:prstGeom>
          <a:noFill/>
          <a:ln/>
        </p:spPr>
        <p:txBody>
          <a:bodyPr wrap="square" lIns="0" tIns="0" rIns="0" bIns="0" rtlCol="0" anchor="t"/>
          <a:lstStyle/>
          <a:p>
            <a:pPr marL="0" indent="0">
              <a:lnSpc>
                <a:spcPct val="118000"/>
              </a:lnSpc>
              <a:spcAft>
                <a:spcPts val="680"/>
              </a:spcAft>
              <a:buNone/>
            </a:pPr>
            <a:r>
              <a:rPr lang="en-US" sz="1292" dirty="0">
                <a:solidFill>
                  <a:srgbClr val="EAF0FF"/>
                </a:solidFill>
                <a:latin typeface="Inter" pitchFamily="34" charset="0"/>
                <a:ea typeface="Inter" pitchFamily="34" charset="-122"/>
                <a:cs typeface="Inter" pitchFamily="34" charset="-120"/>
              </a:rPr>
              <a:t>It takes the task as a string and builds a prompt around it: decompose this into four to six clear, sequential steps. Then it sends that to the same client and model you have used all session.</a:t>
            </a:r>
            <a:endParaRPr lang="en-US" sz="1360" dirty="0"/>
          </a:p>
          <a:p>
            <a:pPr marL="0" indent="0">
              <a:lnSpc>
                <a:spcPct val="118000"/>
              </a:lnSpc>
              <a:spcAft>
                <a:spcPts val="680"/>
              </a:spcAft>
              <a:buNone/>
            </a:pPr>
            <a:r>
              <a:rPr lang="en-US" sz="1292" dirty="0">
                <a:solidFill>
                  <a:srgbClr val="9FB0D6"/>
                </a:solidFill>
                <a:latin typeface="Inter" pitchFamily="34" charset="0"/>
                <a:ea typeface="Inter" pitchFamily="34" charset="-122"/>
                <a:cs typeface="Inter" pitchFamily="34" charset="-120"/>
              </a:rPr>
              <a:t>The text that comes back is the plan. Prepare a machine learning workshop becomes: define objectives, select concepts, create a schedule, prepare exercises.</a:t>
            </a:r>
            <a:endParaRPr lang="en-US" sz="1360" dirty="0"/>
          </a:p>
          <a:p>
            <a:pPr marL="0" indent="0">
              <a:lnSpc>
                <a:spcPct val="118000"/>
              </a:lnSpc>
              <a:spcAft>
                <a:spcPts val="680"/>
              </a:spcAft>
              <a:buNone/>
            </a:pPr>
            <a:r>
              <a:rPr lang="en-US" sz="1292" dirty="0">
                <a:solidFill>
                  <a:srgbClr val="EAF0FF"/>
                </a:solidFill>
                <a:latin typeface="Inter" pitchFamily="34" charset="0"/>
                <a:ea typeface="Inter" pitchFamily="34" charset="-122"/>
                <a:cs typeface="Inter" pitchFamily="34" charset="-120"/>
              </a:rPr>
              <a:t>No new machinery. Answering a question and making a plan are the same function with different prompts.</a:t>
            </a:r>
            <a:endParaRPr lang="en-US" sz="1360" dirty="0"/>
          </a:p>
        </p:txBody>
      </p:sp>
      <p:sp>
        <p:nvSpPr>
          <p:cNvPr id="10" name="Shape 6"/>
          <p:cNvSpPr/>
          <p:nvPr/>
        </p:nvSpPr>
        <p:spPr>
          <a:xfrm>
            <a:off x="6355080" y="1600200"/>
            <a:ext cx="4937760" cy="3794760"/>
          </a:xfrm>
          <a:prstGeom prst="roundRect">
            <a:avLst>
              <a:gd name="adj" fmla="val 2410"/>
            </a:avLst>
          </a:prstGeom>
          <a:solidFill>
            <a:srgbClr val="0A1024"/>
          </a:solidFill>
          <a:ln w="12700">
            <a:solidFill>
              <a:srgbClr val="1E2A55"/>
            </a:solidFill>
            <a:prstDash val="solid"/>
          </a:ln>
        </p:spPr>
      </p:sp>
      <p:sp>
        <p:nvSpPr>
          <p:cNvPr id="11" name="Text 7"/>
          <p:cNvSpPr txBox="1"/>
          <p:nvPr/>
        </p:nvSpPr>
        <p:spPr>
          <a:xfrm>
            <a:off x="66659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F5C542"/>
                </a:solidFill>
                <a:latin typeface="Inter" pitchFamily="34" charset="0"/>
                <a:ea typeface="Inter" pitchFamily="34" charset="-122"/>
                <a:cs typeface="Inter" pitchFamily="34" charset="-120"/>
              </a:rPr>
              <a:t>BUT A PLAN IS ONLY A PROPOSAL</a:t>
            </a:r>
            <a:endParaRPr lang="en-US" sz="1550" dirty="0"/>
          </a:p>
        </p:txBody>
      </p:sp>
      <p:sp>
        <p:nvSpPr>
          <p:cNvPr id="12" name="Text 8"/>
          <p:cNvSpPr txBox="1"/>
          <p:nvPr/>
        </p:nvSpPr>
        <p:spPr>
          <a:xfrm>
            <a:off x="6665976" y="2258568"/>
            <a:ext cx="4315968" cy="2862072"/>
          </a:xfrm>
          <a:prstGeom prst="rect">
            <a:avLst/>
          </a:prstGeom>
          <a:noFill/>
          <a:ln/>
        </p:spPr>
        <p:txBody>
          <a:bodyPr wrap="square" lIns="0" tIns="0" rIns="0" bIns="0" rtlCol="0" anchor="t"/>
          <a:lstStyle/>
          <a:p>
            <a:pPr marL="0" indent="0">
              <a:lnSpc>
                <a:spcPct val="118000"/>
              </a:lnSpc>
              <a:spcAft>
                <a:spcPts val="680"/>
              </a:spcAft>
              <a:buNone/>
            </a:pPr>
            <a:r>
              <a:rPr lang="en-US" sz="1292" dirty="0">
                <a:solidFill>
                  <a:srgbClr val="EAF0FF"/>
                </a:solidFill>
                <a:latin typeface="Inter" pitchFamily="34" charset="0"/>
                <a:ea typeface="Inter" pitchFamily="34" charset="-122"/>
                <a:cs typeface="Inter" pitchFamily="34" charset="-120"/>
              </a:rPr>
              <a:t>Nothing guarantees that every step is necessary, that every step is executable, that the dependencies or the order are right, that the plan is optimal, or that it will succeed.</a:t>
            </a:r>
            <a:endParaRPr lang="en-US" sz="1360" dirty="0"/>
          </a:p>
          <a:p>
            <a:pPr marL="0" indent="0">
              <a:lnSpc>
                <a:spcPct val="118000"/>
              </a:lnSpc>
              <a:spcAft>
                <a:spcPts val="680"/>
              </a:spcAft>
              <a:buNone/>
            </a:pPr>
            <a:r>
              <a:rPr lang="en-US" sz="1292" dirty="0">
                <a:solidFill>
                  <a:srgbClr val="9FB0D6"/>
                </a:solidFill>
                <a:latin typeface="Inter" pitchFamily="34" charset="0"/>
                <a:ea typeface="Inter" pitchFamily="34" charset="-122"/>
                <a:cs typeface="Inter" pitchFamily="34" charset="-120"/>
              </a:rPr>
              <a:t>You have a sequence of sentences that looks like a plan, because that is what plans look like in the training data.</a:t>
            </a:r>
            <a:endParaRPr lang="en-US" sz="1360" dirty="0"/>
          </a:p>
          <a:p>
            <a:pPr marL="0" indent="0">
              <a:lnSpc>
                <a:spcPct val="118000"/>
              </a:lnSpc>
              <a:spcAft>
                <a:spcPts val="680"/>
              </a:spcAft>
              <a:buNone/>
            </a:pPr>
            <a:r>
              <a:rPr lang="en-US" sz="1292" dirty="0">
                <a:solidFill>
                  <a:srgbClr val="F5C542"/>
                </a:solidFill>
                <a:latin typeface="Inter" pitchFamily="34" charset="0"/>
                <a:ea typeface="Inter" pitchFamily="34" charset="-122"/>
                <a:cs typeface="Inter" pitchFamily="34" charset="-120"/>
              </a:rPr>
              <a:t>A proposed control structure, not a proof that it works. Which is exactly why execution, verification and replanning exist.</a:t>
            </a:r>
            <a:endParaRPr lang="en-US" sz="136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27</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4300" b="1" dirty="0">
                <a:solidFill>
                  <a:srgbClr val="EAF0FF"/>
                </a:solidFill>
                <a:latin typeface="Poppins" pitchFamily="34" charset="0"/>
                <a:ea typeface="Poppins" pitchFamily="34" charset="-122"/>
                <a:cs typeface="Poppins" pitchFamily="34" charset="-120"/>
              </a:rPr>
              <a:t>Static vs dynamic plans</a:t>
            </a:r>
            <a:endParaRPr lang="en-US" sz="4300" dirty="0"/>
          </a:p>
        </p:txBody>
      </p:sp>
      <p:sp>
        <p:nvSpPr>
          <p:cNvPr id="7" name="Shape 3"/>
          <p:cNvSpPr/>
          <p:nvPr/>
        </p:nvSpPr>
        <p:spPr>
          <a:xfrm>
            <a:off x="868680" y="1600200"/>
            <a:ext cx="4937760" cy="3794760"/>
          </a:xfrm>
          <a:prstGeom prst="roundRect">
            <a:avLst>
              <a:gd name="adj" fmla="val 2410"/>
            </a:avLst>
          </a:prstGeom>
          <a:solidFill>
            <a:srgbClr val="0A1024"/>
          </a:solidFill>
          <a:ln w="12700">
            <a:solidFill>
              <a:srgbClr val="1E2A55"/>
            </a:solidFill>
            <a:prstDash val="solid"/>
          </a:ln>
        </p:spPr>
      </p:sp>
      <p:sp>
        <p:nvSpPr>
          <p:cNvPr id="8" name="Text 4"/>
          <p:cNvSpPr txBox="1"/>
          <p:nvPr/>
        </p:nvSpPr>
        <p:spPr>
          <a:xfrm>
            <a:off x="11795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3FD0E6"/>
                </a:solidFill>
                <a:latin typeface="Inter" pitchFamily="34" charset="0"/>
                <a:ea typeface="Inter" pitchFamily="34" charset="-122"/>
                <a:cs typeface="Inter" pitchFamily="34" charset="-120"/>
              </a:rPr>
              <a:t>STATIC</a:t>
            </a:r>
            <a:endParaRPr lang="en-US" sz="1550" dirty="0"/>
          </a:p>
        </p:txBody>
      </p:sp>
      <p:sp>
        <p:nvSpPr>
          <p:cNvPr id="9" name="Text 5"/>
          <p:cNvSpPr txBox="1"/>
          <p:nvPr/>
        </p:nvSpPr>
        <p:spPr>
          <a:xfrm>
            <a:off x="1179576" y="2258568"/>
            <a:ext cx="4315968" cy="2862072"/>
          </a:xfrm>
          <a:prstGeom prst="rect">
            <a:avLst/>
          </a:prstGeom>
          <a:noFill/>
          <a:ln/>
        </p:spPr>
        <p:txBody>
          <a:bodyPr wrap="square" lIns="0" tIns="0" rIns="0" bIns="0" rtlCol="0" anchor="t"/>
          <a:lstStyle/>
          <a:p>
            <a:pPr marL="0" indent="0">
              <a:lnSpc>
                <a:spcPct val="118000"/>
              </a:lnSpc>
              <a:spcAft>
                <a:spcPts val="1105"/>
              </a:spcAft>
              <a:buNone/>
            </a:pPr>
            <a:r>
              <a:rPr lang="en-US" sz="1700" dirty="0">
                <a:solidFill>
                  <a:srgbClr val="EAF0FF"/>
                </a:solidFill>
                <a:latin typeface="Inter" pitchFamily="34" charset="0"/>
                <a:ea typeface="Inter" pitchFamily="34" charset="-122"/>
                <a:cs typeface="Inter" pitchFamily="34" charset="-120"/>
              </a:rPr>
              <a:t>Generated once, then followed to the end. Plan, step one, step two, step three.</a:t>
            </a:r>
            <a:endParaRPr lang="en-US" sz="1700" dirty="0"/>
          </a:p>
          <a:p>
            <a:pPr marL="0" indent="0">
              <a:lnSpc>
                <a:spcPct val="118000"/>
              </a:lnSpc>
              <a:spcAft>
                <a:spcPts val="1105"/>
              </a:spcAft>
              <a:buNone/>
            </a:pPr>
            <a:r>
              <a:rPr lang="en-US" sz="1615" dirty="0">
                <a:solidFill>
                  <a:srgbClr val="9FB0D6"/>
                </a:solidFill>
                <a:latin typeface="Inter" pitchFamily="34" charset="0"/>
                <a:ea typeface="Inter" pitchFamily="34" charset="-122"/>
                <a:cs typeface="Inter" pitchFamily="34" charset="-120"/>
              </a:rPr>
              <a:t>Predictable and auditable. You can read the whole plan before anything runs, and change it.</a:t>
            </a:r>
            <a:endParaRPr lang="en-US" sz="1700" dirty="0"/>
          </a:p>
          <a:p>
            <a:pPr marL="0" indent="0">
              <a:lnSpc>
                <a:spcPct val="118000"/>
              </a:lnSpc>
              <a:spcAft>
                <a:spcPts val="1105"/>
              </a:spcAft>
              <a:buNone/>
            </a:pPr>
            <a:r>
              <a:rPr lang="en-US" sz="1700" dirty="0">
                <a:solidFill>
                  <a:srgbClr val="F5C542"/>
                </a:solidFill>
                <a:latin typeface="Inter" pitchFamily="34" charset="0"/>
                <a:ea typeface="Inter" pitchFamily="34" charset="-122"/>
                <a:cs typeface="Inter" pitchFamily="34" charset="-120"/>
              </a:rPr>
              <a:t>Brittle the moment reality disagrees.</a:t>
            </a:r>
            <a:endParaRPr lang="en-US" sz="1700" dirty="0"/>
          </a:p>
        </p:txBody>
      </p:sp>
      <p:sp>
        <p:nvSpPr>
          <p:cNvPr id="10" name="Shape 6"/>
          <p:cNvSpPr/>
          <p:nvPr/>
        </p:nvSpPr>
        <p:spPr>
          <a:xfrm>
            <a:off x="6355080" y="1600200"/>
            <a:ext cx="4937760" cy="3794760"/>
          </a:xfrm>
          <a:prstGeom prst="roundRect">
            <a:avLst>
              <a:gd name="adj" fmla="val 2410"/>
            </a:avLst>
          </a:prstGeom>
          <a:solidFill>
            <a:srgbClr val="0A1024"/>
          </a:solidFill>
          <a:ln w="12700">
            <a:solidFill>
              <a:srgbClr val="1E2A55"/>
            </a:solidFill>
            <a:prstDash val="solid"/>
          </a:ln>
        </p:spPr>
      </p:sp>
      <p:sp>
        <p:nvSpPr>
          <p:cNvPr id="11" name="Text 7"/>
          <p:cNvSpPr txBox="1"/>
          <p:nvPr/>
        </p:nvSpPr>
        <p:spPr>
          <a:xfrm>
            <a:off x="66659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F5C542"/>
                </a:solidFill>
                <a:latin typeface="Inter" pitchFamily="34" charset="0"/>
                <a:ea typeface="Inter" pitchFamily="34" charset="-122"/>
                <a:cs typeface="Inter" pitchFamily="34" charset="-120"/>
              </a:rPr>
              <a:t>DYNAMIC</a:t>
            </a:r>
            <a:endParaRPr lang="en-US" sz="1550" dirty="0"/>
          </a:p>
        </p:txBody>
      </p:sp>
      <p:sp>
        <p:nvSpPr>
          <p:cNvPr id="12" name="Text 8"/>
          <p:cNvSpPr txBox="1"/>
          <p:nvPr/>
        </p:nvSpPr>
        <p:spPr>
          <a:xfrm>
            <a:off x="6665976" y="2258568"/>
            <a:ext cx="4315968" cy="2862072"/>
          </a:xfrm>
          <a:prstGeom prst="rect">
            <a:avLst/>
          </a:prstGeom>
          <a:noFill/>
          <a:ln/>
        </p:spPr>
        <p:txBody>
          <a:bodyPr wrap="square" lIns="0" tIns="0" rIns="0" bIns="0" rtlCol="0" anchor="t"/>
          <a:lstStyle/>
          <a:p>
            <a:pPr marL="0" indent="0">
              <a:lnSpc>
                <a:spcPct val="118000"/>
              </a:lnSpc>
              <a:spcAft>
                <a:spcPts val="1144"/>
              </a:spcAft>
              <a:buNone/>
            </a:pPr>
            <a:r>
              <a:rPr lang="en-US" sz="1760" dirty="0">
                <a:solidFill>
                  <a:srgbClr val="EAF0FF"/>
                </a:solidFill>
                <a:latin typeface="Inter" pitchFamily="34" charset="0"/>
                <a:ea typeface="Inter" pitchFamily="34" charset="-122"/>
                <a:cs typeface="Inter" pitchFamily="34" charset="-120"/>
              </a:rPr>
              <a:t>The plan is revised as results come back. Plan, step, observe, replan, step.</a:t>
            </a:r>
            <a:endParaRPr lang="en-US" sz="1760" dirty="0"/>
          </a:p>
          <a:p>
            <a:pPr marL="0" indent="0">
              <a:lnSpc>
                <a:spcPct val="118000"/>
              </a:lnSpc>
              <a:spcAft>
                <a:spcPts val="1144"/>
              </a:spcAft>
              <a:buNone/>
            </a:pPr>
            <a:r>
              <a:rPr lang="en-US" sz="1672" dirty="0">
                <a:solidFill>
                  <a:srgbClr val="9FB0D6"/>
                </a:solidFill>
                <a:latin typeface="Inter" pitchFamily="34" charset="0"/>
                <a:ea typeface="Inter" pitchFamily="34" charset="-122"/>
                <a:cs typeface="Inter" pitchFamily="34" charset="-120"/>
              </a:rPr>
              <a:t>Adapts to failures, missing data and surprises.</a:t>
            </a:r>
            <a:endParaRPr lang="en-US" sz="1760" dirty="0"/>
          </a:p>
          <a:p>
            <a:pPr marL="0" indent="0">
              <a:lnSpc>
                <a:spcPct val="118000"/>
              </a:lnSpc>
              <a:spcAft>
                <a:spcPts val="1144"/>
              </a:spcAft>
              <a:buNone/>
            </a:pPr>
            <a:r>
              <a:rPr lang="en-US" sz="1760" dirty="0">
                <a:solidFill>
                  <a:srgbClr val="F5C542"/>
                </a:solidFill>
                <a:latin typeface="Inter" pitchFamily="34" charset="0"/>
                <a:ea typeface="Inter" pitchFamily="34" charset="-122"/>
                <a:cs typeface="Inter" pitchFamily="34" charset="-120"/>
              </a:rPr>
              <a:t>Harder to predict, harder to audit, and every replan is another model call.</a:t>
            </a:r>
            <a:endParaRPr lang="en-US" sz="1760" dirty="0"/>
          </a:p>
        </p:txBody>
      </p:sp>
      <p:sp>
        <p:nvSpPr>
          <p:cNvPr id="13" name="Text 9"/>
          <p:cNvSpPr txBox="1"/>
          <p:nvPr/>
        </p:nvSpPr>
        <p:spPr>
          <a:xfrm>
            <a:off x="868680" y="5486400"/>
            <a:ext cx="10424160" cy="658368"/>
          </a:xfrm>
          <a:prstGeom prst="rect">
            <a:avLst/>
          </a:prstGeom>
          <a:noFill/>
          <a:ln/>
        </p:spPr>
        <p:txBody>
          <a:bodyPr wrap="square" lIns="0" tIns="0" rIns="0" bIns="0" rtlCol="0" anchor="ctr"/>
          <a:lstStyle/>
          <a:p>
            <a:pPr marL="0" indent="0">
              <a:buNone/>
            </a:pPr>
            <a:r>
              <a:rPr lang="en-US" sz="2200" dirty="0">
                <a:solidFill>
                  <a:srgbClr val="9FB0D6"/>
                </a:solidFill>
                <a:latin typeface="Inter" pitchFamily="34" charset="0"/>
                <a:ea typeface="Inter" pitchFamily="34" charset="-122"/>
                <a:cs typeface="Inter" pitchFamily="34" charset="-120"/>
              </a:rPr>
              <a:t>Start static in the notebook. Real systems end up dynamic.</a:t>
            </a:r>
            <a:endParaRPr lang="en-US" sz="2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28</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3100" b="1" dirty="0">
                <a:solidFill>
                  <a:srgbClr val="EAF0FF"/>
                </a:solidFill>
                <a:latin typeface="Poppins" pitchFamily="34" charset="0"/>
                <a:ea typeface="Poppins" pitchFamily="34" charset="-122"/>
                <a:cs typeface="Poppins" pitchFamily="34" charset="-120"/>
              </a:rPr>
              <a:t>Structured output: </a:t>
            </a:r>
            <a:r>
              <a:rPr lang="en-US" sz="3100" b="1" dirty="0">
                <a:solidFill>
                  <a:srgbClr val="3FD0E6"/>
                </a:solidFill>
                <a:latin typeface="Poppins" pitchFamily="34" charset="0"/>
                <a:ea typeface="Poppins" pitchFamily="34" charset="-122"/>
                <a:cs typeface="Poppins" pitchFamily="34" charset="-120"/>
              </a:rPr>
              <a:t>the parsing problem</a:t>
            </a:r>
            <a:endParaRPr lang="en-US" sz="3100" dirty="0"/>
          </a:p>
        </p:txBody>
      </p:sp>
      <p:sp>
        <p:nvSpPr>
          <p:cNvPr id="7" name="Shape 3"/>
          <p:cNvSpPr/>
          <p:nvPr/>
        </p:nvSpPr>
        <p:spPr>
          <a:xfrm>
            <a:off x="868680" y="1600200"/>
            <a:ext cx="4937760" cy="3794760"/>
          </a:xfrm>
          <a:prstGeom prst="roundRect">
            <a:avLst>
              <a:gd name="adj" fmla="val 2410"/>
            </a:avLst>
          </a:prstGeom>
          <a:solidFill>
            <a:srgbClr val="0A1024"/>
          </a:solidFill>
          <a:ln w="12700">
            <a:solidFill>
              <a:srgbClr val="1E2A55"/>
            </a:solidFill>
            <a:prstDash val="solid"/>
          </a:ln>
        </p:spPr>
      </p:sp>
      <p:sp>
        <p:nvSpPr>
          <p:cNvPr id="8" name="Text 4"/>
          <p:cNvSpPr txBox="1"/>
          <p:nvPr/>
        </p:nvSpPr>
        <p:spPr>
          <a:xfrm>
            <a:off x="11795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3FD0E6"/>
                </a:solidFill>
                <a:latin typeface="Inter" pitchFamily="34" charset="0"/>
                <a:ea typeface="Inter" pitchFamily="34" charset="-122"/>
                <a:cs typeface="Inter" pitchFamily="34" charset="-120"/>
              </a:rPr>
              <a:t>SAME PROMPT, THREE RUNS</a:t>
            </a:r>
            <a:endParaRPr lang="en-US" sz="1550" dirty="0"/>
          </a:p>
        </p:txBody>
      </p:sp>
      <p:sp>
        <p:nvSpPr>
          <p:cNvPr id="9" name="Text 5"/>
          <p:cNvSpPr txBox="1"/>
          <p:nvPr/>
        </p:nvSpPr>
        <p:spPr>
          <a:xfrm>
            <a:off x="1179576" y="2258568"/>
            <a:ext cx="4315968" cy="2862072"/>
          </a:xfrm>
          <a:prstGeom prst="rect">
            <a:avLst/>
          </a:prstGeom>
          <a:noFill/>
          <a:ln/>
        </p:spPr>
        <p:txBody>
          <a:bodyPr wrap="square" lIns="0" tIns="0" rIns="0" bIns="0" rtlCol="0" anchor="t"/>
          <a:lstStyle/>
          <a:p>
            <a:pPr marL="0" indent="0">
              <a:lnSpc>
                <a:spcPct val="118000"/>
              </a:lnSpc>
              <a:spcAft>
                <a:spcPts val="1020"/>
              </a:spcAft>
              <a:buNone/>
            </a:pPr>
            <a:r>
              <a:rPr lang="en-US" sz="1615" dirty="0">
                <a:solidFill>
                  <a:srgbClr val="EAF0FF"/>
                </a:solidFill>
                <a:latin typeface="Inter" pitchFamily="34" charset="0"/>
                <a:ea typeface="Inter" pitchFamily="34" charset="-122"/>
                <a:cs typeface="Inter" pitchFamily="34" charset="-120"/>
              </a:rPr>
              <a:t>One run returns: 1. Research  2. Analyze  3. Write</a:t>
            </a:r>
            <a:endParaRPr lang="en-US" sz="1615" dirty="0"/>
          </a:p>
          <a:p>
            <a:pPr marL="0" indent="0">
              <a:lnSpc>
                <a:spcPct val="118000"/>
              </a:lnSpc>
              <a:spcAft>
                <a:spcPts val="1020"/>
              </a:spcAft>
              <a:buNone/>
            </a:pPr>
            <a:r>
              <a:rPr lang="en-US" sz="1615" dirty="0">
                <a:solidFill>
                  <a:srgbClr val="EAF0FF"/>
                </a:solidFill>
                <a:latin typeface="Inter" pitchFamily="34" charset="0"/>
                <a:ea typeface="Inter" pitchFamily="34" charset="-122"/>
                <a:cs typeface="Inter" pitchFamily="34" charset="-120"/>
              </a:rPr>
              <a:t>Another returns: Step 1: Research the topic. Step 2: Analyze the findings.</a:t>
            </a:r>
            <a:endParaRPr lang="en-US" sz="1615" dirty="0"/>
          </a:p>
          <a:p>
            <a:pPr marL="0" indent="0">
              <a:lnSpc>
                <a:spcPct val="118000"/>
              </a:lnSpc>
              <a:spcAft>
                <a:spcPts val="1020"/>
              </a:spcAft>
              <a:buNone/>
            </a:pPr>
            <a:r>
              <a:rPr lang="en-US" sz="1615" dirty="0">
                <a:solidFill>
                  <a:srgbClr val="EAF0FF"/>
                </a:solidFill>
                <a:latin typeface="Inter" pitchFamily="34" charset="0"/>
                <a:ea typeface="Inter" pitchFamily="34" charset="-122"/>
                <a:cs typeface="Inter" pitchFamily="34" charset="-120"/>
              </a:rPr>
              <a:t>A third returns: First research the topic, then analyze the findings, and finally write it up.</a:t>
            </a:r>
            <a:endParaRPr lang="en-US" sz="1615" dirty="0"/>
          </a:p>
        </p:txBody>
      </p:sp>
      <p:sp>
        <p:nvSpPr>
          <p:cNvPr id="10" name="Shape 6"/>
          <p:cNvSpPr/>
          <p:nvPr/>
        </p:nvSpPr>
        <p:spPr>
          <a:xfrm>
            <a:off x="6355080" y="1600200"/>
            <a:ext cx="4937760" cy="3794760"/>
          </a:xfrm>
          <a:prstGeom prst="roundRect">
            <a:avLst>
              <a:gd name="adj" fmla="val 2410"/>
            </a:avLst>
          </a:prstGeom>
          <a:solidFill>
            <a:srgbClr val="0A1024"/>
          </a:solidFill>
          <a:ln w="12700">
            <a:solidFill>
              <a:srgbClr val="1E2A55"/>
            </a:solidFill>
            <a:prstDash val="solid"/>
          </a:ln>
        </p:spPr>
      </p:sp>
      <p:sp>
        <p:nvSpPr>
          <p:cNvPr id="11" name="Text 7"/>
          <p:cNvSpPr txBox="1"/>
          <p:nvPr/>
        </p:nvSpPr>
        <p:spPr>
          <a:xfrm>
            <a:off x="66659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F5C542"/>
                </a:solidFill>
                <a:latin typeface="Inter" pitchFamily="34" charset="0"/>
                <a:ea typeface="Inter" pitchFamily="34" charset="-122"/>
                <a:cs typeface="Inter" pitchFamily="34" charset="-120"/>
              </a:rPr>
              <a:t>WHY THAT IS A PROBLEM</a:t>
            </a:r>
            <a:endParaRPr lang="en-US" sz="1550" dirty="0"/>
          </a:p>
        </p:txBody>
      </p:sp>
      <p:sp>
        <p:nvSpPr>
          <p:cNvPr id="12" name="Text 8"/>
          <p:cNvSpPr txBox="1"/>
          <p:nvPr/>
        </p:nvSpPr>
        <p:spPr>
          <a:xfrm>
            <a:off x="6665976" y="2258568"/>
            <a:ext cx="4315968" cy="2862072"/>
          </a:xfrm>
          <a:prstGeom prst="rect">
            <a:avLst/>
          </a:prstGeom>
          <a:noFill/>
          <a:ln/>
        </p:spPr>
        <p:txBody>
          <a:bodyPr wrap="square" lIns="0" tIns="0" rIns="0" bIns="0" rtlCol="0" anchor="t"/>
          <a:lstStyle/>
          <a:p>
            <a:pPr marL="0" indent="0">
              <a:lnSpc>
                <a:spcPct val="118000"/>
              </a:lnSpc>
              <a:spcAft>
                <a:spcPts val="544"/>
              </a:spcAft>
              <a:buNone/>
            </a:pPr>
            <a:r>
              <a:rPr lang="en-US" sz="1292" dirty="0">
                <a:solidFill>
                  <a:srgbClr val="EAF0FF"/>
                </a:solidFill>
                <a:latin typeface="Inter" pitchFamily="34" charset="0"/>
                <a:ea typeface="Inter" pitchFamily="34" charset="-122"/>
                <a:cs typeface="Inter" pitchFamily="34" charset="-120"/>
              </a:rPr>
              <a:t>Nothing is wrong with any of them. A person reads all three and understands the same plan.</a:t>
            </a:r>
            <a:endParaRPr lang="en-US" sz="1292" dirty="0"/>
          </a:p>
          <a:p>
            <a:pPr marL="0" indent="0">
              <a:lnSpc>
                <a:spcPct val="118000"/>
              </a:lnSpc>
              <a:spcAft>
                <a:spcPts val="544"/>
              </a:spcAft>
              <a:buNone/>
            </a:pPr>
            <a:r>
              <a:rPr lang="en-US" sz="1292" dirty="0">
                <a:solidFill>
                  <a:srgbClr val="9FB0D6"/>
                </a:solidFill>
                <a:latin typeface="Inter" pitchFamily="34" charset="0"/>
                <a:ea typeface="Inter" pitchFamily="34" charset="-122"/>
                <a:cs typeface="Inter" pitchFamily="34" charset="-120"/>
              </a:rPr>
              <a:t>But a Python loop touches this next, and a loop has to know where step one ends and step two begins.</a:t>
            </a:r>
            <a:endParaRPr lang="en-US" sz="1292" dirty="0"/>
          </a:p>
          <a:p>
            <a:pPr marL="0" indent="0">
              <a:lnSpc>
                <a:spcPct val="118000"/>
              </a:lnSpc>
              <a:spcAft>
                <a:spcPts val="544"/>
              </a:spcAft>
              <a:buNone/>
            </a:pPr>
            <a:r>
              <a:rPr lang="en-US" sz="1292" dirty="0">
                <a:solidFill>
                  <a:srgbClr val="9FB0D6"/>
                </a:solidFill>
                <a:latin typeface="Inter" pitchFamily="34" charset="0"/>
                <a:ea typeface="Inter" pitchFamily="34" charset="-122"/>
                <a:cs typeface="Inter" pitchFamily="34" charset="-120"/>
              </a:rPr>
              <a:t>The first splits on newlines. The second needs the prefix stripped. The third has no separator at all, unless you split an English sentence on the word “then”.</a:t>
            </a:r>
            <a:endParaRPr lang="en-US" sz="1292" dirty="0"/>
          </a:p>
          <a:p>
            <a:pPr marL="0" indent="0">
              <a:lnSpc>
                <a:spcPct val="118000"/>
              </a:lnSpc>
              <a:spcAft>
                <a:spcPts val="544"/>
              </a:spcAft>
              <a:buNone/>
            </a:pPr>
            <a:r>
              <a:rPr lang="en-US" sz="1292" dirty="0">
                <a:solidFill>
                  <a:srgbClr val="F5C542"/>
                </a:solidFill>
                <a:latin typeface="Inter" pitchFamily="34" charset="0"/>
                <a:ea typeface="Inter" pitchFamily="34" charset="-122"/>
                <a:cs typeface="Inter" pitchFamily="34" charset="-120"/>
              </a:rPr>
              <a:t>Formatting drifts between runs, and your parser has to be right every single time.</a:t>
            </a:r>
            <a:endParaRPr lang="en-US" sz="1292"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29</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3500" b="1" dirty="0">
                <a:solidFill>
                  <a:srgbClr val="EAF0FF"/>
                </a:solidFill>
                <a:latin typeface="Poppins" pitchFamily="34" charset="0"/>
                <a:ea typeface="Poppins" pitchFamily="34" charset="-122"/>
                <a:cs typeface="Poppins" pitchFamily="34" charset="-120"/>
              </a:rPr>
              <a:t>Structured output: </a:t>
            </a:r>
            <a:r>
              <a:rPr lang="en-US" sz="3500" b="1" dirty="0">
                <a:solidFill>
                  <a:srgbClr val="3FD0E6"/>
                </a:solidFill>
                <a:latin typeface="Poppins" pitchFamily="34" charset="0"/>
                <a:ea typeface="Poppins" pitchFamily="34" charset="-122"/>
                <a:cs typeface="Poppins" pitchFamily="34" charset="-120"/>
              </a:rPr>
              <a:t>text, then data</a:t>
            </a:r>
            <a:endParaRPr lang="en-US" sz="3500" dirty="0"/>
          </a:p>
        </p:txBody>
      </p:sp>
      <p:sp>
        <p:nvSpPr>
          <p:cNvPr id="7" name="Shape 3"/>
          <p:cNvSpPr/>
          <p:nvPr/>
        </p:nvSpPr>
        <p:spPr>
          <a:xfrm>
            <a:off x="868680" y="1600200"/>
            <a:ext cx="4937760" cy="3794760"/>
          </a:xfrm>
          <a:prstGeom prst="roundRect">
            <a:avLst>
              <a:gd name="adj" fmla="val 2410"/>
            </a:avLst>
          </a:prstGeom>
          <a:solidFill>
            <a:srgbClr val="0A1024"/>
          </a:solidFill>
          <a:ln w="12700">
            <a:solidFill>
              <a:srgbClr val="1E2A55"/>
            </a:solidFill>
            <a:prstDash val="solid"/>
          </a:ln>
        </p:spPr>
      </p:sp>
      <p:sp>
        <p:nvSpPr>
          <p:cNvPr id="8" name="Text 4"/>
          <p:cNvSpPr txBox="1"/>
          <p:nvPr/>
        </p:nvSpPr>
        <p:spPr>
          <a:xfrm>
            <a:off x="11795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3FD0E6"/>
                </a:solidFill>
                <a:latin typeface="Inter" pitchFamily="34" charset="0"/>
                <a:ea typeface="Inter" pitchFamily="34" charset="-122"/>
                <a:cs typeface="Inter" pitchFamily="34" charset="-120"/>
              </a:rPr>
              <a:t>NUMBERED TEXT</a:t>
            </a:r>
            <a:endParaRPr lang="en-US" sz="1550" dirty="0"/>
          </a:p>
        </p:txBody>
      </p:sp>
      <p:sp>
        <p:nvSpPr>
          <p:cNvPr id="9" name="Text 5"/>
          <p:cNvSpPr txBox="1"/>
          <p:nvPr/>
        </p:nvSpPr>
        <p:spPr>
          <a:xfrm>
            <a:off x="1179576" y="2258568"/>
            <a:ext cx="4315968" cy="2862072"/>
          </a:xfrm>
          <a:prstGeom prst="rect">
            <a:avLst/>
          </a:prstGeom>
          <a:noFill/>
          <a:ln/>
        </p:spPr>
        <p:txBody>
          <a:bodyPr wrap="square" lIns="0" tIns="0" rIns="0" bIns="0" rtlCol="0" anchor="t"/>
          <a:lstStyle/>
          <a:p>
            <a:pPr marL="0" indent="0">
              <a:lnSpc>
                <a:spcPct val="118000"/>
              </a:lnSpc>
              <a:spcAft>
                <a:spcPts val="630"/>
              </a:spcAft>
              <a:buNone/>
            </a:pPr>
            <a:r>
              <a:rPr lang="en-US" sz="1330" dirty="0">
                <a:solidFill>
                  <a:srgbClr val="EAF0FF"/>
                </a:solidFill>
                <a:latin typeface="Inter" pitchFamily="34" charset="0"/>
                <a:ea typeface="Inter" pitchFamily="34" charset="-122"/>
                <a:cs typeface="Inter" pitchFamily="34" charset="-120"/>
              </a:rPr>
              <a:t>Trivial to produce and to read, and a split on newlines is teachable in ninety seconds. That is why the notebook uses it.</a:t>
            </a:r>
            <a:endParaRPr lang="en-US" sz="1330" dirty="0"/>
          </a:p>
          <a:p>
            <a:pPr marL="0" indent="0">
              <a:lnSpc>
                <a:spcPct val="118000"/>
              </a:lnSpc>
              <a:spcAft>
                <a:spcPts val="630"/>
              </a:spcAft>
              <a:buNone/>
            </a:pPr>
            <a:r>
              <a:rPr lang="en-US" sz="1330" dirty="0">
                <a:solidFill>
                  <a:srgbClr val="9FB0D6"/>
                </a:solidFill>
                <a:latin typeface="Inter" pitchFamily="34" charset="0"/>
                <a:ea typeface="Inter" pitchFamily="34" charset="-122"/>
                <a:cs typeface="Inter" pitchFamily="34" charset="-120"/>
              </a:rPr>
              <a:t>But the formatting drifts, so the parser you wrote this morning breaks this afternoon.</a:t>
            </a:r>
            <a:endParaRPr lang="en-US" sz="1330" dirty="0"/>
          </a:p>
          <a:p>
            <a:pPr marL="0" indent="0">
              <a:lnSpc>
                <a:spcPct val="118000"/>
              </a:lnSpc>
              <a:spcAft>
                <a:spcPts val="630"/>
              </a:spcAft>
              <a:buNone/>
            </a:pPr>
            <a:r>
              <a:rPr lang="en-US" sz="1330" dirty="0">
                <a:solidFill>
                  <a:srgbClr val="9FB0D6"/>
                </a:solidFill>
                <a:latin typeface="Inter" pitchFamily="34" charset="0"/>
                <a:ea typeface="Inter" pitchFamily="34" charset="-122"/>
                <a:cs typeface="Inter" pitchFamily="34" charset="-120"/>
              </a:rPr>
              <a:t>There are no types and no identifiers, so no step can be referred to, logged or retried by name. There is nowhere to record that step two finished, and no way to say step three depends on step one.</a:t>
            </a:r>
            <a:endParaRPr lang="en-US" sz="1330" dirty="0"/>
          </a:p>
        </p:txBody>
      </p:sp>
      <p:sp>
        <p:nvSpPr>
          <p:cNvPr id="10" name="Shape 6"/>
          <p:cNvSpPr/>
          <p:nvPr/>
        </p:nvSpPr>
        <p:spPr>
          <a:xfrm>
            <a:off x="6355080" y="1600200"/>
            <a:ext cx="4937760" cy="3794760"/>
          </a:xfrm>
          <a:prstGeom prst="roundRect">
            <a:avLst>
              <a:gd name="adj" fmla="val 2410"/>
            </a:avLst>
          </a:prstGeom>
          <a:solidFill>
            <a:srgbClr val="0A1024"/>
          </a:solidFill>
          <a:ln w="12700">
            <a:solidFill>
              <a:srgbClr val="1E2A55"/>
            </a:solidFill>
            <a:prstDash val="solid"/>
          </a:ln>
        </p:spPr>
      </p:sp>
      <p:sp>
        <p:nvSpPr>
          <p:cNvPr id="11" name="Text 7"/>
          <p:cNvSpPr txBox="1"/>
          <p:nvPr/>
        </p:nvSpPr>
        <p:spPr>
          <a:xfrm>
            <a:off x="66659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F5C542"/>
                </a:solidFill>
                <a:latin typeface="Inter" pitchFamily="34" charset="0"/>
                <a:ea typeface="Inter" pitchFamily="34" charset="-122"/>
                <a:cs typeface="Inter" pitchFamily="34" charset="-120"/>
              </a:rPr>
              <a:t>JSON</a:t>
            </a:r>
            <a:endParaRPr lang="en-US" sz="1550" dirty="0"/>
          </a:p>
        </p:txBody>
      </p:sp>
      <p:sp>
        <p:nvSpPr>
          <p:cNvPr id="12" name="Text 8"/>
          <p:cNvSpPr txBox="1"/>
          <p:nvPr/>
        </p:nvSpPr>
        <p:spPr>
          <a:xfrm>
            <a:off x="6665976" y="2258568"/>
            <a:ext cx="4315968" cy="2862072"/>
          </a:xfrm>
          <a:prstGeom prst="rect">
            <a:avLst/>
          </a:prstGeom>
          <a:noFill/>
          <a:ln/>
        </p:spPr>
        <p:txBody>
          <a:bodyPr wrap="square" lIns="0" tIns="0" rIns="0" bIns="0" rtlCol="0" anchor="t"/>
          <a:lstStyle/>
          <a:p>
            <a:pPr marL="0" indent="0">
              <a:lnSpc>
                <a:spcPct val="118000"/>
              </a:lnSpc>
              <a:spcAft>
                <a:spcPts val="630"/>
              </a:spcAft>
              <a:buNone/>
            </a:pPr>
            <a:r>
              <a:rPr lang="en-US" sz="1330" dirty="0">
                <a:solidFill>
                  <a:srgbClr val="EAF0FF"/>
                </a:solidFill>
                <a:latin typeface="Inter" pitchFamily="34" charset="0"/>
                <a:ea typeface="Inter" pitchFamily="34" charset="-122"/>
                <a:cs typeface="Inter" pitchFamily="34" charset="-120"/>
              </a:rPr>
              <a:t>Ask for an object instead. It holds the task and a list of steps, and each step is itself an object with an id and a description.</a:t>
            </a:r>
            <a:endParaRPr lang="en-US" sz="1330" dirty="0"/>
          </a:p>
          <a:p>
            <a:pPr marL="0" indent="0">
              <a:lnSpc>
                <a:spcPct val="118000"/>
              </a:lnSpc>
              <a:spcAft>
                <a:spcPts val="630"/>
              </a:spcAft>
              <a:buNone/>
            </a:pPr>
            <a:r>
              <a:rPr lang="en-US" sz="1330" dirty="0">
                <a:solidFill>
                  <a:srgbClr val="9FB0D6"/>
                </a:solidFill>
                <a:latin typeface="Inter" pitchFamily="34" charset="0"/>
                <a:ea typeface="Inter" pitchFamily="34" charset="-122"/>
                <a:cs typeface="Inter" pitchFamily="34" charset="-120"/>
              </a:rPr>
              <a:t>Your executor loops over the steps and reads each description out of the structure. No splitting, no regex, no guessing where a step ends.</a:t>
            </a:r>
            <a:endParaRPr lang="en-US" sz="1330" dirty="0"/>
          </a:p>
          <a:p>
            <a:pPr marL="0" indent="0">
              <a:lnSpc>
                <a:spcPct val="118000"/>
              </a:lnSpc>
              <a:spcAft>
                <a:spcPts val="630"/>
              </a:spcAft>
              <a:buNone/>
            </a:pPr>
            <a:r>
              <a:rPr lang="en-US" sz="1330" dirty="0">
                <a:solidFill>
                  <a:srgbClr val="9FB0D6"/>
                </a:solidFill>
                <a:latin typeface="Inter" pitchFamily="34" charset="0"/>
                <a:ea typeface="Inter" pitchFamily="34" charset="-122"/>
                <a:cs typeface="Inter" pitchFamily="34" charset="-120"/>
              </a:rPr>
              <a:t>Getting clean JSON is its own small craft: ask for it explicitly, show the exact shape you want, and strip code fences before you parse.</a:t>
            </a:r>
            <a:endParaRPr lang="en-US" sz="1330" dirty="0"/>
          </a:p>
        </p:txBody>
      </p:sp>
      <p:sp>
        <p:nvSpPr>
          <p:cNvPr id="13" name="Text 9"/>
          <p:cNvSpPr txBox="1"/>
          <p:nvPr/>
        </p:nvSpPr>
        <p:spPr>
          <a:xfrm>
            <a:off x="868680" y="5486400"/>
            <a:ext cx="10424160" cy="658368"/>
          </a:xfrm>
          <a:prstGeom prst="rect">
            <a:avLst/>
          </a:prstGeom>
          <a:noFill/>
          <a:ln/>
        </p:spPr>
        <p:txBody>
          <a:bodyPr wrap="square" lIns="0" tIns="0" rIns="0" bIns="0" rtlCol="0" anchor="ctr"/>
          <a:lstStyle/>
          <a:p>
            <a:pPr marL="0" indent="0">
              <a:buNone/>
            </a:pPr>
            <a:r>
              <a:rPr lang="en-US" sz="2200" dirty="0">
                <a:solidFill>
                  <a:srgbClr val="9FB0D6"/>
                </a:solidFill>
                <a:latin typeface="Inter" pitchFamily="34" charset="0"/>
                <a:ea typeface="Inter" pitchFamily="34" charset="-122"/>
                <a:cs typeface="Inter" pitchFamily="34" charset="-120"/>
              </a:rPr>
              <a:t>The plan stops being something to interpret and becomes something to index into.</a:t>
            </a:r>
            <a:endParaRPr lang="en-US" sz="2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30</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3100" b="1" dirty="0">
                <a:solidFill>
                  <a:srgbClr val="EAF0FF"/>
                </a:solidFill>
                <a:latin typeface="Poppins" pitchFamily="34" charset="0"/>
                <a:ea typeface="Poppins" pitchFamily="34" charset="-122"/>
                <a:cs typeface="Poppins" pitchFamily="34" charset="-120"/>
              </a:rPr>
              <a:t>A plan that carries state and dependencies</a:t>
            </a:r>
            <a:endParaRPr lang="en-US" sz="3100" dirty="0"/>
          </a:p>
        </p:txBody>
      </p:sp>
      <p:sp>
        <p:nvSpPr>
          <p:cNvPr id="7" name="Shape 3"/>
          <p:cNvSpPr/>
          <p:nvPr/>
        </p:nvSpPr>
        <p:spPr>
          <a:xfrm>
            <a:off x="868680" y="1600200"/>
            <a:ext cx="4937760" cy="3794760"/>
          </a:xfrm>
          <a:prstGeom prst="roundRect">
            <a:avLst>
              <a:gd name="adj" fmla="val 2410"/>
            </a:avLst>
          </a:prstGeom>
          <a:solidFill>
            <a:srgbClr val="0A1024"/>
          </a:solidFill>
          <a:ln w="12700">
            <a:solidFill>
              <a:srgbClr val="1E2A55"/>
            </a:solidFill>
            <a:prstDash val="solid"/>
          </a:ln>
        </p:spPr>
      </p:sp>
      <p:sp>
        <p:nvSpPr>
          <p:cNvPr id="8" name="Text 4"/>
          <p:cNvSpPr txBox="1"/>
          <p:nvPr/>
        </p:nvSpPr>
        <p:spPr>
          <a:xfrm>
            <a:off x="11795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3FD0E6"/>
                </a:solidFill>
                <a:latin typeface="Inter" pitchFamily="34" charset="0"/>
                <a:ea typeface="Inter" pitchFamily="34" charset="-122"/>
                <a:cs typeface="Inter" pitchFamily="34" charset="-120"/>
              </a:rPr>
              <a:t>TWO MORE FIELDS PER STEP</a:t>
            </a:r>
            <a:endParaRPr lang="en-US" sz="1550" dirty="0"/>
          </a:p>
        </p:txBody>
      </p:sp>
      <p:sp>
        <p:nvSpPr>
          <p:cNvPr id="9" name="Text 5"/>
          <p:cNvSpPr txBox="1"/>
          <p:nvPr/>
        </p:nvSpPr>
        <p:spPr>
          <a:xfrm>
            <a:off x="1179576" y="2258568"/>
            <a:ext cx="4315968" cy="2862072"/>
          </a:xfrm>
          <a:prstGeom prst="rect">
            <a:avLst/>
          </a:prstGeom>
          <a:noFill/>
          <a:ln/>
        </p:spPr>
        <p:txBody>
          <a:bodyPr wrap="square" lIns="0" tIns="0" rIns="0" bIns="0" rtlCol="0" anchor="t"/>
          <a:lstStyle/>
          <a:p>
            <a:pPr marL="0" indent="0">
              <a:lnSpc>
                <a:spcPct val="118000"/>
              </a:lnSpc>
              <a:spcAft>
                <a:spcPts val="1066"/>
              </a:spcAft>
              <a:buNone/>
            </a:pPr>
            <a:r>
              <a:rPr lang="en-US" sz="1640" dirty="0">
                <a:solidFill>
                  <a:srgbClr val="EAF0FF"/>
                </a:solidFill>
                <a:latin typeface="Inter" pitchFamily="34" charset="0"/>
                <a:ea typeface="Inter" pitchFamily="34" charset="-122"/>
                <a:cs typeface="Inter" pitchFamily="34" charset="-120"/>
              </a:rPr>
              <a:t>A status. Step one is done. Step two is still pending.</a:t>
            </a:r>
            <a:endParaRPr lang="en-US" sz="1640" dirty="0"/>
          </a:p>
          <a:p>
            <a:pPr marL="0" indent="0">
              <a:lnSpc>
                <a:spcPct val="118000"/>
              </a:lnSpc>
              <a:spcAft>
                <a:spcPts val="1066"/>
              </a:spcAft>
              <a:buNone/>
            </a:pPr>
            <a:r>
              <a:rPr lang="en-US" sz="1640" dirty="0">
                <a:solidFill>
                  <a:srgbClr val="EAF0FF"/>
                </a:solidFill>
                <a:latin typeface="Inter" pitchFamily="34" charset="0"/>
                <a:ea typeface="Inter" pitchFamily="34" charset="-122"/>
                <a:cs typeface="Inter" pitchFamily="34" charset="-120"/>
              </a:rPr>
              <a:t>And a list of the steps it depends on. Step one depends on nothing. Step two depends on step one.</a:t>
            </a:r>
            <a:endParaRPr lang="en-US" sz="1640" dirty="0"/>
          </a:p>
          <a:p>
            <a:pPr marL="0" indent="0">
              <a:lnSpc>
                <a:spcPct val="118000"/>
              </a:lnSpc>
              <a:spcAft>
                <a:spcPts val="1066"/>
              </a:spcAft>
              <a:buNone/>
            </a:pPr>
            <a:r>
              <a:rPr lang="en-US" sz="1558" dirty="0">
                <a:solidFill>
                  <a:srgbClr val="9FB0D6"/>
                </a:solidFill>
                <a:latin typeface="Inter" pitchFamily="34" charset="0"/>
                <a:ea typeface="Inter" pitchFamily="34" charset="-122"/>
                <a:cs typeface="Inter" pitchFamily="34" charset="-120"/>
              </a:rPr>
              <a:t>Two small additions, and the plan now records both progress and structure.</a:t>
            </a:r>
            <a:endParaRPr lang="en-US" sz="1640" dirty="0"/>
          </a:p>
        </p:txBody>
      </p:sp>
      <p:sp>
        <p:nvSpPr>
          <p:cNvPr id="10" name="Shape 6"/>
          <p:cNvSpPr/>
          <p:nvPr/>
        </p:nvSpPr>
        <p:spPr>
          <a:xfrm>
            <a:off x="6355080" y="1600200"/>
            <a:ext cx="4937760" cy="3794760"/>
          </a:xfrm>
          <a:prstGeom prst="roundRect">
            <a:avLst>
              <a:gd name="adj" fmla="val 2410"/>
            </a:avLst>
          </a:prstGeom>
          <a:solidFill>
            <a:srgbClr val="0A1024"/>
          </a:solidFill>
          <a:ln w="12700">
            <a:solidFill>
              <a:srgbClr val="1E2A55"/>
            </a:solidFill>
            <a:prstDash val="solid"/>
          </a:ln>
        </p:spPr>
      </p:sp>
      <p:sp>
        <p:nvSpPr>
          <p:cNvPr id="11" name="Text 7"/>
          <p:cNvSpPr txBox="1"/>
          <p:nvPr/>
        </p:nvSpPr>
        <p:spPr>
          <a:xfrm>
            <a:off x="66659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F5C542"/>
                </a:solidFill>
                <a:latin typeface="Inter" pitchFamily="34" charset="0"/>
                <a:ea typeface="Inter" pitchFamily="34" charset="-122"/>
                <a:cs typeface="Inter" pitchFamily="34" charset="-120"/>
              </a:rPr>
              <a:t>WHAT THAT BUYS YOU</a:t>
            </a:r>
            <a:endParaRPr lang="en-US" sz="1550" dirty="0"/>
          </a:p>
        </p:txBody>
      </p:sp>
      <p:sp>
        <p:nvSpPr>
          <p:cNvPr id="12" name="Text 8"/>
          <p:cNvSpPr txBox="1"/>
          <p:nvPr/>
        </p:nvSpPr>
        <p:spPr>
          <a:xfrm>
            <a:off x="6665976" y="2258568"/>
            <a:ext cx="4315968" cy="2862072"/>
          </a:xfrm>
          <a:prstGeom prst="rect">
            <a:avLst/>
          </a:prstGeom>
          <a:noFill/>
          <a:ln/>
        </p:spPr>
        <p:txBody>
          <a:bodyPr wrap="square" lIns="0" tIns="0" rIns="0" bIns="0" rtlCol="0" anchor="t"/>
          <a:lstStyle/>
          <a:p>
            <a:pPr marL="0" indent="0">
              <a:lnSpc>
                <a:spcPct val="118000"/>
              </a:lnSpc>
              <a:spcAft>
                <a:spcPts val="748"/>
              </a:spcAft>
              <a:buNone/>
            </a:pPr>
            <a:r>
              <a:rPr lang="en-US" sz="1360" dirty="0">
                <a:solidFill>
                  <a:srgbClr val="EAF0FF"/>
                </a:solidFill>
                <a:latin typeface="Inter" pitchFamily="34" charset="0"/>
                <a:ea typeface="Inter" pitchFamily="34" charset="-122"/>
                <a:cs typeface="Inter" pitchFamily="34" charset="-120"/>
              </a:rPr>
              <a:t>Status turns the plan into a progress tracker. Crash, reload, and pick up at the first pending step.</a:t>
            </a:r>
            <a:endParaRPr lang="en-US" sz="1360" dirty="0"/>
          </a:p>
          <a:p>
            <a:pPr marL="0" indent="0">
              <a:lnSpc>
                <a:spcPct val="118000"/>
              </a:lnSpc>
              <a:spcAft>
                <a:spcPts val="748"/>
              </a:spcAft>
              <a:buNone/>
            </a:pPr>
            <a:r>
              <a:rPr lang="en-US" sz="1292" dirty="0">
                <a:solidFill>
                  <a:srgbClr val="9FB0D6"/>
                </a:solidFill>
                <a:latin typeface="Inter" pitchFamily="34" charset="0"/>
                <a:ea typeface="Inter" pitchFamily="34" charset="-122"/>
                <a:cs typeface="Inter" pitchFamily="34" charset="-120"/>
              </a:rPr>
              <a:t>Dependencies turn a list into a graph, so the executor can ask what is safe to run right now. That is the parallelism question from earlier, answered by data instead of by guessing.</a:t>
            </a:r>
            <a:endParaRPr lang="en-US" sz="1360" dirty="0"/>
          </a:p>
          <a:p>
            <a:pPr marL="0" indent="0">
              <a:lnSpc>
                <a:spcPct val="118000"/>
              </a:lnSpc>
              <a:spcAft>
                <a:spcPts val="748"/>
              </a:spcAft>
              <a:buNone/>
            </a:pPr>
            <a:r>
              <a:rPr lang="en-US" sz="1292" dirty="0">
                <a:solidFill>
                  <a:srgbClr val="9FB0D6"/>
                </a:solidFill>
                <a:latin typeface="Inter" pitchFamily="34" charset="0"/>
                <a:ea typeface="Inter" pitchFamily="34" charset="-122"/>
                <a:cs typeface="Inter" pitchFamily="34" charset="-120"/>
              </a:rPr>
              <a:t>Skip a step whose dependency failed, instead of running it on nothing.</a:t>
            </a:r>
            <a:endParaRPr lang="en-US" sz="136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31</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4300" b="1" dirty="0">
                <a:solidFill>
                  <a:srgbClr val="EAF0FF"/>
                </a:solidFill>
                <a:latin typeface="Poppins" pitchFamily="34" charset="0"/>
                <a:ea typeface="Poppins" pitchFamily="34" charset="-122"/>
                <a:cs typeface="Poppins" pitchFamily="34" charset="-120"/>
              </a:rPr>
              <a:t>Structured output: </a:t>
            </a:r>
            <a:r>
              <a:rPr lang="en-US" sz="4300" b="1" dirty="0">
                <a:solidFill>
                  <a:srgbClr val="3FD0E6"/>
                </a:solidFill>
                <a:latin typeface="Poppins" pitchFamily="34" charset="0"/>
                <a:ea typeface="Poppins" pitchFamily="34" charset="-122"/>
                <a:cs typeface="Poppins" pitchFamily="34" charset="-120"/>
              </a:rPr>
              <a:t>five levels</a:t>
            </a:r>
            <a:endParaRPr lang="en-US" sz="4300" dirty="0"/>
          </a:p>
        </p:txBody>
      </p:sp>
      <p:sp>
        <p:nvSpPr>
          <p:cNvPr id="7" name="Shape 3"/>
          <p:cNvSpPr/>
          <p:nvPr/>
        </p:nvSpPr>
        <p:spPr>
          <a:xfrm>
            <a:off x="868680" y="1627632"/>
            <a:ext cx="10424160" cy="621792"/>
          </a:xfrm>
          <a:prstGeom prst="roundRect">
            <a:avLst>
              <a:gd name="adj" fmla="val 10294"/>
            </a:avLst>
          </a:prstGeom>
          <a:solidFill>
            <a:srgbClr val="0A1024"/>
          </a:solidFill>
          <a:ln w="12700">
            <a:solidFill>
              <a:srgbClr val="1E2A55"/>
            </a:solidFill>
            <a:prstDash val="solid"/>
          </a:ln>
        </p:spPr>
      </p:sp>
      <p:sp>
        <p:nvSpPr>
          <p:cNvPr id="8" name="Text 4"/>
          <p:cNvSpPr txBox="1"/>
          <p:nvPr/>
        </p:nvSpPr>
        <p:spPr>
          <a:xfrm>
            <a:off x="1143000" y="1627632"/>
            <a:ext cx="457200" cy="621792"/>
          </a:xfrm>
          <a:prstGeom prst="rect">
            <a:avLst/>
          </a:prstGeom>
          <a:noFill/>
          <a:ln/>
        </p:spPr>
        <p:txBody>
          <a:bodyPr wrap="square" lIns="0" tIns="0" rIns="0" bIns="0" rtlCol="0" anchor="ctr"/>
          <a:lstStyle/>
          <a:p>
            <a:pPr marL="0" indent="0">
              <a:buNone/>
            </a:pPr>
            <a:r>
              <a:rPr lang="en-US" sz="1800" dirty="0">
                <a:solidFill>
                  <a:srgbClr val="817AFF"/>
                </a:solidFill>
                <a:latin typeface="Inter" pitchFamily="34" charset="0"/>
                <a:ea typeface="Inter" pitchFamily="34" charset="-122"/>
                <a:cs typeface="Inter" pitchFamily="34" charset="-120"/>
              </a:rPr>
              <a:t>1</a:t>
            </a:r>
            <a:endParaRPr lang="en-US" sz="1800" dirty="0"/>
          </a:p>
        </p:txBody>
      </p:sp>
      <p:sp>
        <p:nvSpPr>
          <p:cNvPr id="9" name="Text 5"/>
          <p:cNvSpPr txBox="1"/>
          <p:nvPr/>
        </p:nvSpPr>
        <p:spPr>
          <a:xfrm>
            <a:off x="1737360" y="1627632"/>
            <a:ext cx="3200400" cy="621792"/>
          </a:xfrm>
          <a:prstGeom prst="rect">
            <a:avLst/>
          </a:prstGeom>
          <a:noFill/>
          <a:ln/>
        </p:spPr>
        <p:txBody>
          <a:bodyPr wrap="square" lIns="0" tIns="0" rIns="0" bIns="0" rtlCol="0" anchor="ctr"/>
          <a:lstStyle/>
          <a:p>
            <a:pPr marL="0" indent="0">
              <a:buNone/>
            </a:pPr>
            <a:r>
              <a:rPr lang="en-US" sz="2100" b="1" dirty="0">
                <a:solidFill>
                  <a:srgbClr val="EAF0FF"/>
                </a:solidFill>
                <a:latin typeface="Inter" pitchFamily="34" charset="0"/>
                <a:ea typeface="Inter" pitchFamily="34" charset="-122"/>
                <a:cs typeface="Inter" pitchFamily="34" charset="-120"/>
              </a:rPr>
              <a:t>Free text</a:t>
            </a:r>
            <a:endParaRPr lang="en-US" sz="2100" dirty="0"/>
          </a:p>
        </p:txBody>
      </p:sp>
      <p:sp>
        <p:nvSpPr>
          <p:cNvPr id="10" name="Text 6"/>
          <p:cNvSpPr txBox="1"/>
          <p:nvPr/>
        </p:nvSpPr>
        <p:spPr>
          <a:xfrm>
            <a:off x="5029200" y="1627632"/>
            <a:ext cx="6126480" cy="621792"/>
          </a:xfrm>
          <a:prstGeom prst="rect">
            <a:avLst/>
          </a:prstGeom>
          <a:noFill/>
          <a:ln/>
        </p:spPr>
        <p:txBody>
          <a:bodyPr wrap="square" lIns="0" tIns="0" rIns="0" bIns="0" rtlCol="0" anchor="ctr"/>
          <a:lstStyle/>
          <a:p>
            <a:pPr marL="0" indent="0">
              <a:buNone/>
            </a:pPr>
            <a:r>
              <a:rPr lang="en-US" sz="1900" dirty="0">
                <a:solidFill>
                  <a:srgbClr val="6E80B4"/>
                </a:solidFill>
                <a:latin typeface="Inter" pitchFamily="34" charset="0"/>
                <a:ea typeface="Inter" pitchFamily="34" charset="-122"/>
                <a:cs typeface="Inter" pitchFamily="34" charset="-120"/>
              </a:rPr>
              <a:t>Whatever the model felt like. Unparseable.</a:t>
            </a:r>
            <a:endParaRPr lang="en-US" sz="1900" dirty="0"/>
          </a:p>
        </p:txBody>
      </p:sp>
      <p:sp>
        <p:nvSpPr>
          <p:cNvPr id="11" name="Shape 7"/>
          <p:cNvSpPr/>
          <p:nvPr/>
        </p:nvSpPr>
        <p:spPr>
          <a:xfrm>
            <a:off x="868680" y="2340864"/>
            <a:ext cx="10424160" cy="621792"/>
          </a:xfrm>
          <a:prstGeom prst="roundRect">
            <a:avLst>
              <a:gd name="adj" fmla="val 10294"/>
            </a:avLst>
          </a:prstGeom>
          <a:solidFill>
            <a:srgbClr val="0A1024"/>
          </a:solidFill>
          <a:ln w="12700">
            <a:solidFill>
              <a:srgbClr val="1E2A55"/>
            </a:solidFill>
            <a:prstDash val="solid"/>
          </a:ln>
        </p:spPr>
      </p:sp>
      <p:sp>
        <p:nvSpPr>
          <p:cNvPr id="12" name="Text 8"/>
          <p:cNvSpPr txBox="1"/>
          <p:nvPr/>
        </p:nvSpPr>
        <p:spPr>
          <a:xfrm>
            <a:off x="1143000" y="2340864"/>
            <a:ext cx="457200" cy="621792"/>
          </a:xfrm>
          <a:prstGeom prst="rect">
            <a:avLst/>
          </a:prstGeom>
          <a:noFill/>
          <a:ln/>
        </p:spPr>
        <p:txBody>
          <a:bodyPr wrap="square" lIns="0" tIns="0" rIns="0" bIns="0" rtlCol="0" anchor="ctr"/>
          <a:lstStyle/>
          <a:p>
            <a:pPr marL="0" indent="0">
              <a:buNone/>
            </a:pPr>
            <a:r>
              <a:rPr lang="en-US" sz="1800" dirty="0">
                <a:solidFill>
                  <a:srgbClr val="817AFF"/>
                </a:solidFill>
                <a:latin typeface="Inter" pitchFamily="34" charset="0"/>
                <a:ea typeface="Inter" pitchFamily="34" charset="-122"/>
                <a:cs typeface="Inter" pitchFamily="34" charset="-120"/>
              </a:rPr>
              <a:t>2</a:t>
            </a:r>
            <a:endParaRPr lang="en-US" sz="1800" dirty="0"/>
          </a:p>
        </p:txBody>
      </p:sp>
      <p:sp>
        <p:nvSpPr>
          <p:cNvPr id="13" name="Text 9"/>
          <p:cNvSpPr txBox="1"/>
          <p:nvPr/>
        </p:nvSpPr>
        <p:spPr>
          <a:xfrm>
            <a:off x="1737360" y="2340864"/>
            <a:ext cx="3200400" cy="621792"/>
          </a:xfrm>
          <a:prstGeom prst="rect">
            <a:avLst/>
          </a:prstGeom>
          <a:noFill/>
          <a:ln/>
        </p:spPr>
        <p:txBody>
          <a:bodyPr wrap="square" lIns="0" tIns="0" rIns="0" bIns="0" rtlCol="0" anchor="ctr"/>
          <a:lstStyle/>
          <a:p>
            <a:pPr marL="0" indent="0">
              <a:buNone/>
            </a:pPr>
            <a:r>
              <a:rPr lang="en-US" sz="2100" b="1" dirty="0">
                <a:solidFill>
                  <a:srgbClr val="EAF0FF"/>
                </a:solidFill>
                <a:latin typeface="Inter" pitchFamily="34" charset="0"/>
                <a:ea typeface="Inter" pitchFamily="34" charset="-122"/>
                <a:cs typeface="Inter" pitchFamily="34" charset="-120"/>
              </a:rPr>
              <a:t>Numbered text</a:t>
            </a:r>
            <a:endParaRPr lang="en-US" sz="2100" dirty="0"/>
          </a:p>
        </p:txBody>
      </p:sp>
      <p:sp>
        <p:nvSpPr>
          <p:cNvPr id="14" name="Text 10"/>
          <p:cNvSpPr txBox="1"/>
          <p:nvPr/>
        </p:nvSpPr>
        <p:spPr>
          <a:xfrm>
            <a:off x="5029200" y="2340864"/>
            <a:ext cx="6126480" cy="621792"/>
          </a:xfrm>
          <a:prstGeom prst="rect">
            <a:avLst/>
          </a:prstGeom>
          <a:noFill/>
          <a:ln/>
        </p:spPr>
        <p:txBody>
          <a:bodyPr wrap="square" lIns="0" tIns="0" rIns="0" bIns="0" rtlCol="0" anchor="ctr"/>
          <a:lstStyle/>
          <a:p>
            <a:pPr marL="0" indent="0">
              <a:buNone/>
            </a:pPr>
            <a:r>
              <a:rPr lang="en-US" sz="1900" dirty="0">
                <a:solidFill>
                  <a:srgbClr val="9FB0D6"/>
                </a:solidFill>
                <a:latin typeface="Inter" pitchFamily="34" charset="0"/>
                <a:ea typeface="Inter" pitchFamily="34" charset="-122"/>
                <a:cs typeface="Inter" pitchFamily="34" charset="-120"/>
              </a:rPr>
              <a:t>Readable, fragile. Fine for teaching.</a:t>
            </a:r>
            <a:endParaRPr lang="en-US" sz="1900" dirty="0"/>
          </a:p>
        </p:txBody>
      </p:sp>
      <p:sp>
        <p:nvSpPr>
          <p:cNvPr id="15" name="Shape 11"/>
          <p:cNvSpPr/>
          <p:nvPr/>
        </p:nvSpPr>
        <p:spPr>
          <a:xfrm>
            <a:off x="868680" y="3054096"/>
            <a:ext cx="10424160" cy="621792"/>
          </a:xfrm>
          <a:prstGeom prst="roundRect">
            <a:avLst>
              <a:gd name="adj" fmla="val 10294"/>
            </a:avLst>
          </a:prstGeom>
          <a:solidFill>
            <a:srgbClr val="0A1024"/>
          </a:solidFill>
          <a:ln w="12700">
            <a:solidFill>
              <a:srgbClr val="1E2A55"/>
            </a:solidFill>
            <a:prstDash val="solid"/>
          </a:ln>
        </p:spPr>
      </p:sp>
      <p:sp>
        <p:nvSpPr>
          <p:cNvPr id="16" name="Text 12"/>
          <p:cNvSpPr txBox="1"/>
          <p:nvPr/>
        </p:nvSpPr>
        <p:spPr>
          <a:xfrm>
            <a:off x="1143000" y="3054096"/>
            <a:ext cx="457200" cy="621792"/>
          </a:xfrm>
          <a:prstGeom prst="rect">
            <a:avLst/>
          </a:prstGeom>
          <a:noFill/>
          <a:ln/>
        </p:spPr>
        <p:txBody>
          <a:bodyPr wrap="square" lIns="0" tIns="0" rIns="0" bIns="0" rtlCol="0" anchor="ctr"/>
          <a:lstStyle/>
          <a:p>
            <a:pPr marL="0" indent="0">
              <a:buNone/>
            </a:pPr>
            <a:r>
              <a:rPr lang="en-US" sz="1800" dirty="0">
                <a:solidFill>
                  <a:srgbClr val="817AFF"/>
                </a:solidFill>
                <a:latin typeface="Inter" pitchFamily="34" charset="0"/>
                <a:ea typeface="Inter" pitchFamily="34" charset="-122"/>
                <a:cs typeface="Inter" pitchFamily="34" charset="-120"/>
              </a:rPr>
              <a:t>3</a:t>
            </a:r>
            <a:endParaRPr lang="en-US" sz="1800" dirty="0"/>
          </a:p>
        </p:txBody>
      </p:sp>
      <p:sp>
        <p:nvSpPr>
          <p:cNvPr id="17" name="Text 13"/>
          <p:cNvSpPr txBox="1"/>
          <p:nvPr/>
        </p:nvSpPr>
        <p:spPr>
          <a:xfrm>
            <a:off x="1737360" y="3054096"/>
            <a:ext cx="3200400" cy="621792"/>
          </a:xfrm>
          <a:prstGeom prst="rect">
            <a:avLst/>
          </a:prstGeom>
          <a:noFill/>
          <a:ln/>
        </p:spPr>
        <p:txBody>
          <a:bodyPr wrap="square" lIns="0" tIns="0" rIns="0" bIns="0" rtlCol="0" anchor="ctr"/>
          <a:lstStyle/>
          <a:p>
            <a:pPr marL="0" indent="0">
              <a:buNone/>
            </a:pPr>
            <a:r>
              <a:rPr lang="en-US" sz="2100" b="1" dirty="0">
                <a:solidFill>
                  <a:srgbClr val="EAF0FF"/>
                </a:solidFill>
                <a:latin typeface="Inter" pitchFamily="34" charset="0"/>
                <a:ea typeface="Inter" pitchFamily="34" charset="-122"/>
                <a:cs typeface="Inter" pitchFamily="34" charset="-120"/>
              </a:rPr>
              <a:t>JSON</a:t>
            </a:r>
            <a:endParaRPr lang="en-US" sz="2100" dirty="0"/>
          </a:p>
        </p:txBody>
      </p:sp>
      <p:sp>
        <p:nvSpPr>
          <p:cNvPr id="18" name="Text 14"/>
          <p:cNvSpPr txBox="1"/>
          <p:nvPr/>
        </p:nvSpPr>
        <p:spPr>
          <a:xfrm>
            <a:off x="5029200" y="3054096"/>
            <a:ext cx="6126480" cy="621792"/>
          </a:xfrm>
          <a:prstGeom prst="rect">
            <a:avLst/>
          </a:prstGeom>
          <a:noFill/>
          <a:ln/>
        </p:spPr>
        <p:txBody>
          <a:bodyPr wrap="square" lIns="0" tIns="0" rIns="0" bIns="0" rtlCol="0" anchor="ctr"/>
          <a:lstStyle/>
          <a:p>
            <a:pPr marL="0" indent="0">
              <a:buNone/>
            </a:pPr>
            <a:r>
              <a:rPr lang="en-US" sz="1900" dirty="0">
                <a:solidFill>
                  <a:srgbClr val="EAF0FF"/>
                </a:solidFill>
                <a:latin typeface="Inter" pitchFamily="34" charset="0"/>
                <a:ea typeface="Inter" pitchFamily="34" charset="-122"/>
                <a:cs typeface="Inter" pitchFamily="34" charset="-120"/>
              </a:rPr>
              <a:t>Real data, if it parses. Usually it does.</a:t>
            </a:r>
            <a:endParaRPr lang="en-US" sz="1900" dirty="0"/>
          </a:p>
        </p:txBody>
      </p:sp>
      <p:sp>
        <p:nvSpPr>
          <p:cNvPr id="19" name="Shape 15"/>
          <p:cNvSpPr/>
          <p:nvPr/>
        </p:nvSpPr>
        <p:spPr>
          <a:xfrm>
            <a:off x="868680" y="3767328"/>
            <a:ext cx="10424160" cy="621792"/>
          </a:xfrm>
          <a:prstGeom prst="roundRect">
            <a:avLst>
              <a:gd name="adj" fmla="val 10294"/>
            </a:avLst>
          </a:prstGeom>
          <a:solidFill>
            <a:srgbClr val="0A1024"/>
          </a:solidFill>
          <a:ln w="12700">
            <a:solidFill>
              <a:srgbClr val="1E2A55"/>
            </a:solidFill>
            <a:prstDash val="solid"/>
          </a:ln>
        </p:spPr>
      </p:sp>
      <p:sp>
        <p:nvSpPr>
          <p:cNvPr id="20" name="Text 16"/>
          <p:cNvSpPr txBox="1"/>
          <p:nvPr/>
        </p:nvSpPr>
        <p:spPr>
          <a:xfrm>
            <a:off x="1143000" y="3767328"/>
            <a:ext cx="457200" cy="621792"/>
          </a:xfrm>
          <a:prstGeom prst="rect">
            <a:avLst/>
          </a:prstGeom>
          <a:noFill/>
          <a:ln/>
        </p:spPr>
        <p:txBody>
          <a:bodyPr wrap="square" lIns="0" tIns="0" rIns="0" bIns="0" rtlCol="0" anchor="ctr"/>
          <a:lstStyle/>
          <a:p>
            <a:pPr marL="0" indent="0">
              <a:buNone/>
            </a:pPr>
            <a:r>
              <a:rPr lang="en-US" sz="1800" dirty="0">
                <a:solidFill>
                  <a:srgbClr val="817AFF"/>
                </a:solidFill>
                <a:latin typeface="Inter" pitchFamily="34" charset="0"/>
                <a:ea typeface="Inter" pitchFamily="34" charset="-122"/>
                <a:cs typeface="Inter" pitchFamily="34" charset="-120"/>
              </a:rPr>
              <a:t>4</a:t>
            </a:r>
            <a:endParaRPr lang="en-US" sz="1800" dirty="0"/>
          </a:p>
        </p:txBody>
      </p:sp>
      <p:sp>
        <p:nvSpPr>
          <p:cNvPr id="21" name="Text 17"/>
          <p:cNvSpPr txBox="1"/>
          <p:nvPr/>
        </p:nvSpPr>
        <p:spPr>
          <a:xfrm>
            <a:off x="1737360" y="3767328"/>
            <a:ext cx="3200400" cy="621792"/>
          </a:xfrm>
          <a:prstGeom prst="rect">
            <a:avLst/>
          </a:prstGeom>
          <a:noFill/>
          <a:ln/>
        </p:spPr>
        <p:txBody>
          <a:bodyPr wrap="square" lIns="0" tIns="0" rIns="0" bIns="0" rtlCol="0" anchor="ctr"/>
          <a:lstStyle/>
          <a:p>
            <a:pPr marL="0" indent="0">
              <a:buNone/>
            </a:pPr>
            <a:r>
              <a:rPr lang="en-US" sz="2100" b="1" dirty="0">
                <a:solidFill>
                  <a:srgbClr val="EAF0FF"/>
                </a:solidFill>
                <a:latin typeface="Inter" pitchFamily="34" charset="0"/>
                <a:ea typeface="Inter" pitchFamily="34" charset="-122"/>
                <a:cs typeface="Inter" pitchFamily="34" charset="-120"/>
              </a:rPr>
              <a:t>Schema-constrained</a:t>
            </a:r>
            <a:endParaRPr lang="en-US" sz="2100" dirty="0"/>
          </a:p>
        </p:txBody>
      </p:sp>
      <p:sp>
        <p:nvSpPr>
          <p:cNvPr id="22" name="Text 18"/>
          <p:cNvSpPr txBox="1"/>
          <p:nvPr/>
        </p:nvSpPr>
        <p:spPr>
          <a:xfrm>
            <a:off x="5029200" y="3767328"/>
            <a:ext cx="6126480" cy="621792"/>
          </a:xfrm>
          <a:prstGeom prst="rect">
            <a:avLst/>
          </a:prstGeom>
          <a:noFill/>
          <a:ln/>
        </p:spPr>
        <p:txBody>
          <a:bodyPr wrap="square" lIns="0" tIns="0" rIns="0" bIns="0" rtlCol="0" anchor="ctr"/>
          <a:lstStyle/>
          <a:p>
            <a:pPr marL="0" indent="0">
              <a:buNone/>
            </a:pPr>
            <a:r>
              <a:rPr lang="en-US" sz="1900" dirty="0">
                <a:solidFill>
                  <a:srgbClr val="3FD0E6"/>
                </a:solidFill>
                <a:latin typeface="Inter" pitchFamily="34" charset="0"/>
                <a:ea typeface="Inter" pitchFamily="34" charset="-122"/>
                <a:cs typeface="Inter" pitchFamily="34" charset="-120"/>
              </a:rPr>
              <a:t>You declare the shape; output is validated.</a:t>
            </a:r>
            <a:endParaRPr lang="en-US" sz="1900" dirty="0"/>
          </a:p>
        </p:txBody>
      </p:sp>
      <p:sp>
        <p:nvSpPr>
          <p:cNvPr id="23" name="Shape 19"/>
          <p:cNvSpPr/>
          <p:nvPr/>
        </p:nvSpPr>
        <p:spPr>
          <a:xfrm>
            <a:off x="868680" y="4480560"/>
            <a:ext cx="10424160" cy="621792"/>
          </a:xfrm>
          <a:prstGeom prst="roundRect">
            <a:avLst>
              <a:gd name="adj" fmla="val 10294"/>
            </a:avLst>
          </a:prstGeom>
          <a:solidFill>
            <a:srgbClr val="1A1430"/>
          </a:solidFill>
          <a:ln w="12700">
            <a:solidFill>
              <a:srgbClr val="5A4A2A"/>
            </a:solidFill>
            <a:prstDash val="solid"/>
          </a:ln>
        </p:spPr>
      </p:sp>
      <p:sp>
        <p:nvSpPr>
          <p:cNvPr id="24" name="Text 20"/>
          <p:cNvSpPr txBox="1"/>
          <p:nvPr/>
        </p:nvSpPr>
        <p:spPr>
          <a:xfrm>
            <a:off x="1143000" y="4480560"/>
            <a:ext cx="457200" cy="621792"/>
          </a:xfrm>
          <a:prstGeom prst="rect">
            <a:avLst/>
          </a:prstGeom>
          <a:noFill/>
          <a:ln/>
        </p:spPr>
        <p:txBody>
          <a:bodyPr wrap="square" lIns="0" tIns="0" rIns="0" bIns="0" rtlCol="0" anchor="ctr"/>
          <a:lstStyle/>
          <a:p>
            <a:pPr marL="0" indent="0">
              <a:buNone/>
            </a:pPr>
            <a:r>
              <a:rPr lang="en-US" sz="1800" dirty="0">
                <a:solidFill>
                  <a:srgbClr val="F5C542"/>
                </a:solidFill>
                <a:latin typeface="Inter" pitchFamily="34" charset="0"/>
                <a:ea typeface="Inter" pitchFamily="34" charset="-122"/>
                <a:cs typeface="Inter" pitchFamily="34" charset="-120"/>
              </a:rPr>
              <a:t>5</a:t>
            </a:r>
            <a:endParaRPr lang="en-US" sz="1800" dirty="0"/>
          </a:p>
        </p:txBody>
      </p:sp>
      <p:sp>
        <p:nvSpPr>
          <p:cNvPr id="25" name="Text 21"/>
          <p:cNvSpPr txBox="1"/>
          <p:nvPr/>
        </p:nvSpPr>
        <p:spPr>
          <a:xfrm>
            <a:off x="1737360" y="4480560"/>
            <a:ext cx="3200400" cy="621792"/>
          </a:xfrm>
          <a:prstGeom prst="rect">
            <a:avLst/>
          </a:prstGeom>
          <a:noFill/>
          <a:ln/>
        </p:spPr>
        <p:txBody>
          <a:bodyPr wrap="square" lIns="0" tIns="0" rIns="0" bIns="0" rtlCol="0" anchor="ctr"/>
          <a:lstStyle/>
          <a:p>
            <a:pPr marL="0" indent="0">
              <a:buNone/>
            </a:pPr>
            <a:r>
              <a:rPr lang="en-US" sz="2100" b="1" dirty="0">
                <a:solidFill>
                  <a:srgbClr val="EAF0FF"/>
                </a:solidFill>
                <a:latin typeface="Inter" pitchFamily="34" charset="0"/>
                <a:ea typeface="Inter" pitchFamily="34" charset="-122"/>
                <a:cs typeface="Inter" pitchFamily="34" charset="-120"/>
              </a:rPr>
              <a:t>Tool or function call</a:t>
            </a:r>
            <a:endParaRPr lang="en-US" sz="2100" dirty="0"/>
          </a:p>
        </p:txBody>
      </p:sp>
      <p:sp>
        <p:nvSpPr>
          <p:cNvPr id="26" name="Text 22"/>
          <p:cNvSpPr txBox="1"/>
          <p:nvPr/>
        </p:nvSpPr>
        <p:spPr>
          <a:xfrm>
            <a:off x="5029200" y="4480560"/>
            <a:ext cx="6126480" cy="621792"/>
          </a:xfrm>
          <a:prstGeom prst="rect">
            <a:avLst/>
          </a:prstGeom>
          <a:noFill/>
          <a:ln/>
        </p:spPr>
        <p:txBody>
          <a:bodyPr wrap="square" lIns="0" tIns="0" rIns="0" bIns="0" rtlCol="0" anchor="ctr"/>
          <a:lstStyle/>
          <a:p>
            <a:pPr marL="0" indent="0">
              <a:buNone/>
            </a:pPr>
            <a:r>
              <a:rPr lang="en-US" sz="1900" dirty="0">
                <a:solidFill>
                  <a:srgbClr val="F5C542"/>
                </a:solidFill>
                <a:latin typeface="Inter" pitchFamily="34" charset="0"/>
                <a:ea typeface="Inter" pitchFamily="34" charset="-122"/>
                <a:cs typeface="Inter" pitchFamily="34" charset="-120"/>
              </a:rPr>
              <a:t>The model fills in your arguments. Strongest.</a:t>
            </a:r>
            <a:endParaRPr lang="en-US" sz="1900" dirty="0"/>
          </a:p>
        </p:txBody>
      </p:sp>
      <p:sp>
        <p:nvSpPr>
          <p:cNvPr id="27" name="Text 23"/>
          <p:cNvSpPr txBox="1"/>
          <p:nvPr/>
        </p:nvSpPr>
        <p:spPr>
          <a:xfrm>
            <a:off x="868680" y="5486400"/>
            <a:ext cx="10424160" cy="658368"/>
          </a:xfrm>
          <a:prstGeom prst="rect">
            <a:avLst/>
          </a:prstGeom>
          <a:noFill/>
          <a:ln/>
        </p:spPr>
        <p:txBody>
          <a:bodyPr wrap="square" lIns="0" tIns="0" rIns="0" bIns="0" rtlCol="0" anchor="ctr"/>
          <a:lstStyle/>
          <a:p>
            <a:pPr marL="0" indent="0">
              <a:buNone/>
            </a:pPr>
            <a:r>
              <a:rPr lang="en-US" sz="2200" dirty="0">
                <a:solidFill>
                  <a:srgbClr val="9FB0D6"/>
                </a:solidFill>
                <a:latin typeface="Inter" pitchFamily="34" charset="0"/>
                <a:ea typeface="Inter" pitchFamily="34" charset="-122"/>
                <a:cs typeface="Inter" pitchFamily="34" charset="-120"/>
              </a:rPr>
              <a:t>Natural language is for people. Structured data is for programs, and the executor is a program.</a:t>
            </a:r>
            <a:endParaRPr lang="en-US" sz="2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32</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4300" b="1" dirty="0">
                <a:solidFill>
                  <a:srgbClr val="EAF0FF"/>
                </a:solidFill>
                <a:latin typeface="Poppins" pitchFamily="34" charset="0"/>
                <a:ea typeface="Poppins" pitchFamily="34" charset="-122"/>
                <a:cs typeface="Poppins" pitchFamily="34" charset="-120"/>
              </a:rPr>
              <a:t>The execution loop</a:t>
            </a:r>
            <a:endParaRPr lang="en-US" sz="4300" dirty="0"/>
          </a:p>
        </p:txBody>
      </p:sp>
      <p:sp>
        <p:nvSpPr>
          <p:cNvPr id="7" name="Shape 3"/>
          <p:cNvSpPr/>
          <p:nvPr/>
        </p:nvSpPr>
        <p:spPr>
          <a:xfrm>
            <a:off x="868680" y="1600200"/>
            <a:ext cx="4937760" cy="3794760"/>
          </a:xfrm>
          <a:prstGeom prst="roundRect">
            <a:avLst>
              <a:gd name="adj" fmla="val 2410"/>
            </a:avLst>
          </a:prstGeom>
          <a:solidFill>
            <a:srgbClr val="0A1024"/>
          </a:solidFill>
          <a:ln w="12700">
            <a:solidFill>
              <a:srgbClr val="1E2A55"/>
            </a:solidFill>
            <a:prstDash val="solid"/>
          </a:ln>
        </p:spPr>
      </p:sp>
      <p:sp>
        <p:nvSpPr>
          <p:cNvPr id="8" name="Text 4"/>
          <p:cNvSpPr txBox="1"/>
          <p:nvPr/>
        </p:nvSpPr>
        <p:spPr>
          <a:xfrm>
            <a:off x="11795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3FD0E6"/>
                </a:solidFill>
                <a:latin typeface="Inter" pitchFamily="34" charset="0"/>
                <a:ea typeface="Inter" pitchFamily="34" charset="-122"/>
                <a:cs typeface="Inter" pitchFamily="34" charset="-120"/>
              </a:rPr>
              <a:t>EIGHT LINES, NO MAGIC</a:t>
            </a:r>
            <a:endParaRPr lang="en-US" sz="1550" dirty="0"/>
          </a:p>
        </p:txBody>
      </p:sp>
      <p:sp>
        <p:nvSpPr>
          <p:cNvPr id="9" name="Text 5"/>
          <p:cNvSpPr txBox="1"/>
          <p:nvPr/>
        </p:nvSpPr>
        <p:spPr>
          <a:xfrm>
            <a:off x="1179576" y="2258568"/>
            <a:ext cx="4315968" cy="2862072"/>
          </a:xfrm>
          <a:prstGeom prst="rect">
            <a:avLst/>
          </a:prstGeom>
          <a:noFill/>
          <a:ln/>
        </p:spPr>
        <p:txBody>
          <a:bodyPr wrap="square" lIns="0" tIns="0" rIns="0" bIns="0" rtlCol="0" anchor="t"/>
          <a:lstStyle/>
          <a:p>
            <a:pPr marL="0" indent="0">
              <a:lnSpc>
                <a:spcPct val="118000"/>
              </a:lnSpc>
              <a:spcAft>
                <a:spcPts val="748"/>
              </a:spcAft>
              <a:buNone/>
            </a:pPr>
            <a:r>
              <a:rPr lang="en-US" sz="1292" dirty="0">
                <a:solidFill>
                  <a:srgbClr val="EAF0FF"/>
                </a:solidFill>
                <a:latin typeface="Inter" pitchFamily="34" charset="0"/>
                <a:ea typeface="Inter" pitchFamily="34" charset="-122"/>
                <a:cs typeface="Inter" pitchFamily="34" charset="-120"/>
              </a:rPr>
              <a:t>Start with an empty memory. Then, for each step in the plan: run the step, and append what it produced to memory alongside the step that produced it. That is the entire executor.</a:t>
            </a:r>
            <a:endParaRPr lang="en-US" sz="1360" dirty="0"/>
          </a:p>
          <a:p>
            <a:pPr marL="0" indent="0">
              <a:lnSpc>
                <a:spcPct val="118000"/>
              </a:lnSpc>
              <a:spcAft>
                <a:spcPts val="748"/>
              </a:spcAft>
              <a:buNone/>
            </a:pPr>
            <a:r>
              <a:rPr lang="en-US" sz="1292" dirty="0">
                <a:solidFill>
                  <a:srgbClr val="9FB0D6"/>
                </a:solidFill>
                <a:latin typeface="Inter" pitchFamily="34" charset="0"/>
                <a:ea typeface="Inter" pitchFamily="34" charset="-122"/>
                <a:cs typeface="Inter" pitchFamily="34" charset="-120"/>
              </a:rPr>
              <a:t>The important detail is that the step is not run on its own. It is run with memory passed in, so every step executes in the light of everything before it.</a:t>
            </a:r>
            <a:endParaRPr lang="en-US" sz="1360" dirty="0"/>
          </a:p>
          <a:p>
            <a:pPr marL="0" indent="0">
              <a:lnSpc>
                <a:spcPct val="118000"/>
              </a:lnSpc>
              <a:spcAft>
                <a:spcPts val="748"/>
              </a:spcAft>
              <a:buNone/>
            </a:pPr>
            <a:r>
              <a:rPr lang="en-US" sz="1292" dirty="0">
                <a:solidFill>
                  <a:srgbClr val="F5C542"/>
                </a:solidFill>
                <a:latin typeface="Inter" pitchFamily="34" charset="0"/>
                <a:ea typeface="Inter" pitchFamily="34" charset="-122"/>
                <a:cs typeface="Inter" pitchFamily="34" charset="-120"/>
              </a:rPr>
              <a:t>Delete that second argument and you have four unrelated questions in a trench coat.</a:t>
            </a:r>
            <a:endParaRPr lang="en-US" sz="1360" dirty="0"/>
          </a:p>
        </p:txBody>
      </p:sp>
      <p:sp>
        <p:nvSpPr>
          <p:cNvPr id="10" name="Shape 6"/>
          <p:cNvSpPr/>
          <p:nvPr/>
        </p:nvSpPr>
        <p:spPr>
          <a:xfrm>
            <a:off x="6355080" y="1600200"/>
            <a:ext cx="4937760" cy="3794760"/>
          </a:xfrm>
          <a:prstGeom prst="roundRect">
            <a:avLst>
              <a:gd name="adj" fmla="val 2410"/>
            </a:avLst>
          </a:prstGeom>
          <a:solidFill>
            <a:srgbClr val="0A1024"/>
          </a:solidFill>
          <a:ln w="12700">
            <a:solidFill>
              <a:srgbClr val="1E2A55"/>
            </a:solidFill>
            <a:prstDash val="solid"/>
          </a:ln>
        </p:spPr>
      </p:sp>
      <p:sp>
        <p:nvSpPr>
          <p:cNvPr id="11" name="Text 7"/>
          <p:cNvSpPr txBox="1"/>
          <p:nvPr/>
        </p:nvSpPr>
        <p:spPr>
          <a:xfrm>
            <a:off x="66659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F5C542"/>
                </a:solidFill>
                <a:latin typeface="Inter" pitchFamily="34" charset="0"/>
                <a:ea typeface="Inter" pitchFamily="34" charset="-122"/>
                <a:cs typeface="Inter" pitchFamily="34" charset="-120"/>
              </a:rPr>
              <a:t>WATCH THE STATE GROW</a:t>
            </a:r>
            <a:endParaRPr lang="en-US" sz="1550" dirty="0"/>
          </a:p>
        </p:txBody>
      </p:sp>
      <p:sp>
        <p:nvSpPr>
          <p:cNvPr id="12" name="Text 8"/>
          <p:cNvSpPr txBox="1"/>
          <p:nvPr/>
        </p:nvSpPr>
        <p:spPr>
          <a:xfrm>
            <a:off x="6665976" y="2258568"/>
            <a:ext cx="4315968" cy="2862072"/>
          </a:xfrm>
          <a:prstGeom prst="rect">
            <a:avLst/>
          </a:prstGeom>
          <a:noFill/>
          <a:ln/>
        </p:spPr>
        <p:txBody>
          <a:bodyPr wrap="square" lIns="0" tIns="0" rIns="0" bIns="0" rtlCol="0" anchor="t"/>
          <a:lstStyle/>
          <a:p>
            <a:pPr marL="0" indent="0">
              <a:lnSpc>
                <a:spcPct val="118000"/>
              </a:lnSpc>
              <a:spcAft>
                <a:spcPts val="630"/>
              </a:spcAft>
              <a:buNone/>
            </a:pPr>
            <a:r>
              <a:rPr lang="en-US" sz="1330" dirty="0">
                <a:solidFill>
                  <a:srgbClr val="EAF0FF"/>
                </a:solidFill>
                <a:latin typeface="Inter" pitchFamily="34" charset="0"/>
                <a:ea typeface="Inter" pitchFamily="34" charset="-122"/>
                <a:cs typeface="Inter" pitchFamily="34" charset="-120"/>
              </a:rPr>
              <a:t>Step one selects three ML topics: regression, classification, clustering. Memory now holds the topics.</a:t>
            </a:r>
            <a:endParaRPr lang="en-US" sz="1330" dirty="0"/>
          </a:p>
          <a:p>
            <a:pPr marL="0" indent="0">
              <a:lnSpc>
                <a:spcPct val="118000"/>
              </a:lnSpc>
              <a:spcAft>
                <a:spcPts val="630"/>
              </a:spcAft>
              <a:buNone/>
            </a:pPr>
            <a:r>
              <a:rPr lang="en-US" sz="1330" dirty="0">
                <a:solidFill>
                  <a:srgbClr val="EAF0FF"/>
                </a:solidFill>
                <a:latin typeface="Inter" pitchFamily="34" charset="0"/>
                <a:ea typeface="Inter" pitchFamily="34" charset="-122"/>
                <a:cs typeface="Inter" pitchFamily="34" charset="-120"/>
              </a:rPr>
              <a:t>Step two builds a schedule for those three. Memory holds topics and schedule.</a:t>
            </a:r>
            <a:endParaRPr lang="en-US" sz="1330" dirty="0"/>
          </a:p>
          <a:p>
            <a:pPr marL="0" indent="0">
              <a:lnSpc>
                <a:spcPct val="118000"/>
              </a:lnSpc>
              <a:spcAft>
                <a:spcPts val="630"/>
              </a:spcAft>
              <a:buNone/>
            </a:pPr>
            <a:r>
              <a:rPr lang="en-US" sz="1330" dirty="0">
                <a:solidFill>
                  <a:srgbClr val="9FB0D6"/>
                </a:solidFill>
                <a:latin typeface="Inter" pitchFamily="34" charset="0"/>
                <a:ea typeface="Inter" pitchFamily="34" charset="-122"/>
                <a:cs typeface="Inter" pitchFamily="34" charset="-120"/>
              </a:rPr>
              <a:t>Step three writes one exercise per topic, timed to that schedule. Step four assembles the workshop from all of it.</a:t>
            </a:r>
            <a:endParaRPr lang="en-US" sz="1330" dirty="0"/>
          </a:p>
          <a:p>
            <a:pPr marL="0" indent="0">
              <a:lnSpc>
                <a:spcPct val="118000"/>
              </a:lnSpc>
              <a:spcAft>
                <a:spcPts val="630"/>
              </a:spcAft>
              <a:buNone/>
            </a:pPr>
            <a:r>
              <a:rPr lang="en-US" sz="1330" dirty="0">
                <a:solidFill>
                  <a:srgbClr val="F5C542"/>
                </a:solidFill>
                <a:latin typeface="Inter" pitchFamily="34" charset="0"/>
                <a:ea typeface="Inter" pitchFamily="34" charset="-122"/>
                <a:cs typeface="Inter" pitchFamily="34" charset="-120"/>
              </a:rPr>
              <a:t>Cover that growth and the whole thing falls apart.</a:t>
            </a:r>
            <a:endParaRPr lang="en-US" sz="133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33</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4300" b="1" dirty="0">
                <a:solidFill>
                  <a:srgbClr val="EAF0FF"/>
                </a:solidFill>
                <a:latin typeface="Poppins" pitchFamily="34" charset="0"/>
                <a:ea typeface="Poppins" pitchFamily="34" charset="-122"/>
                <a:cs typeface="Poppins" pitchFamily="34" charset="-120"/>
              </a:rPr>
              <a:t>Execution: </a:t>
            </a:r>
            <a:r>
              <a:rPr lang="en-US" sz="4300" b="1" dirty="0">
                <a:solidFill>
                  <a:srgbClr val="3FD0E6"/>
                </a:solidFill>
                <a:latin typeface="Poppins" pitchFamily="34" charset="0"/>
                <a:ea typeface="Poppins" pitchFamily="34" charset="-122"/>
                <a:cs typeface="Poppins" pitchFamily="34" charset="-120"/>
              </a:rPr>
              <a:t>memory is the state</a:t>
            </a:r>
            <a:endParaRPr lang="en-US" sz="4300" dirty="0"/>
          </a:p>
        </p:txBody>
      </p:sp>
      <p:sp>
        <p:nvSpPr>
          <p:cNvPr id="7" name="Text 3"/>
          <p:cNvSpPr txBox="1"/>
          <p:nvPr/>
        </p:nvSpPr>
        <p:spPr>
          <a:xfrm>
            <a:off x="868680" y="1554480"/>
            <a:ext cx="10424160" cy="548640"/>
          </a:xfrm>
          <a:prstGeom prst="rect">
            <a:avLst/>
          </a:prstGeom>
          <a:noFill/>
          <a:ln/>
        </p:spPr>
        <p:txBody>
          <a:bodyPr wrap="square" lIns="0" tIns="0" rIns="0" bIns="0" rtlCol="0" anchor="ctr"/>
          <a:lstStyle/>
          <a:p>
            <a:pPr marL="0" indent="0" algn="ctr">
              <a:buNone/>
            </a:pPr>
            <a:r>
              <a:rPr lang="en-US" sz="3000" b="1" dirty="0">
                <a:solidFill>
                  <a:srgbClr val="3FD0E6"/>
                </a:solidFill>
                <a:latin typeface="Poppins" pitchFamily="34" charset="0"/>
                <a:ea typeface="Poppins" pitchFamily="34" charset="-122"/>
                <a:cs typeface="Poppins" pitchFamily="34" charset="-120"/>
              </a:rPr>
              <a:t>S₀</a:t>
            </a:r>
            <a:r>
              <a:rPr lang="en-US" sz="3000" b="1" dirty="0">
                <a:solidFill>
                  <a:srgbClr val="6E80B4"/>
                </a:solidFill>
                <a:latin typeface="Poppins" pitchFamily="34" charset="0"/>
                <a:ea typeface="Poppins" pitchFamily="34" charset="-122"/>
                <a:cs typeface="Poppins" pitchFamily="34" charset="-120"/>
              </a:rPr>
              <a:t>  →  </a:t>
            </a:r>
            <a:r>
              <a:rPr lang="en-US" sz="3000" b="1" dirty="0">
                <a:solidFill>
                  <a:srgbClr val="3FD0E6"/>
                </a:solidFill>
                <a:latin typeface="Poppins" pitchFamily="34" charset="0"/>
                <a:ea typeface="Poppins" pitchFamily="34" charset="-122"/>
                <a:cs typeface="Poppins" pitchFamily="34" charset="-120"/>
              </a:rPr>
              <a:t>S₁</a:t>
            </a:r>
            <a:r>
              <a:rPr lang="en-US" sz="3000" b="1" dirty="0">
                <a:solidFill>
                  <a:srgbClr val="6E80B4"/>
                </a:solidFill>
                <a:latin typeface="Poppins" pitchFamily="34" charset="0"/>
                <a:ea typeface="Poppins" pitchFamily="34" charset="-122"/>
                <a:cs typeface="Poppins" pitchFamily="34" charset="-120"/>
              </a:rPr>
              <a:t>  →  </a:t>
            </a:r>
            <a:r>
              <a:rPr lang="en-US" sz="3000" b="1" dirty="0">
                <a:solidFill>
                  <a:srgbClr val="3FD0E6"/>
                </a:solidFill>
                <a:latin typeface="Poppins" pitchFamily="34" charset="0"/>
                <a:ea typeface="Poppins" pitchFamily="34" charset="-122"/>
                <a:cs typeface="Poppins" pitchFamily="34" charset="-120"/>
              </a:rPr>
              <a:t>S₂</a:t>
            </a:r>
            <a:r>
              <a:rPr lang="en-US" sz="3000" b="1" dirty="0">
                <a:solidFill>
                  <a:srgbClr val="6E80B4"/>
                </a:solidFill>
                <a:latin typeface="Poppins" pitchFamily="34" charset="0"/>
                <a:ea typeface="Poppins" pitchFamily="34" charset="-122"/>
                <a:cs typeface="Poppins" pitchFamily="34" charset="-120"/>
              </a:rPr>
              <a:t>  →  </a:t>
            </a:r>
            <a:r>
              <a:rPr lang="en-US" sz="3000" b="1" dirty="0">
                <a:solidFill>
                  <a:srgbClr val="3FD0E6"/>
                </a:solidFill>
                <a:latin typeface="Poppins" pitchFamily="34" charset="0"/>
                <a:ea typeface="Poppins" pitchFamily="34" charset="-122"/>
                <a:cs typeface="Poppins" pitchFamily="34" charset="-120"/>
              </a:rPr>
              <a:t>S₃</a:t>
            </a:r>
            <a:r>
              <a:rPr lang="en-US" sz="3000" b="1" dirty="0">
                <a:solidFill>
                  <a:srgbClr val="6E80B4"/>
                </a:solidFill>
                <a:latin typeface="Poppins" pitchFamily="34" charset="0"/>
                <a:ea typeface="Poppins" pitchFamily="34" charset="-122"/>
                <a:cs typeface="Poppins" pitchFamily="34" charset="-120"/>
              </a:rPr>
              <a:t>  →  …</a:t>
            </a:r>
            <a:endParaRPr lang="en-US" sz="3000" dirty="0"/>
          </a:p>
        </p:txBody>
      </p:sp>
      <p:sp>
        <p:nvSpPr>
          <p:cNvPr id="8" name="Shape 4"/>
          <p:cNvSpPr/>
          <p:nvPr/>
        </p:nvSpPr>
        <p:spPr>
          <a:xfrm>
            <a:off x="868680" y="2212848"/>
            <a:ext cx="4937760" cy="3182112"/>
          </a:xfrm>
          <a:prstGeom prst="roundRect">
            <a:avLst>
              <a:gd name="adj" fmla="val 2874"/>
            </a:avLst>
          </a:prstGeom>
          <a:solidFill>
            <a:srgbClr val="0A1024"/>
          </a:solidFill>
          <a:ln w="12700">
            <a:solidFill>
              <a:srgbClr val="1E2A55"/>
            </a:solidFill>
            <a:prstDash val="solid"/>
          </a:ln>
        </p:spPr>
      </p:sp>
      <p:sp>
        <p:nvSpPr>
          <p:cNvPr id="9" name="Text 5"/>
          <p:cNvSpPr txBox="1"/>
          <p:nvPr/>
        </p:nvSpPr>
        <p:spPr>
          <a:xfrm>
            <a:off x="1179576" y="2432304"/>
            <a:ext cx="4389120" cy="274320"/>
          </a:xfrm>
          <a:prstGeom prst="rect">
            <a:avLst/>
          </a:prstGeom>
          <a:noFill/>
          <a:ln/>
        </p:spPr>
        <p:txBody>
          <a:bodyPr wrap="square" lIns="0" tIns="0" rIns="0" bIns="0" rtlCol="0" anchor="ctr"/>
          <a:lstStyle/>
          <a:p>
            <a:pPr marL="0" indent="0">
              <a:buNone/>
            </a:pPr>
            <a:r>
              <a:rPr lang="en-US" sz="1550" b="1" kern="0" spc="200" dirty="0">
                <a:solidFill>
                  <a:srgbClr val="3FD0E6"/>
                </a:solidFill>
                <a:latin typeface="Inter" pitchFamily="34" charset="0"/>
                <a:ea typeface="Inter" pitchFamily="34" charset="-122"/>
                <a:cs typeface="Inter" pitchFamily="34" charset="-120"/>
              </a:rPr>
              <a:t>A STATE MACHINE</a:t>
            </a:r>
            <a:endParaRPr lang="en-US" sz="1550" dirty="0"/>
          </a:p>
        </p:txBody>
      </p:sp>
      <p:sp>
        <p:nvSpPr>
          <p:cNvPr id="10" name="Text 6"/>
          <p:cNvSpPr txBox="1"/>
          <p:nvPr/>
        </p:nvSpPr>
        <p:spPr>
          <a:xfrm>
            <a:off x="1179576" y="2871216"/>
            <a:ext cx="4315968" cy="2249424"/>
          </a:xfrm>
          <a:prstGeom prst="rect">
            <a:avLst/>
          </a:prstGeom>
          <a:noFill/>
          <a:ln/>
        </p:spPr>
        <p:txBody>
          <a:bodyPr wrap="square" lIns="0" tIns="0" rIns="0" bIns="0" rtlCol="0" anchor="t"/>
          <a:lstStyle/>
          <a:p>
            <a:pPr marL="0" indent="0">
              <a:lnSpc>
                <a:spcPct val="118000"/>
              </a:lnSpc>
              <a:spcAft>
                <a:spcPts val="680"/>
              </a:spcAft>
              <a:buNone/>
            </a:pPr>
            <a:r>
              <a:rPr lang="en-US" sz="1292" dirty="0">
                <a:solidFill>
                  <a:srgbClr val="EAF0FF"/>
                </a:solidFill>
                <a:latin typeface="Inter" pitchFamily="34" charset="0"/>
                <a:ea typeface="Inter" pitchFamily="34" charset="-122"/>
                <a:cs typeface="Inter" pitchFamily="34" charset="-120"/>
              </a:rPr>
              <a:t>Start from the initial state: the task and nothing else. Each step is a transition that takes the current state, does one thing, and returns a new state.</a:t>
            </a:r>
            <a:endParaRPr lang="en-US" sz="1292" dirty="0"/>
          </a:p>
          <a:p>
            <a:pPr marL="0" indent="0">
              <a:lnSpc>
                <a:spcPct val="118000"/>
              </a:lnSpc>
              <a:spcAft>
                <a:spcPts val="680"/>
              </a:spcAft>
              <a:buNone/>
            </a:pPr>
            <a:r>
              <a:rPr lang="en-US" sz="1292" dirty="0">
                <a:solidFill>
                  <a:srgbClr val="9FB0D6"/>
                </a:solidFill>
                <a:latin typeface="Inter" pitchFamily="34" charset="0"/>
                <a:ea typeface="Inter" pitchFamily="34" charset="-122"/>
                <a:cs typeface="Inter" pitchFamily="34" charset="-120"/>
              </a:rPr>
              <a:t>Anyone who has met automata, or reducers, will recognise the shape immediately.</a:t>
            </a:r>
            <a:endParaRPr lang="en-US" sz="1292" dirty="0"/>
          </a:p>
          <a:p>
            <a:pPr marL="0" indent="0">
              <a:lnSpc>
                <a:spcPct val="118000"/>
              </a:lnSpc>
              <a:spcAft>
                <a:spcPts val="680"/>
              </a:spcAft>
              <a:buNone/>
            </a:pPr>
            <a:r>
              <a:rPr lang="en-US" sz="1292" dirty="0">
                <a:solidFill>
                  <a:srgbClr val="F5C542"/>
                </a:solidFill>
                <a:latin typeface="Inter" pitchFamily="34" charset="0"/>
                <a:ea typeface="Inter" pitchFamily="34" charset="-122"/>
                <a:cs typeface="Inter" pitchFamily="34" charset="-120"/>
              </a:rPr>
              <a:t>“It remembers” cannot be tested. “State two is state one with step two applied to it” can be.</a:t>
            </a:r>
            <a:endParaRPr lang="en-US" sz="1292" dirty="0"/>
          </a:p>
        </p:txBody>
      </p:sp>
      <p:sp>
        <p:nvSpPr>
          <p:cNvPr id="11" name="Shape 7"/>
          <p:cNvSpPr/>
          <p:nvPr/>
        </p:nvSpPr>
        <p:spPr>
          <a:xfrm>
            <a:off x="6355080" y="2212848"/>
            <a:ext cx="4937760" cy="3182112"/>
          </a:xfrm>
          <a:prstGeom prst="roundRect">
            <a:avLst>
              <a:gd name="adj" fmla="val 2874"/>
            </a:avLst>
          </a:prstGeom>
          <a:solidFill>
            <a:srgbClr val="0A1024"/>
          </a:solidFill>
          <a:ln w="12700">
            <a:solidFill>
              <a:srgbClr val="1E2A55"/>
            </a:solidFill>
            <a:prstDash val="solid"/>
          </a:ln>
        </p:spPr>
      </p:sp>
      <p:sp>
        <p:nvSpPr>
          <p:cNvPr id="12" name="Text 8"/>
          <p:cNvSpPr txBox="1"/>
          <p:nvPr/>
        </p:nvSpPr>
        <p:spPr>
          <a:xfrm>
            <a:off x="6665976" y="2432304"/>
            <a:ext cx="4389120" cy="274320"/>
          </a:xfrm>
          <a:prstGeom prst="rect">
            <a:avLst/>
          </a:prstGeom>
          <a:noFill/>
          <a:ln/>
        </p:spPr>
        <p:txBody>
          <a:bodyPr wrap="square" lIns="0" tIns="0" rIns="0" bIns="0" rtlCol="0" anchor="ctr"/>
          <a:lstStyle/>
          <a:p>
            <a:pPr marL="0" indent="0">
              <a:buNone/>
            </a:pPr>
            <a:r>
              <a:rPr lang="en-US" sz="1550" b="1" kern="0" spc="200" dirty="0">
                <a:solidFill>
                  <a:srgbClr val="F5C542"/>
                </a:solidFill>
                <a:latin typeface="Inter" pitchFamily="34" charset="0"/>
                <a:ea typeface="Inter" pitchFamily="34" charset="-122"/>
                <a:cs typeface="Inter" pitchFamily="34" charset="-120"/>
              </a:rPr>
              <a:t>WHAT THE STATE HOLDS</a:t>
            </a:r>
            <a:endParaRPr lang="en-US" sz="1550" dirty="0"/>
          </a:p>
        </p:txBody>
      </p:sp>
      <p:sp>
        <p:nvSpPr>
          <p:cNvPr id="13" name="Text 9"/>
          <p:cNvSpPr txBox="1"/>
          <p:nvPr/>
        </p:nvSpPr>
        <p:spPr>
          <a:xfrm>
            <a:off x="6665976" y="2871216"/>
            <a:ext cx="4315968" cy="2249424"/>
          </a:xfrm>
          <a:prstGeom prst="rect">
            <a:avLst/>
          </a:prstGeom>
          <a:noFill/>
          <a:ln/>
        </p:spPr>
        <p:txBody>
          <a:bodyPr wrap="square" lIns="0" tIns="0" rIns="0" bIns="0" rtlCol="0" anchor="t"/>
          <a:lstStyle/>
          <a:p>
            <a:pPr marL="0" indent="0">
              <a:lnSpc>
                <a:spcPct val="118000"/>
              </a:lnSpc>
              <a:spcAft>
                <a:spcPts val="680"/>
              </a:spcAft>
              <a:buNone/>
            </a:pPr>
            <a:r>
              <a:rPr lang="en-US" sz="1292" dirty="0">
                <a:solidFill>
                  <a:srgbClr val="EAF0FF"/>
                </a:solidFill>
                <a:latin typeface="Inter" pitchFamily="34" charset="0"/>
                <a:ea typeface="Inter" pitchFamily="34" charset="-122"/>
                <a:cs typeface="Inter" pitchFamily="34" charset="-120"/>
              </a:rPr>
              <a:t>The task, the plan, which step we are on, which steps are finished, and the results each one produced.</a:t>
            </a:r>
            <a:endParaRPr lang="en-US" sz="1292" dirty="0"/>
          </a:p>
          <a:p>
            <a:pPr marL="0" indent="0">
              <a:lnSpc>
                <a:spcPct val="118000"/>
              </a:lnSpc>
              <a:spcAft>
                <a:spcPts val="680"/>
              </a:spcAft>
              <a:buNone/>
            </a:pPr>
            <a:r>
              <a:rPr lang="en-US" sz="1292" dirty="0">
                <a:solidFill>
                  <a:srgbClr val="9FB0D6"/>
                </a:solidFill>
                <a:latin typeface="Inter" pitchFamily="34" charset="0"/>
                <a:ea typeface="Inter" pitchFamily="34" charset="-122"/>
                <a:cs typeface="Inter" pitchFamily="34" charset="-120"/>
              </a:rPr>
              <a:t>The executor takes the current state and the current step, performs it, and returns a new state. That is the whole contract.</a:t>
            </a:r>
            <a:endParaRPr lang="en-US" sz="1292" dirty="0"/>
          </a:p>
          <a:p>
            <a:pPr marL="0" indent="0">
              <a:lnSpc>
                <a:spcPct val="118000"/>
              </a:lnSpc>
              <a:spcAft>
                <a:spcPts val="680"/>
              </a:spcAft>
              <a:buNone/>
            </a:pPr>
            <a:r>
              <a:rPr lang="en-US" sz="1292" dirty="0">
                <a:solidFill>
                  <a:srgbClr val="9FB0D6"/>
                </a:solidFill>
                <a:latin typeface="Inter" pitchFamily="34" charset="0"/>
                <a:ea typeface="Inter" pitchFamily="34" charset="-122"/>
                <a:cs typeface="Inter" pitchFamily="34" charset="-120"/>
              </a:rPr>
              <a:t>Test for completeness: if the process died right now and you had this on disk, could you carry on? If yes, your state is complete.</a:t>
            </a:r>
            <a:endParaRPr lang="en-US" sz="1292"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34</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3100" b="1" dirty="0">
                <a:solidFill>
                  <a:srgbClr val="EAF0FF"/>
                </a:solidFill>
                <a:latin typeface="Poppins" pitchFamily="34" charset="0"/>
                <a:ea typeface="Poppins" pitchFamily="34" charset="-122"/>
                <a:cs typeface="Poppins" pitchFamily="34" charset="-120"/>
              </a:rPr>
              <a:t>Two patterns: </a:t>
            </a:r>
            <a:r>
              <a:rPr lang="en-US" sz="3100" b="1" dirty="0">
                <a:solidFill>
                  <a:srgbClr val="3FD0E6"/>
                </a:solidFill>
                <a:latin typeface="Poppins" pitchFamily="34" charset="0"/>
                <a:ea typeface="Poppins" pitchFamily="34" charset="-122"/>
                <a:cs typeface="Poppins" pitchFamily="34" charset="-120"/>
              </a:rPr>
              <a:t>plan-and-execute, and ReAct</a:t>
            </a:r>
            <a:endParaRPr lang="en-US" sz="3100" dirty="0"/>
          </a:p>
        </p:txBody>
      </p:sp>
      <p:sp>
        <p:nvSpPr>
          <p:cNvPr id="7" name="Shape 3"/>
          <p:cNvSpPr/>
          <p:nvPr/>
        </p:nvSpPr>
        <p:spPr>
          <a:xfrm>
            <a:off x="868680" y="1600200"/>
            <a:ext cx="4937760" cy="3794760"/>
          </a:xfrm>
          <a:prstGeom prst="roundRect">
            <a:avLst>
              <a:gd name="adj" fmla="val 2410"/>
            </a:avLst>
          </a:prstGeom>
          <a:solidFill>
            <a:srgbClr val="0A1024"/>
          </a:solidFill>
          <a:ln w="12700">
            <a:solidFill>
              <a:srgbClr val="1E2A55"/>
            </a:solidFill>
            <a:prstDash val="solid"/>
          </a:ln>
        </p:spPr>
      </p:sp>
      <p:sp>
        <p:nvSpPr>
          <p:cNvPr id="8" name="Text 4"/>
          <p:cNvSpPr txBox="1"/>
          <p:nvPr/>
        </p:nvSpPr>
        <p:spPr>
          <a:xfrm>
            <a:off x="11795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3FD0E6"/>
                </a:solidFill>
                <a:latin typeface="Inter" pitchFamily="34" charset="0"/>
                <a:ea typeface="Inter" pitchFamily="34" charset="-122"/>
                <a:cs typeface="Inter" pitchFamily="34" charset="-120"/>
              </a:rPr>
              <a:t>PLAN-AND-EXECUTE</a:t>
            </a:r>
            <a:endParaRPr lang="en-US" sz="1550" dirty="0"/>
          </a:p>
        </p:txBody>
      </p:sp>
      <p:sp>
        <p:nvSpPr>
          <p:cNvPr id="9" name="Text 5"/>
          <p:cNvSpPr txBox="1"/>
          <p:nvPr/>
        </p:nvSpPr>
        <p:spPr>
          <a:xfrm>
            <a:off x="1179576" y="2258568"/>
            <a:ext cx="4315968" cy="2862072"/>
          </a:xfrm>
          <a:prstGeom prst="rect">
            <a:avLst/>
          </a:prstGeom>
          <a:noFill/>
          <a:ln/>
        </p:spPr>
        <p:txBody>
          <a:bodyPr wrap="square" lIns="0" tIns="0" rIns="0" bIns="0" rtlCol="0" anchor="t"/>
          <a:lstStyle/>
          <a:p>
            <a:pPr marL="0" indent="0">
              <a:lnSpc>
                <a:spcPct val="118000"/>
              </a:lnSpc>
              <a:spcAft>
                <a:spcPts val="730"/>
              </a:spcAft>
              <a:buNone/>
            </a:pPr>
            <a:r>
              <a:rPr lang="en-US" sz="1460" dirty="0">
                <a:solidFill>
                  <a:srgbClr val="EAF0FF"/>
                </a:solidFill>
                <a:latin typeface="Inter" pitchFamily="34" charset="0"/>
                <a:ea typeface="Inter" pitchFamily="34" charset="-122"/>
                <a:cs typeface="Inter" pitchFamily="34" charset="-120"/>
              </a:rPr>
              <a:t>The planner answers: what should happen? The executor answers: now do this one.</a:t>
            </a:r>
            <a:endParaRPr lang="en-US" sz="1460" dirty="0"/>
          </a:p>
          <a:p>
            <a:pPr marL="0" indent="0">
              <a:lnSpc>
                <a:spcPct val="118000"/>
              </a:lnSpc>
              <a:spcAft>
                <a:spcPts val="730"/>
              </a:spcAft>
              <a:buNone/>
            </a:pPr>
            <a:r>
              <a:rPr lang="en-US" sz="1387" dirty="0">
                <a:solidFill>
                  <a:srgbClr val="9FB0D6"/>
                </a:solidFill>
                <a:latin typeface="Inter" pitchFamily="34" charset="0"/>
                <a:ea typeface="Inter" pitchFamily="34" charset="-122"/>
                <a:cs typeface="Inter" pitchFamily="34" charset="-120"/>
              </a:rPr>
              <a:t>The whole plan is produced first, then walked. Separation of concerns: one component decides, another performs.</a:t>
            </a:r>
            <a:endParaRPr lang="en-US" sz="1460" dirty="0"/>
          </a:p>
          <a:p>
            <a:pPr marL="0" indent="0">
              <a:lnSpc>
                <a:spcPct val="118000"/>
              </a:lnSpc>
              <a:spcAft>
                <a:spcPts val="730"/>
              </a:spcAft>
              <a:buNone/>
            </a:pPr>
            <a:r>
              <a:rPr lang="en-US" sz="1387" dirty="0">
                <a:solidFill>
                  <a:srgbClr val="9FB0D6"/>
                </a:solidFill>
                <a:latin typeface="Inter" pitchFamily="34" charset="0"/>
                <a:ea typeface="Inter" pitchFamily="34" charset="-122"/>
                <a:cs typeface="Inter" pitchFamily="34" charset="-120"/>
              </a:rPr>
              <a:t>So you can read the plan before a single step runs, approve it, log it, diff it, retry one step, or swap the executor without touching the planner.</a:t>
            </a:r>
            <a:endParaRPr lang="en-US" sz="1460" dirty="0"/>
          </a:p>
        </p:txBody>
      </p:sp>
      <p:sp>
        <p:nvSpPr>
          <p:cNvPr id="10" name="Shape 6"/>
          <p:cNvSpPr/>
          <p:nvPr/>
        </p:nvSpPr>
        <p:spPr>
          <a:xfrm>
            <a:off x="6355080" y="1600200"/>
            <a:ext cx="4937760" cy="3794760"/>
          </a:xfrm>
          <a:prstGeom prst="roundRect">
            <a:avLst>
              <a:gd name="adj" fmla="val 2410"/>
            </a:avLst>
          </a:prstGeom>
          <a:solidFill>
            <a:srgbClr val="0A1024"/>
          </a:solidFill>
          <a:ln w="12700">
            <a:solidFill>
              <a:srgbClr val="1E2A55"/>
            </a:solidFill>
            <a:prstDash val="solid"/>
          </a:ln>
        </p:spPr>
      </p:sp>
      <p:sp>
        <p:nvSpPr>
          <p:cNvPr id="11" name="Text 7"/>
          <p:cNvSpPr txBox="1"/>
          <p:nvPr/>
        </p:nvSpPr>
        <p:spPr>
          <a:xfrm>
            <a:off x="66659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F5C542"/>
                </a:solidFill>
                <a:latin typeface="Inter" pitchFamily="34" charset="0"/>
                <a:ea typeface="Inter" pitchFamily="34" charset="-122"/>
                <a:cs typeface="Inter" pitchFamily="34" charset="-120"/>
              </a:rPr>
              <a:t>REACT</a:t>
            </a:r>
            <a:endParaRPr lang="en-US" sz="1550" dirty="0"/>
          </a:p>
        </p:txBody>
      </p:sp>
      <p:sp>
        <p:nvSpPr>
          <p:cNvPr id="12" name="Text 8"/>
          <p:cNvSpPr txBox="1"/>
          <p:nvPr/>
        </p:nvSpPr>
        <p:spPr>
          <a:xfrm>
            <a:off x="6665976" y="2258568"/>
            <a:ext cx="4315968" cy="2862072"/>
          </a:xfrm>
          <a:prstGeom prst="rect">
            <a:avLst/>
          </a:prstGeom>
          <a:noFill/>
          <a:ln/>
        </p:spPr>
        <p:txBody>
          <a:bodyPr wrap="square" lIns="0" tIns="0" rIns="0" bIns="0" rtlCol="0" anchor="t"/>
          <a:lstStyle/>
          <a:p>
            <a:pPr marL="0" indent="0">
              <a:lnSpc>
                <a:spcPct val="118000"/>
              </a:lnSpc>
              <a:spcAft>
                <a:spcPts val="869"/>
              </a:spcAft>
              <a:buNone/>
            </a:pPr>
            <a:r>
              <a:rPr lang="en-US" sz="1580" dirty="0">
                <a:solidFill>
                  <a:srgbClr val="EAF0FF"/>
                </a:solidFill>
                <a:latin typeface="Inter" pitchFamily="34" charset="0"/>
                <a:ea typeface="Inter" pitchFamily="34" charset="-122"/>
                <a:cs typeface="Inter" pitchFamily="34" charset="-120"/>
              </a:rPr>
              <a:t>Reason about what you need, act by calling a tool, observe what came back, and go around again until it is done.</a:t>
            </a:r>
            <a:endParaRPr lang="en-US" sz="1580" dirty="0"/>
          </a:p>
          <a:p>
            <a:pPr marL="0" indent="0">
              <a:lnSpc>
                <a:spcPct val="118000"/>
              </a:lnSpc>
              <a:spcAft>
                <a:spcPts val="869"/>
              </a:spcAft>
              <a:buNone/>
            </a:pPr>
            <a:r>
              <a:rPr lang="en-US" sz="1501" dirty="0">
                <a:solidFill>
                  <a:srgbClr val="9FB0D6"/>
                </a:solidFill>
                <a:latin typeface="Inter" pitchFamily="34" charset="0"/>
                <a:ea typeface="Inter" pitchFamily="34" charset="-122"/>
                <a:cs typeface="Inter" pitchFamily="34" charset="-120"/>
              </a:rPr>
              <a:t>There is no plan. The next action is chosen from what the last observation actually said.</a:t>
            </a:r>
            <a:endParaRPr lang="en-US" sz="1580" dirty="0"/>
          </a:p>
          <a:p>
            <a:pPr marL="0" indent="0">
              <a:lnSpc>
                <a:spcPct val="118000"/>
              </a:lnSpc>
              <a:spcAft>
                <a:spcPts val="869"/>
              </a:spcAft>
              <a:buNone/>
            </a:pPr>
            <a:r>
              <a:rPr lang="en-US" sz="1501" dirty="0">
                <a:solidFill>
                  <a:srgbClr val="F5C542"/>
                </a:solidFill>
                <a:latin typeface="Inter" pitchFamily="34" charset="0"/>
                <a:ea typeface="Inter" pitchFamily="34" charset="-122"/>
                <a:cs typeface="Inter" pitchFamily="34" charset="-120"/>
              </a:rPr>
              <a:t>This is the loop you built in session two. It already had reason, act and observe in it.</a:t>
            </a:r>
            <a:endParaRPr lang="en-US" sz="158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35</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4300" b="1" dirty="0">
                <a:solidFill>
                  <a:srgbClr val="EAF0FF"/>
                </a:solidFill>
                <a:latin typeface="Poppins" pitchFamily="34" charset="0"/>
                <a:ea typeface="Poppins" pitchFamily="34" charset="-122"/>
                <a:cs typeface="Poppins" pitchFamily="34" charset="-120"/>
              </a:rPr>
              <a:t>ReAct: </a:t>
            </a:r>
            <a:r>
              <a:rPr lang="en-US" sz="4300" b="1" dirty="0">
                <a:solidFill>
                  <a:srgbClr val="3FD0E6"/>
                </a:solidFill>
                <a:latin typeface="Poppins" pitchFamily="34" charset="0"/>
                <a:ea typeface="Poppins" pitchFamily="34" charset="-122"/>
                <a:cs typeface="Poppins" pitchFamily="34" charset="-120"/>
              </a:rPr>
              <a:t>a worked trace</a:t>
            </a:r>
            <a:endParaRPr lang="en-US" sz="4300" dirty="0"/>
          </a:p>
        </p:txBody>
      </p:sp>
      <p:sp>
        <p:nvSpPr>
          <p:cNvPr id="7" name="Text 3"/>
          <p:cNvSpPr txBox="1"/>
          <p:nvPr/>
        </p:nvSpPr>
        <p:spPr>
          <a:xfrm>
            <a:off x="960120" y="1627632"/>
            <a:ext cx="1645920" cy="420624"/>
          </a:xfrm>
          <a:prstGeom prst="rect">
            <a:avLst/>
          </a:prstGeom>
          <a:noFill/>
          <a:ln/>
        </p:spPr>
        <p:txBody>
          <a:bodyPr wrap="square" lIns="0" tIns="0" rIns="0" bIns="0" rtlCol="0" anchor="ctr"/>
          <a:lstStyle/>
          <a:p>
            <a:pPr marL="0" indent="0">
              <a:buNone/>
            </a:pPr>
            <a:r>
              <a:rPr lang="en-US" sz="1550" b="1" kern="0" spc="150" dirty="0">
                <a:solidFill>
                  <a:srgbClr val="8AF0FB"/>
                </a:solidFill>
                <a:latin typeface="Inter" pitchFamily="34" charset="0"/>
                <a:ea typeface="Inter" pitchFamily="34" charset="-122"/>
                <a:cs typeface="Inter" pitchFamily="34" charset="-120"/>
              </a:rPr>
              <a:t>USER</a:t>
            </a:r>
            <a:endParaRPr lang="en-US" sz="1550" dirty="0"/>
          </a:p>
        </p:txBody>
      </p:sp>
      <p:sp>
        <p:nvSpPr>
          <p:cNvPr id="8" name="Text 4"/>
          <p:cNvSpPr txBox="1"/>
          <p:nvPr/>
        </p:nvSpPr>
        <p:spPr>
          <a:xfrm>
            <a:off x="2743200" y="1627632"/>
            <a:ext cx="8549640" cy="420624"/>
          </a:xfrm>
          <a:prstGeom prst="rect">
            <a:avLst/>
          </a:prstGeom>
          <a:noFill/>
          <a:ln/>
        </p:spPr>
        <p:txBody>
          <a:bodyPr wrap="square" lIns="0" tIns="0" rIns="0" bIns="0" rtlCol="0" anchor="ctr"/>
          <a:lstStyle/>
          <a:p>
            <a:pPr marL="0" indent="0">
              <a:buNone/>
            </a:pPr>
            <a:r>
              <a:rPr lang="en-US" sz="2000" dirty="0">
                <a:solidFill>
                  <a:srgbClr val="EAF0FF"/>
                </a:solidFill>
                <a:latin typeface="Inter" pitchFamily="34" charset="0"/>
                <a:ea typeface="Inter" pitchFamily="34" charset="-122"/>
                <a:cs typeface="Inter" pitchFamily="34" charset="-120"/>
              </a:rPr>
              <a:t>Find the cheapest suitable flight.</a:t>
            </a:r>
            <a:endParaRPr lang="en-US" sz="2000" dirty="0"/>
          </a:p>
        </p:txBody>
      </p:sp>
      <p:sp>
        <p:nvSpPr>
          <p:cNvPr id="9" name="Text 5"/>
          <p:cNvSpPr txBox="1"/>
          <p:nvPr/>
        </p:nvSpPr>
        <p:spPr>
          <a:xfrm>
            <a:off x="960120" y="2084832"/>
            <a:ext cx="1645920" cy="420624"/>
          </a:xfrm>
          <a:prstGeom prst="rect">
            <a:avLst/>
          </a:prstGeom>
          <a:noFill/>
          <a:ln/>
        </p:spPr>
        <p:txBody>
          <a:bodyPr wrap="square" lIns="0" tIns="0" rIns="0" bIns="0" rtlCol="0" anchor="ctr"/>
          <a:lstStyle/>
          <a:p>
            <a:pPr marL="0" indent="0">
              <a:buNone/>
            </a:pPr>
            <a:r>
              <a:rPr lang="en-US" sz="1550" b="1" kern="0" spc="150" dirty="0">
                <a:solidFill>
                  <a:srgbClr val="817AFF"/>
                </a:solidFill>
                <a:latin typeface="Inter" pitchFamily="34" charset="0"/>
                <a:ea typeface="Inter" pitchFamily="34" charset="-122"/>
                <a:cs typeface="Inter" pitchFamily="34" charset="-120"/>
              </a:rPr>
              <a:t>REASON</a:t>
            </a:r>
            <a:endParaRPr lang="en-US" sz="1550" dirty="0"/>
          </a:p>
        </p:txBody>
      </p:sp>
      <p:sp>
        <p:nvSpPr>
          <p:cNvPr id="10" name="Text 6"/>
          <p:cNvSpPr txBox="1"/>
          <p:nvPr/>
        </p:nvSpPr>
        <p:spPr>
          <a:xfrm>
            <a:off x="2743200" y="2084832"/>
            <a:ext cx="8549640" cy="420624"/>
          </a:xfrm>
          <a:prstGeom prst="rect">
            <a:avLst/>
          </a:prstGeom>
          <a:noFill/>
          <a:ln/>
        </p:spPr>
        <p:txBody>
          <a:bodyPr wrap="square" lIns="0" tIns="0" rIns="0" bIns="0" rtlCol="0" anchor="ctr"/>
          <a:lstStyle/>
          <a:p>
            <a:pPr marL="0" indent="0">
              <a:buNone/>
            </a:pPr>
            <a:r>
              <a:rPr lang="en-US" sz="2000" dirty="0">
                <a:solidFill>
                  <a:srgbClr val="9FB0D6"/>
                </a:solidFill>
                <a:latin typeface="Inter" pitchFamily="34" charset="0"/>
                <a:ea typeface="Inter" pitchFamily="34" charset="-122"/>
                <a:cs typeface="Inter" pitchFamily="34" charset="-120"/>
              </a:rPr>
              <a:t>I need flight prices first.</a:t>
            </a:r>
            <a:endParaRPr lang="en-US" sz="2000" dirty="0"/>
          </a:p>
        </p:txBody>
      </p:sp>
      <p:sp>
        <p:nvSpPr>
          <p:cNvPr id="11" name="Text 7"/>
          <p:cNvSpPr txBox="1"/>
          <p:nvPr/>
        </p:nvSpPr>
        <p:spPr>
          <a:xfrm>
            <a:off x="960120" y="2542032"/>
            <a:ext cx="1645920" cy="420624"/>
          </a:xfrm>
          <a:prstGeom prst="rect">
            <a:avLst/>
          </a:prstGeom>
          <a:noFill/>
          <a:ln/>
        </p:spPr>
        <p:txBody>
          <a:bodyPr wrap="square" lIns="0" tIns="0" rIns="0" bIns="0" rtlCol="0" anchor="ctr"/>
          <a:lstStyle/>
          <a:p>
            <a:pPr marL="0" indent="0">
              <a:buNone/>
            </a:pPr>
            <a:r>
              <a:rPr lang="en-US" sz="1550" b="1" kern="0" spc="150" dirty="0">
                <a:solidFill>
                  <a:srgbClr val="3FD0E6"/>
                </a:solidFill>
                <a:latin typeface="Inter" pitchFamily="34" charset="0"/>
                <a:ea typeface="Inter" pitchFamily="34" charset="-122"/>
                <a:cs typeface="Inter" pitchFamily="34" charset="-120"/>
              </a:rPr>
              <a:t>ACT</a:t>
            </a:r>
            <a:endParaRPr lang="en-US" sz="1550" dirty="0"/>
          </a:p>
        </p:txBody>
      </p:sp>
      <p:sp>
        <p:nvSpPr>
          <p:cNvPr id="12" name="Text 8"/>
          <p:cNvSpPr txBox="1"/>
          <p:nvPr/>
        </p:nvSpPr>
        <p:spPr>
          <a:xfrm>
            <a:off x="2743200" y="2542032"/>
            <a:ext cx="8549640" cy="420624"/>
          </a:xfrm>
          <a:prstGeom prst="rect">
            <a:avLst/>
          </a:prstGeom>
          <a:noFill/>
          <a:ln/>
        </p:spPr>
        <p:txBody>
          <a:bodyPr wrap="square" lIns="0" tIns="0" rIns="0" bIns="0" rtlCol="0" anchor="ctr"/>
          <a:lstStyle/>
          <a:p>
            <a:pPr marL="0" indent="0">
              <a:buNone/>
            </a:pPr>
            <a:r>
              <a:rPr lang="en-US" sz="2000" dirty="0">
                <a:solidFill>
                  <a:srgbClr val="EAF0FF"/>
                </a:solidFill>
                <a:latin typeface="Inter" pitchFamily="34" charset="0"/>
                <a:ea typeface="Inter" pitchFamily="34" charset="-122"/>
                <a:cs typeface="Inter" pitchFamily="34" charset="-120"/>
              </a:rPr>
              <a:t>Search for flights.</a:t>
            </a:r>
            <a:endParaRPr lang="en-US" sz="2000" dirty="0"/>
          </a:p>
        </p:txBody>
      </p:sp>
      <p:sp>
        <p:nvSpPr>
          <p:cNvPr id="13" name="Text 9"/>
          <p:cNvSpPr txBox="1"/>
          <p:nvPr/>
        </p:nvSpPr>
        <p:spPr>
          <a:xfrm>
            <a:off x="960120" y="2999232"/>
            <a:ext cx="1645920" cy="420624"/>
          </a:xfrm>
          <a:prstGeom prst="rect">
            <a:avLst/>
          </a:prstGeom>
          <a:noFill/>
          <a:ln/>
        </p:spPr>
        <p:txBody>
          <a:bodyPr wrap="square" lIns="0" tIns="0" rIns="0" bIns="0" rtlCol="0" anchor="ctr"/>
          <a:lstStyle/>
          <a:p>
            <a:pPr marL="0" indent="0">
              <a:buNone/>
            </a:pPr>
            <a:r>
              <a:rPr lang="en-US" sz="1550" b="1" kern="0" spc="150" dirty="0">
                <a:solidFill>
                  <a:srgbClr val="F5C542"/>
                </a:solidFill>
                <a:latin typeface="Inter" pitchFamily="34" charset="0"/>
                <a:ea typeface="Inter" pitchFamily="34" charset="-122"/>
                <a:cs typeface="Inter" pitchFamily="34" charset="-120"/>
              </a:rPr>
              <a:t>OBSERVE</a:t>
            </a:r>
            <a:endParaRPr lang="en-US" sz="1550" dirty="0"/>
          </a:p>
        </p:txBody>
      </p:sp>
      <p:sp>
        <p:nvSpPr>
          <p:cNvPr id="14" name="Text 10"/>
          <p:cNvSpPr txBox="1"/>
          <p:nvPr/>
        </p:nvSpPr>
        <p:spPr>
          <a:xfrm>
            <a:off x="2743200" y="2999232"/>
            <a:ext cx="8549640" cy="420624"/>
          </a:xfrm>
          <a:prstGeom prst="rect">
            <a:avLst/>
          </a:prstGeom>
          <a:noFill/>
          <a:ln/>
        </p:spPr>
        <p:txBody>
          <a:bodyPr wrap="square" lIns="0" tIns="0" rIns="0" bIns="0" rtlCol="0" anchor="ctr"/>
          <a:lstStyle/>
          <a:p>
            <a:pPr marL="0" indent="0">
              <a:buNone/>
            </a:pPr>
            <a:r>
              <a:rPr lang="en-US" sz="2000" dirty="0">
                <a:solidFill>
                  <a:srgbClr val="EAF0FF"/>
                </a:solidFill>
                <a:latin typeface="Inter" pitchFamily="34" charset="0"/>
                <a:ea typeface="Inter" pitchFamily="34" charset="-122"/>
                <a:cs typeface="Inter" pitchFamily="34" charset="-120"/>
              </a:rPr>
              <a:t>Flight A ₹7,000 · Flight B ₹8,500</a:t>
            </a:r>
            <a:endParaRPr lang="en-US" sz="2000" dirty="0"/>
          </a:p>
        </p:txBody>
      </p:sp>
      <p:sp>
        <p:nvSpPr>
          <p:cNvPr id="15" name="Text 11"/>
          <p:cNvSpPr txBox="1"/>
          <p:nvPr/>
        </p:nvSpPr>
        <p:spPr>
          <a:xfrm>
            <a:off x="960120" y="3456432"/>
            <a:ext cx="1645920" cy="420624"/>
          </a:xfrm>
          <a:prstGeom prst="rect">
            <a:avLst/>
          </a:prstGeom>
          <a:noFill/>
          <a:ln/>
        </p:spPr>
        <p:txBody>
          <a:bodyPr wrap="square" lIns="0" tIns="0" rIns="0" bIns="0" rtlCol="0" anchor="ctr"/>
          <a:lstStyle/>
          <a:p>
            <a:pPr marL="0" indent="0">
              <a:buNone/>
            </a:pPr>
            <a:r>
              <a:rPr lang="en-US" sz="1550" b="1" kern="0" spc="150" dirty="0">
                <a:solidFill>
                  <a:srgbClr val="817AFF"/>
                </a:solidFill>
                <a:latin typeface="Inter" pitchFamily="34" charset="0"/>
                <a:ea typeface="Inter" pitchFamily="34" charset="-122"/>
                <a:cs typeface="Inter" pitchFamily="34" charset="-120"/>
              </a:rPr>
              <a:t>REASON</a:t>
            </a:r>
            <a:endParaRPr lang="en-US" sz="1550" dirty="0"/>
          </a:p>
        </p:txBody>
      </p:sp>
      <p:sp>
        <p:nvSpPr>
          <p:cNvPr id="16" name="Text 12"/>
          <p:cNvSpPr txBox="1"/>
          <p:nvPr/>
        </p:nvSpPr>
        <p:spPr>
          <a:xfrm>
            <a:off x="2743200" y="3456432"/>
            <a:ext cx="8549640" cy="420624"/>
          </a:xfrm>
          <a:prstGeom prst="rect">
            <a:avLst/>
          </a:prstGeom>
          <a:noFill/>
          <a:ln/>
        </p:spPr>
        <p:txBody>
          <a:bodyPr wrap="square" lIns="0" tIns="0" rIns="0" bIns="0" rtlCol="0" anchor="ctr"/>
          <a:lstStyle/>
          <a:p>
            <a:pPr marL="0" indent="0">
              <a:buNone/>
            </a:pPr>
            <a:r>
              <a:rPr lang="en-US" sz="2000" dirty="0">
                <a:solidFill>
                  <a:srgbClr val="9FB0D6"/>
                </a:solidFill>
                <a:latin typeface="Inter" pitchFamily="34" charset="0"/>
                <a:ea typeface="Inter" pitchFamily="34" charset="-122"/>
                <a:cs typeface="Inter" pitchFamily="34" charset="-120"/>
              </a:rPr>
              <a:t>A is cheaper, but is baggage included?</a:t>
            </a:r>
            <a:endParaRPr lang="en-US" sz="2000" dirty="0"/>
          </a:p>
        </p:txBody>
      </p:sp>
      <p:sp>
        <p:nvSpPr>
          <p:cNvPr id="17" name="Text 13"/>
          <p:cNvSpPr txBox="1"/>
          <p:nvPr/>
        </p:nvSpPr>
        <p:spPr>
          <a:xfrm>
            <a:off x="960120" y="3913632"/>
            <a:ext cx="1645920" cy="420624"/>
          </a:xfrm>
          <a:prstGeom prst="rect">
            <a:avLst/>
          </a:prstGeom>
          <a:noFill/>
          <a:ln/>
        </p:spPr>
        <p:txBody>
          <a:bodyPr wrap="square" lIns="0" tIns="0" rIns="0" bIns="0" rtlCol="0" anchor="ctr"/>
          <a:lstStyle/>
          <a:p>
            <a:pPr marL="0" indent="0">
              <a:buNone/>
            </a:pPr>
            <a:r>
              <a:rPr lang="en-US" sz="1550" b="1" kern="0" spc="150" dirty="0">
                <a:solidFill>
                  <a:srgbClr val="3FD0E6"/>
                </a:solidFill>
                <a:latin typeface="Inter" pitchFamily="34" charset="0"/>
                <a:ea typeface="Inter" pitchFamily="34" charset="-122"/>
                <a:cs typeface="Inter" pitchFamily="34" charset="-120"/>
              </a:rPr>
              <a:t>ACT</a:t>
            </a:r>
            <a:endParaRPr lang="en-US" sz="1550" dirty="0"/>
          </a:p>
        </p:txBody>
      </p:sp>
      <p:sp>
        <p:nvSpPr>
          <p:cNvPr id="18" name="Text 14"/>
          <p:cNvSpPr txBox="1"/>
          <p:nvPr/>
        </p:nvSpPr>
        <p:spPr>
          <a:xfrm>
            <a:off x="2743200" y="3913632"/>
            <a:ext cx="8549640" cy="420624"/>
          </a:xfrm>
          <a:prstGeom prst="rect">
            <a:avLst/>
          </a:prstGeom>
          <a:noFill/>
          <a:ln/>
        </p:spPr>
        <p:txBody>
          <a:bodyPr wrap="square" lIns="0" tIns="0" rIns="0" bIns="0" rtlCol="0" anchor="ctr"/>
          <a:lstStyle/>
          <a:p>
            <a:pPr marL="0" indent="0">
              <a:buNone/>
            </a:pPr>
            <a:r>
              <a:rPr lang="en-US" sz="2000" dirty="0">
                <a:solidFill>
                  <a:srgbClr val="EAF0FF"/>
                </a:solidFill>
                <a:latin typeface="Inter" pitchFamily="34" charset="0"/>
                <a:ea typeface="Inter" pitchFamily="34" charset="-122"/>
                <a:cs typeface="Inter" pitchFamily="34" charset="-120"/>
              </a:rPr>
              <a:t>Check the baggage policy for flight A.</a:t>
            </a:r>
            <a:endParaRPr lang="en-US" sz="2000" dirty="0"/>
          </a:p>
        </p:txBody>
      </p:sp>
      <p:sp>
        <p:nvSpPr>
          <p:cNvPr id="19" name="Text 15"/>
          <p:cNvSpPr txBox="1"/>
          <p:nvPr/>
        </p:nvSpPr>
        <p:spPr>
          <a:xfrm>
            <a:off x="960120" y="4370832"/>
            <a:ext cx="1645920" cy="420624"/>
          </a:xfrm>
          <a:prstGeom prst="rect">
            <a:avLst/>
          </a:prstGeom>
          <a:noFill/>
          <a:ln/>
        </p:spPr>
        <p:txBody>
          <a:bodyPr wrap="square" lIns="0" tIns="0" rIns="0" bIns="0" rtlCol="0" anchor="ctr"/>
          <a:lstStyle/>
          <a:p>
            <a:pPr marL="0" indent="0">
              <a:buNone/>
            </a:pPr>
            <a:r>
              <a:rPr lang="en-US" sz="1550" b="1" kern="0" spc="150" dirty="0">
                <a:solidFill>
                  <a:srgbClr val="F5C542"/>
                </a:solidFill>
                <a:latin typeface="Inter" pitchFamily="34" charset="0"/>
                <a:ea typeface="Inter" pitchFamily="34" charset="-122"/>
                <a:cs typeface="Inter" pitchFamily="34" charset="-120"/>
              </a:rPr>
              <a:t>OBSERVE</a:t>
            </a:r>
            <a:endParaRPr lang="en-US" sz="1550" dirty="0"/>
          </a:p>
        </p:txBody>
      </p:sp>
      <p:sp>
        <p:nvSpPr>
          <p:cNvPr id="20" name="Text 16"/>
          <p:cNvSpPr txBox="1"/>
          <p:nvPr/>
        </p:nvSpPr>
        <p:spPr>
          <a:xfrm>
            <a:off x="2743200" y="4370832"/>
            <a:ext cx="8549640" cy="420624"/>
          </a:xfrm>
          <a:prstGeom prst="rect">
            <a:avLst/>
          </a:prstGeom>
          <a:noFill/>
          <a:ln/>
        </p:spPr>
        <p:txBody>
          <a:bodyPr wrap="square" lIns="0" tIns="0" rIns="0" bIns="0" rtlCol="0" anchor="ctr"/>
          <a:lstStyle/>
          <a:p>
            <a:pPr marL="0" indent="0">
              <a:buNone/>
            </a:pPr>
            <a:r>
              <a:rPr lang="en-US" sz="2000" dirty="0">
                <a:solidFill>
                  <a:srgbClr val="EAF0FF"/>
                </a:solidFill>
                <a:latin typeface="Inter" pitchFamily="34" charset="0"/>
                <a:ea typeface="Inter" pitchFamily="34" charset="-122"/>
                <a:cs typeface="Inter" pitchFamily="34" charset="-120"/>
              </a:rPr>
              <a:t>Cabin only. A checked bag costs ₹2,000.</a:t>
            </a:r>
            <a:endParaRPr lang="en-US" sz="2000" dirty="0"/>
          </a:p>
        </p:txBody>
      </p:sp>
      <p:sp>
        <p:nvSpPr>
          <p:cNvPr id="21" name="Text 17"/>
          <p:cNvSpPr txBox="1"/>
          <p:nvPr/>
        </p:nvSpPr>
        <p:spPr>
          <a:xfrm>
            <a:off x="960120" y="4828032"/>
            <a:ext cx="1645920" cy="420624"/>
          </a:xfrm>
          <a:prstGeom prst="rect">
            <a:avLst/>
          </a:prstGeom>
          <a:noFill/>
          <a:ln/>
        </p:spPr>
        <p:txBody>
          <a:bodyPr wrap="square" lIns="0" tIns="0" rIns="0" bIns="0" rtlCol="0" anchor="ctr"/>
          <a:lstStyle/>
          <a:p>
            <a:pPr marL="0" indent="0">
              <a:buNone/>
            </a:pPr>
            <a:r>
              <a:rPr lang="en-US" sz="1550" b="1" kern="0" spc="150" dirty="0">
                <a:solidFill>
                  <a:srgbClr val="817AFF"/>
                </a:solidFill>
                <a:latin typeface="Inter" pitchFamily="34" charset="0"/>
                <a:ea typeface="Inter" pitchFamily="34" charset="-122"/>
                <a:cs typeface="Inter" pitchFamily="34" charset="-120"/>
              </a:rPr>
              <a:t>REASON</a:t>
            </a:r>
            <a:endParaRPr lang="en-US" sz="1550" dirty="0"/>
          </a:p>
        </p:txBody>
      </p:sp>
      <p:sp>
        <p:nvSpPr>
          <p:cNvPr id="22" name="Text 18"/>
          <p:cNvSpPr txBox="1"/>
          <p:nvPr/>
        </p:nvSpPr>
        <p:spPr>
          <a:xfrm>
            <a:off x="2743200" y="4828032"/>
            <a:ext cx="8549640" cy="420624"/>
          </a:xfrm>
          <a:prstGeom prst="rect">
            <a:avLst/>
          </a:prstGeom>
          <a:noFill/>
          <a:ln/>
        </p:spPr>
        <p:txBody>
          <a:bodyPr wrap="square" lIns="0" tIns="0" rIns="0" bIns="0" rtlCol="0" anchor="ctr"/>
          <a:lstStyle/>
          <a:p>
            <a:pPr marL="0" indent="0">
              <a:buNone/>
            </a:pPr>
            <a:r>
              <a:rPr lang="en-US" sz="2000" dirty="0">
                <a:solidFill>
                  <a:srgbClr val="9FB0D6"/>
                </a:solidFill>
                <a:latin typeface="Inter" pitchFamily="34" charset="0"/>
                <a:ea typeface="Inter" pitchFamily="34" charset="-122"/>
                <a:cs typeface="Inter" pitchFamily="34" charset="-120"/>
              </a:rPr>
              <a:t>That makes A ₹9,000. B wins.</a:t>
            </a:r>
            <a:endParaRPr lang="en-US" sz="2000" dirty="0"/>
          </a:p>
        </p:txBody>
      </p:sp>
      <p:sp>
        <p:nvSpPr>
          <p:cNvPr id="23" name="Text 19"/>
          <p:cNvSpPr txBox="1"/>
          <p:nvPr/>
        </p:nvSpPr>
        <p:spPr>
          <a:xfrm>
            <a:off x="868680" y="5486400"/>
            <a:ext cx="10424160" cy="658368"/>
          </a:xfrm>
          <a:prstGeom prst="rect">
            <a:avLst/>
          </a:prstGeom>
          <a:noFill/>
          <a:ln/>
        </p:spPr>
        <p:txBody>
          <a:bodyPr wrap="square" lIns="0" tIns="0" rIns="0" bIns="0" rtlCol="0" anchor="ctr"/>
          <a:lstStyle/>
          <a:p>
            <a:pPr marL="0" indent="0">
              <a:buNone/>
            </a:pPr>
            <a:r>
              <a:rPr lang="en-US" sz="2200" dirty="0">
                <a:solidFill>
                  <a:srgbClr val="9FB0D6"/>
                </a:solidFill>
                <a:latin typeface="Inter" pitchFamily="34" charset="0"/>
                <a:ea typeface="Inter" pitchFamily="34" charset="-122"/>
                <a:cs typeface="Inter" pitchFamily="34" charset="-120"/>
              </a:rPr>
              <a:t>No plan could have predicted the baggage fee. The observation created the next step.</a:t>
            </a:r>
            <a:endParaRPr lang="en-US" sz="2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36</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4300" b="1" dirty="0">
                <a:solidFill>
                  <a:srgbClr val="EAF0FF"/>
                </a:solidFill>
                <a:latin typeface="Poppins" pitchFamily="34" charset="0"/>
                <a:ea typeface="Poppins" pitchFamily="34" charset="-122"/>
                <a:cs typeface="Poppins" pitchFamily="34" charset="-120"/>
              </a:rPr>
              <a:t>Plan-and-execute vs ReAct</a:t>
            </a:r>
            <a:endParaRPr lang="en-US" sz="4300" dirty="0"/>
          </a:p>
        </p:txBody>
      </p:sp>
      <p:sp>
        <p:nvSpPr>
          <p:cNvPr id="7" name="Text 3"/>
          <p:cNvSpPr txBox="1"/>
          <p:nvPr/>
        </p:nvSpPr>
        <p:spPr>
          <a:xfrm>
            <a:off x="1051560" y="1600200"/>
            <a:ext cx="3419856" cy="429768"/>
          </a:xfrm>
          <a:prstGeom prst="rect">
            <a:avLst/>
          </a:prstGeom>
          <a:noFill/>
          <a:ln/>
        </p:spPr>
        <p:txBody>
          <a:bodyPr wrap="square" lIns="0" tIns="0" rIns="0" bIns="0" rtlCol="0" anchor="ctr"/>
          <a:lstStyle/>
          <a:p>
            <a:pPr marL="0" indent="0">
              <a:buNone/>
            </a:pPr>
            <a:endParaRPr lang="en-US" sz="1550" dirty="0"/>
          </a:p>
        </p:txBody>
      </p:sp>
      <p:sp>
        <p:nvSpPr>
          <p:cNvPr id="8" name="Text 4"/>
          <p:cNvSpPr txBox="1"/>
          <p:nvPr/>
        </p:nvSpPr>
        <p:spPr>
          <a:xfrm>
            <a:off x="4617720" y="1600200"/>
            <a:ext cx="3319272" cy="429768"/>
          </a:xfrm>
          <a:prstGeom prst="rect">
            <a:avLst/>
          </a:prstGeom>
          <a:noFill/>
          <a:ln/>
        </p:spPr>
        <p:txBody>
          <a:bodyPr wrap="square" lIns="0" tIns="0" rIns="0" bIns="0" rtlCol="0" anchor="ctr"/>
          <a:lstStyle/>
          <a:p>
            <a:pPr marL="0" indent="0">
              <a:buNone/>
            </a:pPr>
            <a:r>
              <a:rPr lang="en-US" sz="1550" b="1" kern="0" spc="180" dirty="0">
                <a:solidFill>
                  <a:srgbClr val="3FD0E6"/>
                </a:solidFill>
                <a:latin typeface="Inter" pitchFamily="34" charset="0"/>
                <a:ea typeface="Inter" pitchFamily="34" charset="-122"/>
                <a:cs typeface="Inter" pitchFamily="34" charset="-120"/>
              </a:rPr>
              <a:t>PLAN-AND-EXECUTE</a:t>
            </a:r>
            <a:endParaRPr lang="en-US" sz="1550" dirty="0"/>
          </a:p>
        </p:txBody>
      </p:sp>
      <p:sp>
        <p:nvSpPr>
          <p:cNvPr id="9" name="Text 5"/>
          <p:cNvSpPr txBox="1"/>
          <p:nvPr/>
        </p:nvSpPr>
        <p:spPr>
          <a:xfrm>
            <a:off x="7936992" y="1600200"/>
            <a:ext cx="3319272" cy="429768"/>
          </a:xfrm>
          <a:prstGeom prst="rect">
            <a:avLst/>
          </a:prstGeom>
          <a:noFill/>
          <a:ln/>
        </p:spPr>
        <p:txBody>
          <a:bodyPr wrap="square" lIns="0" tIns="0" rIns="0" bIns="0" rtlCol="0" anchor="ctr"/>
          <a:lstStyle/>
          <a:p>
            <a:pPr marL="0" indent="0">
              <a:buNone/>
            </a:pPr>
            <a:r>
              <a:rPr lang="en-US" sz="1550" b="1" kern="0" spc="180" dirty="0">
                <a:solidFill>
                  <a:srgbClr val="F5C542"/>
                </a:solidFill>
                <a:latin typeface="Inter" pitchFamily="34" charset="0"/>
                <a:ea typeface="Inter" pitchFamily="34" charset="-122"/>
                <a:cs typeface="Inter" pitchFamily="34" charset="-120"/>
              </a:rPr>
              <a:t>REACT</a:t>
            </a:r>
            <a:endParaRPr lang="en-US" sz="1550" dirty="0"/>
          </a:p>
        </p:txBody>
      </p:sp>
      <p:sp>
        <p:nvSpPr>
          <p:cNvPr id="10" name="Shape 6"/>
          <p:cNvSpPr/>
          <p:nvPr/>
        </p:nvSpPr>
        <p:spPr>
          <a:xfrm>
            <a:off x="905256" y="2103120"/>
            <a:ext cx="10351008" cy="429768"/>
          </a:xfrm>
          <a:prstGeom prst="roundRect">
            <a:avLst>
              <a:gd name="adj" fmla="val 10638"/>
            </a:avLst>
          </a:prstGeom>
          <a:solidFill>
            <a:srgbClr val="0B1128"/>
          </a:solidFill>
          <a:ln w="12700">
            <a:solidFill>
              <a:srgbClr val="0B1128"/>
            </a:solidFill>
            <a:prstDash val="solid"/>
          </a:ln>
        </p:spPr>
      </p:sp>
      <p:sp>
        <p:nvSpPr>
          <p:cNvPr id="11" name="Text 7"/>
          <p:cNvSpPr txBox="1"/>
          <p:nvPr/>
        </p:nvSpPr>
        <p:spPr>
          <a:xfrm>
            <a:off x="1051560" y="2103120"/>
            <a:ext cx="3273552" cy="429768"/>
          </a:xfrm>
          <a:prstGeom prst="rect">
            <a:avLst/>
          </a:prstGeom>
          <a:noFill/>
          <a:ln/>
        </p:spPr>
        <p:txBody>
          <a:bodyPr wrap="square" lIns="0" tIns="0" rIns="0" bIns="0" rtlCol="0" anchor="ctr"/>
          <a:lstStyle/>
          <a:p>
            <a:pPr marL="0" indent="0">
              <a:buNone/>
            </a:pPr>
            <a:r>
              <a:rPr lang="en-US" sz="1650" dirty="0">
                <a:solidFill>
                  <a:srgbClr val="9FB0D6"/>
                </a:solidFill>
                <a:latin typeface="Inter" pitchFamily="34" charset="0"/>
                <a:ea typeface="Inter" pitchFamily="34" charset="-122"/>
                <a:cs typeface="Inter" pitchFamily="34" charset="-120"/>
              </a:rPr>
              <a:t>Planning</a:t>
            </a:r>
            <a:endParaRPr lang="en-US" sz="1650" dirty="0"/>
          </a:p>
        </p:txBody>
      </p:sp>
      <p:sp>
        <p:nvSpPr>
          <p:cNvPr id="12" name="Text 8"/>
          <p:cNvSpPr txBox="1"/>
          <p:nvPr/>
        </p:nvSpPr>
        <p:spPr>
          <a:xfrm>
            <a:off x="4617720" y="2103120"/>
            <a:ext cx="3172968" cy="429768"/>
          </a:xfrm>
          <a:prstGeom prst="rect">
            <a:avLst/>
          </a:prstGeom>
          <a:noFill/>
          <a:ln/>
        </p:spPr>
        <p:txBody>
          <a:bodyPr wrap="square" lIns="0" tIns="0" rIns="0" bIns="0" rtlCol="0" anchor="ctr"/>
          <a:lstStyle/>
          <a:p>
            <a:pPr marL="0" indent="0">
              <a:buNone/>
            </a:pPr>
            <a:r>
              <a:rPr lang="en-US" sz="1650" dirty="0">
                <a:solidFill>
                  <a:srgbClr val="EAF0FF"/>
                </a:solidFill>
                <a:latin typeface="Inter" pitchFamily="34" charset="0"/>
                <a:ea typeface="Inter" pitchFamily="34" charset="-122"/>
                <a:cs typeface="Inter" pitchFamily="34" charset="-120"/>
              </a:rPr>
              <a:t>All up front</a:t>
            </a:r>
            <a:endParaRPr lang="en-US" sz="1650" dirty="0"/>
          </a:p>
        </p:txBody>
      </p:sp>
      <p:sp>
        <p:nvSpPr>
          <p:cNvPr id="13" name="Text 9"/>
          <p:cNvSpPr txBox="1"/>
          <p:nvPr/>
        </p:nvSpPr>
        <p:spPr>
          <a:xfrm>
            <a:off x="7936992" y="2103120"/>
            <a:ext cx="3172968" cy="429768"/>
          </a:xfrm>
          <a:prstGeom prst="rect">
            <a:avLst/>
          </a:prstGeom>
          <a:noFill/>
          <a:ln/>
        </p:spPr>
        <p:txBody>
          <a:bodyPr wrap="square" lIns="0" tIns="0" rIns="0" bIns="0" rtlCol="0" anchor="ctr"/>
          <a:lstStyle/>
          <a:p>
            <a:pPr marL="0" indent="0">
              <a:buNone/>
            </a:pPr>
            <a:r>
              <a:rPr lang="en-US" sz="1650" dirty="0">
                <a:solidFill>
                  <a:srgbClr val="EAF0FF"/>
                </a:solidFill>
                <a:latin typeface="Inter" pitchFamily="34" charset="0"/>
                <a:ea typeface="Inter" pitchFamily="34" charset="-122"/>
                <a:cs typeface="Inter" pitchFamily="34" charset="-120"/>
              </a:rPr>
              <a:t>One step at a time</a:t>
            </a:r>
            <a:endParaRPr lang="en-US" sz="1650" dirty="0"/>
          </a:p>
        </p:txBody>
      </p:sp>
      <p:sp>
        <p:nvSpPr>
          <p:cNvPr id="14" name="Text 10"/>
          <p:cNvSpPr txBox="1"/>
          <p:nvPr/>
        </p:nvSpPr>
        <p:spPr>
          <a:xfrm>
            <a:off x="1051560" y="2532888"/>
            <a:ext cx="3273552" cy="429768"/>
          </a:xfrm>
          <a:prstGeom prst="rect">
            <a:avLst/>
          </a:prstGeom>
          <a:noFill/>
          <a:ln/>
        </p:spPr>
        <p:txBody>
          <a:bodyPr wrap="square" lIns="0" tIns="0" rIns="0" bIns="0" rtlCol="0" anchor="ctr"/>
          <a:lstStyle/>
          <a:p>
            <a:pPr marL="0" indent="0">
              <a:buNone/>
            </a:pPr>
            <a:r>
              <a:rPr lang="en-US" sz="1650" dirty="0">
                <a:solidFill>
                  <a:srgbClr val="9FB0D6"/>
                </a:solidFill>
                <a:latin typeface="Inter" pitchFamily="34" charset="0"/>
                <a:ea typeface="Inter" pitchFamily="34" charset="-122"/>
                <a:cs typeface="Inter" pitchFamily="34" charset="-120"/>
              </a:rPr>
              <a:t>Adaptability</a:t>
            </a:r>
            <a:endParaRPr lang="en-US" sz="1650" dirty="0"/>
          </a:p>
        </p:txBody>
      </p:sp>
      <p:sp>
        <p:nvSpPr>
          <p:cNvPr id="15" name="Text 11"/>
          <p:cNvSpPr txBox="1"/>
          <p:nvPr/>
        </p:nvSpPr>
        <p:spPr>
          <a:xfrm>
            <a:off x="4617720" y="2532888"/>
            <a:ext cx="3172968" cy="429768"/>
          </a:xfrm>
          <a:prstGeom prst="rect">
            <a:avLst/>
          </a:prstGeom>
          <a:noFill/>
          <a:ln/>
        </p:spPr>
        <p:txBody>
          <a:bodyPr wrap="square" lIns="0" tIns="0" rIns="0" bIns="0" rtlCol="0" anchor="ctr"/>
          <a:lstStyle/>
          <a:p>
            <a:pPr marL="0" indent="0">
              <a:buNone/>
            </a:pPr>
            <a:r>
              <a:rPr lang="en-US" sz="1650" dirty="0">
                <a:solidFill>
                  <a:srgbClr val="EAF0FF"/>
                </a:solidFill>
                <a:latin typeface="Inter" pitchFamily="34" charset="0"/>
                <a:ea typeface="Inter" pitchFamily="34" charset="-122"/>
                <a:cs typeface="Inter" pitchFamily="34" charset="-120"/>
              </a:rPr>
              <a:t>Low without replanning</a:t>
            </a:r>
            <a:endParaRPr lang="en-US" sz="1650" dirty="0"/>
          </a:p>
        </p:txBody>
      </p:sp>
      <p:sp>
        <p:nvSpPr>
          <p:cNvPr id="16" name="Text 12"/>
          <p:cNvSpPr txBox="1"/>
          <p:nvPr/>
        </p:nvSpPr>
        <p:spPr>
          <a:xfrm>
            <a:off x="7936992" y="2532888"/>
            <a:ext cx="3172968" cy="429768"/>
          </a:xfrm>
          <a:prstGeom prst="rect">
            <a:avLst/>
          </a:prstGeom>
          <a:noFill/>
          <a:ln/>
        </p:spPr>
        <p:txBody>
          <a:bodyPr wrap="square" lIns="0" tIns="0" rIns="0" bIns="0" rtlCol="0" anchor="ctr"/>
          <a:lstStyle/>
          <a:p>
            <a:pPr marL="0" indent="0">
              <a:buNone/>
            </a:pPr>
            <a:r>
              <a:rPr lang="en-US" sz="1650" dirty="0">
                <a:solidFill>
                  <a:srgbClr val="EAF0FF"/>
                </a:solidFill>
                <a:latin typeface="Inter" pitchFamily="34" charset="0"/>
                <a:ea typeface="Inter" pitchFamily="34" charset="-122"/>
                <a:cs typeface="Inter" pitchFamily="34" charset="-120"/>
              </a:rPr>
              <a:t>High by construction</a:t>
            </a:r>
            <a:endParaRPr lang="en-US" sz="1650" dirty="0"/>
          </a:p>
        </p:txBody>
      </p:sp>
      <p:sp>
        <p:nvSpPr>
          <p:cNvPr id="17" name="Shape 13"/>
          <p:cNvSpPr/>
          <p:nvPr/>
        </p:nvSpPr>
        <p:spPr>
          <a:xfrm>
            <a:off x="905256" y="2962656"/>
            <a:ext cx="10351008" cy="429768"/>
          </a:xfrm>
          <a:prstGeom prst="roundRect">
            <a:avLst>
              <a:gd name="adj" fmla="val 10638"/>
            </a:avLst>
          </a:prstGeom>
          <a:solidFill>
            <a:srgbClr val="0B1128"/>
          </a:solidFill>
          <a:ln w="12700">
            <a:solidFill>
              <a:srgbClr val="0B1128"/>
            </a:solidFill>
            <a:prstDash val="solid"/>
          </a:ln>
        </p:spPr>
      </p:sp>
      <p:sp>
        <p:nvSpPr>
          <p:cNvPr id="18" name="Text 14"/>
          <p:cNvSpPr txBox="1"/>
          <p:nvPr/>
        </p:nvSpPr>
        <p:spPr>
          <a:xfrm>
            <a:off x="1051560" y="2962656"/>
            <a:ext cx="3273552" cy="429768"/>
          </a:xfrm>
          <a:prstGeom prst="rect">
            <a:avLst/>
          </a:prstGeom>
          <a:noFill/>
          <a:ln/>
        </p:spPr>
        <p:txBody>
          <a:bodyPr wrap="square" lIns="0" tIns="0" rIns="0" bIns="0" rtlCol="0" anchor="ctr"/>
          <a:lstStyle/>
          <a:p>
            <a:pPr marL="0" indent="0">
              <a:buNone/>
            </a:pPr>
            <a:r>
              <a:rPr lang="en-US" sz="1650" dirty="0">
                <a:solidFill>
                  <a:srgbClr val="9FB0D6"/>
                </a:solidFill>
                <a:latin typeface="Inter" pitchFamily="34" charset="0"/>
                <a:ea typeface="Inter" pitchFamily="34" charset="-122"/>
                <a:cs typeface="Inter" pitchFamily="34" charset="-120"/>
              </a:rPr>
              <a:t>Predictability</a:t>
            </a:r>
            <a:endParaRPr lang="en-US" sz="1650" dirty="0"/>
          </a:p>
        </p:txBody>
      </p:sp>
      <p:sp>
        <p:nvSpPr>
          <p:cNvPr id="19" name="Text 15"/>
          <p:cNvSpPr txBox="1"/>
          <p:nvPr/>
        </p:nvSpPr>
        <p:spPr>
          <a:xfrm>
            <a:off x="4617720" y="2962656"/>
            <a:ext cx="3172968" cy="429768"/>
          </a:xfrm>
          <a:prstGeom prst="rect">
            <a:avLst/>
          </a:prstGeom>
          <a:noFill/>
          <a:ln/>
        </p:spPr>
        <p:txBody>
          <a:bodyPr wrap="square" lIns="0" tIns="0" rIns="0" bIns="0" rtlCol="0" anchor="ctr"/>
          <a:lstStyle/>
          <a:p>
            <a:pPr marL="0" indent="0">
              <a:buNone/>
            </a:pPr>
            <a:r>
              <a:rPr lang="en-US" sz="1650" dirty="0">
                <a:solidFill>
                  <a:srgbClr val="EAF0FF"/>
                </a:solidFill>
                <a:latin typeface="Inter" pitchFamily="34" charset="0"/>
                <a:ea typeface="Inter" pitchFamily="34" charset="-122"/>
                <a:cs typeface="Inter" pitchFamily="34" charset="-120"/>
              </a:rPr>
              <a:t>High, read it first</a:t>
            </a:r>
            <a:endParaRPr lang="en-US" sz="1650" dirty="0"/>
          </a:p>
        </p:txBody>
      </p:sp>
      <p:sp>
        <p:nvSpPr>
          <p:cNvPr id="20" name="Text 16"/>
          <p:cNvSpPr txBox="1"/>
          <p:nvPr/>
        </p:nvSpPr>
        <p:spPr>
          <a:xfrm>
            <a:off x="7936992" y="2962656"/>
            <a:ext cx="3172968" cy="429768"/>
          </a:xfrm>
          <a:prstGeom prst="rect">
            <a:avLst/>
          </a:prstGeom>
          <a:noFill/>
          <a:ln/>
        </p:spPr>
        <p:txBody>
          <a:bodyPr wrap="square" lIns="0" tIns="0" rIns="0" bIns="0" rtlCol="0" anchor="ctr"/>
          <a:lstStyle/>
          <a:p>
            <a:pPr marL="0" indent="0">
              <a:buNone/>
            </a:pPr>
            <a:r>
              <a:rPr lang="en-US" sz="1650" dirty="0">
                <a:solidFill>
                  <a:srgbClr val="EAF0FF"/>
                </a:solidFill>
                <a:latin typeface="Inter" pitchFamily="34" charset="0"/>
                <a:ea typeface="Inter" pitchFamily="34" charset="-122"/>
                <a:cs typeface="Inter" pitchFamily="34" charset="-120"/>
              </a:rPr>
              <a:t>Low, emerges as it runs</a:t>
            </a:r>
            <a:endParaRPr lang="en-US" sz="1650" dirty="0"/>
          </a:p>
        </p:txBody>
      </p:sp>
      <p:sp>
        <p:nvSpPr>
          <p:cNvPr id="21" name="Text 17"/>
          <p:cNvSpPr txBox="1"/>
          <p:nvPr/>
        </p:nvSpPr>
        <p:spPr>
          <a:xfrm>
            <a:off x="1051560" y="3392424"/>
            <a:ext cx="3273552" cy="429768"/>
          </a:xfrm>
          <a:prstGeom prst="rect">
            <a:avLst/>
          </a:prstGeom>
          <a:noFill/>
          <a:ln/>
        </p:spPr>
        <p:txBody>
          <a:bodyPr wrap="square" lIns="0" tIns="0" rIns="0" bIns="0" rtlCol="0" anchor="ctr"/>
          <a:lstStyle/>
          <a:p>
            <a:pPr marL="0" indent="0">
              <a:buNone/>
            </a:pPr>
            <a:r>
              <a:rPr lang="en-US" sz="1650" dirty="0">
                <a:solidFill>
                  <a:srgbClr val="9FB0D6"/>
                </a:solidFill>
                <a:latin typeface="Inter" pitchFamily="34" charset="0"/>
                <a:ea typeface="Inter" pitchFamily="34" charset="-122"/>
                <a:cs typeface="Inter" pitchFamily="34" charset="-120"/>
              </a:rPr>
              <a:t>Tool use</a:t>
            </a:r>
            <a:endParaRPr lang="en-US" sz="1650" dirty="0"/>
          </a:p>
        </p:txBody>
      </p:sp>
      <p:sp>
        <p:nvSpPr>
          <p:cNvPr id="22" name="Text 18"/>
          <p:cNvSpPr txBox="1"/>
          <p:nvPr/>
        </p:nvSpPr>
        <p:spPr>
          <a:xfrm>
            <a:off x="4617720" y="3392424"/>
            <a:ext cx="3172968" cy="429768"/>
          </a:xfrm>
          <a:prstGeom prst="rect">
            <a:avLst/>
          </a:prstGeom>
          <a:noFill/>
          <a:ln/>
        </p:spPr>
        <p:txBody>
          <a:bodyPr wrap="square" lIns="0" tIns="0" rIns="0" bIns="0" rtlCol="0" anchor="ctr"/>
          <a:lstStyle/>
          <a:p>
            <a:pPr marL="0" indent="0">
              <a:buNone/>
            </a:pPr>
            <a:r>
              <a:rPr lang="en-US" sz="1650" dirty="0">
                <a:solidFill>
                  <a:srgbClr val="EAF0FF"/>
                </a:solidFill>
                <a:latin typeface="Inter" pitchFamily="34" charset="0"/>
                <a:ea typeface="Inter" pitchFamily="34" charset="-122"/>
                <a:cs typeface="Inter" pitchFamily="34" charset="-120"/>
              </a:rPr>
              <a:t>Decided in the plan</a:t>
            </a:r>
            <a:endParaRPr lang="en-US" sz="1650" dirty="0"/>
          </a:p>
        </p:txBody>
      </p:sp>
      <p:sp>
        <p:nvSpPr>
          <p:cNvPr id="23" name="Text 19"/>
          <p:cNvSpPr txBox="1"/>
          <p:nvPr/>
        </p:nvSpPr>
        <p:spPr>
          <a:xfrm>
            <a:off x="7936992" y="3392424"/>
            <a:ext cx="3172968" cy="429768"/>
          </a:xfrm>
          <a:prstGeom prst="rect">
            <a:avLst/>
          </a:prstGeom>
          <a:noFill/>
          <a:ln/>
        </p:spPr>
        <p:txBody>
          <a:bodyPr wrap="square" lIns="0" tIns="0" rIns="0" bIns="0" rtlCol="0" anchor="ctr"/>
          <a:lstStyle/>
          <a:p>
            <a:pPr marL="0" indent="0">
              <a:buNone/>
            </a:pPr>
            <a:r>
              <a:rPr lang="en-US" sz="1650" dirty="0">
                <a:solidFill>
                  <a:srgbClr val="EAF0FF"/>
                </a:solidFill>
                <a:latin typeface="Inter" pitchFamily="34" charset="0"/>
                <a:ea typeface="Inter" pitchFamily="34" charset="-122"/>
                <a:cs typeface="Inter" pitchFamily="34" charset="-120"/>
              </a:rPr>
              <a:t>Driven by observations</a:t>
            </a:r>
            <a:endParaRPr lang="en-US" sz="1650" dirty="0"/>
          </a:p>
        </p:txBody>
      </p:sp>
      <p:sp>
        <p:nvSpPr>
          <p:cNvPr id="24" name="Shape 20"/>
          <p:cNvSpPr/>
          <p:nvPr/>
        </p:nvSpPr>
        <p:spPr>
          <a:xfrm>
            <a:off x="905256" y="3822192"/>
            <a:ext cx="10351008" cy="429768"/>
          </a:xfrm>
          <a:prstGeom prst="roundRect">
            <a:avLst>
              <a:gd name="adj" fmla="val 10638"/>
            </a:avLst>
          </a:prstGeom>
          <a:solidFill>
            <a:srgbClr val="0B1128"/>
          </a:solidFill>
          <a:ln w="12700">
            <a:solidFill>
              <a:srgbClr val="0B1128"/>
            </a:solidFill>
            <a:prstDash val="solid"/>
          </a:ln>
        </p:spPr>
      </p:sp>
      <p:sp>
        <p:nvSpPr>
          <p:cNvPr id="25" name="Text 21"/>
          <p:cNvSpPr txBox="1"/>
          <p:nvPr/>
        </p:nvSpPr>
        <p:spPr>
          <a:xfrm>
            <a:off x="1051560" y="3822192"/>
            <a:ext cx="3273552" cy="429768"/>
          </a:xfrm>
          <a:prstGeom prst="rect">
            <a:avLst/>
          </a:prstGeom>
          <a:noFill/>
          <a:ln/>
        </p:spPr>
        <p:txBody>
          <a:bodyPr wrap="square" lIns="0" tIns="0" rIns="0" bIns="0" rtlCol="0" anchor="ctr"/>
          <a:lstStyle/>
          <a:p>
            <a:pPr marL="0" indent="0">
              <a:buNone/>
            </a:pPr>
            <a:r>
              <a:rPr lang="en-US" sz="1650" dirty="0">
                <a:solidFill>
                  <a:srgbClr val="9FB0D6"/>
                </a:solidFill>
                <a:latin typeface="Inter" pitchFamily="34" charset="0"/>
                <a:ea typeface="Inter" pitchFamily="34" charset="-122"/>
                <a:cs typeface="Inter" pitchFamily="34" charset="-120"/>
              </a:rPr>
              <a:t>Inspectable</a:t>
            </a:r>
            <a:endParaRPr lang="en-US" sz="1650" dirty="0"/>
          </a:p>
        </p:txBody>
      </p:sp>
      <p:sp>
        <p:nvSpPr>
          <p:cNvPr id="26" name="Text 22"/>
          <p:cNvSpPr txBox="1"/>
          <p:nvPr/>
        </p:nvSpPr>
        <p:spPr>
          <a:xfrm>
            <a:off x="4617720" y="3822192"/>
            <a:ext cx="3172968" cy="429768"/>
          </a:xfrm>
          <a:prstGeom prst="rect">
            <a:avLst/>
          </a:prstGeom>
          <a:noFill/>
          <a:ln/>
        </p:spPr>
        <p:txBody>
          <a:bodyPr wrap="square" lIns="0" tIns="0" rIns="0" bIns="0" rtlCol="0" anchor="ctr"/>
          <a:lstStyle/>
          <a:p>
            <a:pPr marL="0" indent="0">
              <a:buNone/>
            </a:pPr>
            <a:r>
              <a:rPr lang="en-US" sz="1650" dirty="0">
                <a:solidFill>
                  <a:srgbClr val="EAF0FF"/>
                </a:solidFill>
                <a:latin typeface="Inter" pitchFamily="34" charset="0"/>
                <a:ea typeface="Inter" pitchFamily="34" charset="-122"/>
                <a:cs typeface="Inter" pitchFamily="34" charset="-120"/>
              </a:rPr>
              <a:t>Yes, before it runs</a:t>
            </a:r>
            <a:endParaRPr lang="en-US" sz="1650" dirty="0"/>
          </a:p>
        </p:txBody>
      </p:sp>
      <p:sp>
        <p:nvSpPr>
          <p:cNvPr id="27" name="Text 23"/>
          <p:cNvSpPr txBox="1"/>
          <p:nvPr/>
        </p:nvSpPr>
        <p:spPr>
          <a:xfrm>
            <a:off x="7936992" y="3822192"/>
            <a:ext cx="3172968" cy="429768"/>
          </a:xfrm>
          <a:prstGeom prst="rect">
            <a:avLst/>
          </a:prstGeom>
          <a:noFill/>
          <a:ln/>
        </p:spPr>
        <p:txBody>
          <a:bodyPr wrap="square" lIns="0" tIns="0" rIns="0" bIns="0" rtlCol="0" anchor="ctr"/>
          <a:lstStyle/>
          <a:p>
            <a:pPr marL="0" indent="0">
              <a:buNone/>
            </a:pPr>
            <a:r>
              <a:rPr lang="en-US" sz="1650" dirty="0">
                <a:solidFill>
                  <a:srgbClr val="EAF0FF"/>
                </a:solidFill>
                <a:latin typeface="Inter" pitchFamily="34" charset="0"/>
                <a:ea typeface="Inter" pitchFamily="34" charset="-122"/>
                <a:cs typeface="Inter" pitchFamily="34" charset="-120"/>
              </a:rPr>
              <a:t>Only afterwards, in the trace</a:t>
            </a:r>
            <a:endParaRPr lang="en-US" sz="1650" dirty="0"/>
          </a:p>
        </p:txBody>
      </p:sp>
      <p:sp>
        <p:nvSpPr>
          <p:cNvPr id="28" name="Text 24"/>
          <p:cNvSpPr txBox="1"/>
          <p:nvPr/>
        </p:nvSpPr>
        <p:spPr>
          <a:xfrm>
            <a:off x="1051560" y="4251960"/>
            <a:ext cx="3273552" cy="429768"/>
          </a:xfrm>
          <a:prstGeom prst="rect">
            <a:avLst/>
          </a:prstGeom>
          <a:noFill/>
          <a:ln/>
        </p:spPr>
        <p:txBody>
          <a:bodyPr wrap="square" lIns="0" tIns="0" rIns="0" bIns="0" rtlCol="0" anchor="ctr"/>
          <a:lstStyle/>
          <a:p>
            <a:pPr marL="0" indent="0">
              <a:buNone/>
            </a:pPr>
            <a:r>
              <a:rPr lang="en-US" sz="1650" dirty="0">
                <a:solidFill>
                  <a:srgbClr val="9FB0D6"/>
                </a:solidFill>
                <a:latin typeface="Inter" pitchFamily="34" charset="0"/>
                <a:ea typeface="Inter" pitchFamily="34" charset="-122"/>
                <a:cs typeface="Inter" pitchFamily="34" charset="-120"/>
              </a:rPr>
              <a:t>Failure handling</a:t>
            </a:r>
            <a:endParaRPr lang="en-US" sz="1650" dirty="0"/>
          </a:p>
        </p:txBody>
      </p:sp>
      <p:sp>
        <p:nvSpPr>
          <p:cNvPr id="29" name="Text 25"/>
          <p:cNvSpPr txBox="1"/>
          <p:nvPr/>
        </p:nvSpPr>
        <p:spPr>
          <a:xfrm>
            <a:off x="4617720" y="4251960"/>
            <a:ext cx="3172968" cy="429768"/>
          </a:xfrm>
          <a:prstGeom prst="rect">
            <a:avLst/>
          </a:prstGeom>
          <a:noFill/>
          <a:ln/>
        </p:spPr>
        <p:txBody>
          <a:bodyPr wrap="square" lIns="0" tIns="0" rIns="0" bIns="0" rtlCol="0" anchor="ctr"/>
          <a:lstStyle/>
          <a:p>
            <a:pPr marL="0" indent="0">
              <a:buNone/>
            </a:pPr>
            <a:r>
              <a:rPr lang="en-US" sz="1650" dirty="0">
                <a:solidFill>
                  <a:srgbClr val="EAF0FF"/>
                </a:solidFill>
                <a:latin typeface="Inter" pitchFamily="34" charset="0"/>
                <a:ea typeface="Inter" pitchFamily="34" charset="-122"/>
                <a:cs typeface="Inter" pitchFamily="34" charset="-120"/>
              </a:rPr>
              <a:t>Needs explicit replanning</a:t>
            </a:r>
            <a:endParaRPr lang="en-US" sz="1650" dirty="0"/>
          </a:p>
        </p:txBody>
      </p:sp>
      <p:sp>
        <p:nvSpPr>
          <p:cNvPr id="30" name="Text 26"/>
          <p:cNvSpPr txBox="1"/>
          <p:nvPr/>
        </p:nvSpPr>
        <p:spPr>
          <a:xfrm>
            <a:off x="7936992" y="4251960"/>
            <a:ext cx="3172968" cy="429768"/>
          </a:xfrm>
          <a:prstGeom prst="rect">
            <a:avLst/>
          </a:prstGeom>
          <a:noFill/>
          <a:ln/>
        </p:spPr>
        <p:txBody>
          <a:bodyPr wrap="square" lIns="0" tIns="0" rIns="0" bIns="0" rtlCol="0" anchor="ctr"/>
          <a:lstStyle/>
          <a:p>
            <a:pPr marL="0" indent="0">
              <a:buNone/>
            </a:pPr>
            <a:r>
              <a:rPr lang="en-US" sz="1650" dirty="0">
                <a:solidFill>
                  <a:srgbClr val="EAF0FF"/>
                </a:solidFill>
                <a:latin typeface="Inter" pitchFamily="34" charset="0"/>
                <a:ea typeface="Inter" pitchFamily="34" charset="-122"/>
                <a:cs typeface="Inter" pitchFamily="34" charset="-120"/>
              </a:rPr>
              <a:t>Adapts naturally</a:t>
            </a:r>
            <a:endParaRPr lang="en-US" sz="1650" dirty="0"/>
          </a:p>
        </p:txBody>
      </p:sp>
      <p:sp>
        <p:nvSpPr>
          <p:cNvPr id="31" name="Shape 27"/>
          <p:cNvSpPr/>
          <p:nvPr/>
        </p:nvSpPr>
        <p:spPr>
          <a:xfrm>
            <a:off x="905256" y="4681728"/>
            <a:ext cx="10351008" cy="429768"/>
          </a:xfrm>
          <a:prstGeom prst="roundRect">
            <a:avLst>
              <a:gd name="adj" fmla="val 10638"/>
            </a:avLst>
          </a:prstGeom>
          <a:solidFill>
            <a:srgbClr val="0B1128"/>
          </a:solidFill>
          <a:ln w="12700">
            <a:solidFill>
              <a:srgbClr val="0B1128"/>
            </a:solidFill>
            <a:prstDash val="solid"/>
          </a:ln>
        </p:spPr>
      </p:sp>
      <p:sp>
        <p:nvSpPr>
          <p:cNvPr id="32" name="Text 28"/>
          <p:cNvSpPr txBox="1"/>
          <p:nvPr/>
        </p:nvSpPr>
        <p:spPr>
          <a:xfrm>
            <a:off x="1051560" y="4681728"/>
            <a:ext cx="3273552" cy="429768"/>
          </a:xfrm>
          <a:prstGeom prst="rect">
            <a:avLst/>
          </a:prstGeom>
          <a:noFill/>
          <a:ln/>
        </p:spPr>
        <p:txBody>
          <a:bodyPr wrap="square" lIns="0" tIns="0" rIns="0" bIns="0" rtlCol="0" anchor="ctr"/>
          <a:lstStyle/>
          <a:p>
            <a:pPr marL="0" indent="0">
              <a:buNone/>
            </a:pPr>
            <a:r>
              <a:rPr lang="en-US" sz="1650" dirty="0">
                <a:solidFill>
                  <a:srgbClr val="9FB0D6"/>
                </a:solidFill>
                <a:latin typeface="Inter" pitchFamily="34" charset="0"/>
                <a:ea typeface="Inter" pitchFamily="34" charset="-122"/>
                <a:cs typeface="Inter" pitchFamily="34" charset="-120"/>
              </a:rPr>
              <a:t>Cost</a:t>
            </a:r>
            <a:endParaRPr lang="en-US" sz="1650" dirty="0"/>
          </a:p>
        </p:txBody>
      </p:sp>
      <p:sp>
        <p:nvSpPr>
          <p:cNvPr id="33" name="Text 29"/>
          <p:cNvSpPr txBox="1"/>
          <p:nvPr/>
        </p:nvSpPr>
        <p:spPr>
          <a:xfrm>
            <a:off x="4617720" y="4681728"/>
            <a:ext cx="3172968" cy="429768"/>
          </a:xfrm>
          <a:prstGeom prst="rect">
            <a:avLst/>
          </a:prstGeom>
          <a:noFill/>
          <a:ln/>
        </p:spPr>
        <p:txBody>
          <a:bodyPr wrap="square" lIns="0" tIns="0" rIns="0" bIns="0" rtlCol="0" anchor="ctr"/>
          <a:lstStyle/>
          <a:p>
            <a:pPr marL="0" indent="0">
              <a:buNone/>
            </a:pPr>
            <a:r>
              <a:rPr lang="en-US" sz="1650" dirty="0">
                <a:solidFill>
                  <a:srgbClr val="EAF0FF"/>
                </a:solidFill>
                <a:latin typeface="Inter" pitchFamily="34" charset="0"/>
                <a:ea typeface="Inter" pitchFamily="34" charset="-122"/>
                <a:cs typeface="Inter" pitchFamily="34" charset="-120"/>
              </a:rPr>
              <a:t>Fewer model calls</a:t>
            </a:r>
            <a:endParaRPr lang="en-US" sz="1650" dirty="0"/>
          </a:p>
        </p:txBody>
      </p:sp>
      <p:sp>
        <p:nvSpPr>
          <p:cNvPr id="34" name="Text 30"/>
          <p:cNvSpPr txBox="1"/>
          <p:nvPr/>
        </p:nvSpPr>
        <p:spPr>
          <a:xfrm>
            <a:off x="7936992" y="4681728"/>
            <a:ext cx="3172968" cy="429768"/>
          </a:xfrm>
          <a:prstGeom prst="rect">
            <a:avLst/>
          </a:prstGeom>
          <a:noFill/>
          <a:ln/>
        </p:spPr>
        <p:txBody>
          <a:bodyPr wrap="square" lIns="0" tIns="0" rIns="0" bIns="0" rtlCol="0" anchor="ctr"/>
          <a:lstStyle/>
          <a:p>
            <a:pPr marL="0" indent="0">
              <a:buNone/>
            </a:pPr>
            <a:r>
              <a:rPr lang="en-US" sz="1650" dirty="0">
                <a:solidFill>
                  <a:srgbClr val="EAF0FF"/>
                </a:solidFill>
                <a:latin typeface="Inter" pitchFamily="34" charset="0"/>
                <a:ea typeface="Inter" pitchFamily="34" charset="-122"/>
                <a:cs typeface="Inter" pitchFamily="34" charset="-120"/>
              </a:rPr>
              <a:t>One call per cycle</a:t>
            </a:r>
            <a:endParaRPr lang="en-US" sz="1650" dirty="0"/>
          </a:p>
        </p:txBody>
      </p:sp>
      <p:sp>
        <p:nvSpPr>
          <p:cNvPr id="35" name="Text 31"/>
          <p:cNvSpPr txBox="1"/>
          <p:nvPr/>
        </p:nvSpPr>
        <p:spPr>
          <a:xfrm>
            <a:off x="1051560" y="5111496"/>
            <a:ext cx="3273552" cy="429768"/>
          </a:xfrm>
          <a:prstGeom prst="rect">
            <a:avLst/>
          </a:prstGeom>
          <a:noFill/>
          <a:ln/>
        </p:spPr>
        <p:txBody>
          <a:bodyPr wrap="square" lIns="0" tIns="0" rIns="0" bIns="0" rtlCol="0" anchor="ctr"/>
          <a:lstStyle/>
          <a:p>
            <a:pPr marL="0" indent="0">
              <a:buNone/>
            </a:pPr>
            <a:r>
              <a:rPr lang="en-US" sz="1650" dirty="0">
                <a:solidFill>
                  <a:srgbClr val="9FB0D6"/>
                </a:solidFill>
                <a:latin typeface="Inter" pitchFamily="34" charset="0"/>
                <a:ea typeface="Inter" pitchFamily="34" charset="-122"/>
                <a:cs typeface="Inter" pitchFamily="34" charset="-120"/>
              </a:rPr>
              <a:t>Best for</a:t>
            </a:r>
            <a:endParaRPr lang="en-US" sz="1650" dirty="0"/>
          </a:p>
        </p:txBody>
      </p:sp>
      <p:sp>
        <p:nvSpPr>
          <p:cNvPr id="36" name="Text 32"/>
          <p:cNvSpPr txBox="1"/>
          <p:nvPr/>
        </p:nvSpPr>
        <p:spPr>
          <a:xfrm>
            <a:off x="4617720" y="5111496"/>
            <a:ext cx="3172968" cy="429768"/>
          </a:xfrm>
          <a:prstGeom prst="rect">
            <a:avLst/>
          </a:prstGeom>
          <a:noFill/>
          <a:ln/>
        </p:spPr>
        <p:txBody>
          <a:bodyPr wrap="square" lIns="0" tIns="0" rIns="0" bIns="0" rtlCol="0" anchor="ctr"/>
          <a:lstStyle/>
          <a:p>
            <a:pPr marL="0" indent="0">
              <a:buNone/>
            </a:pPr>
            <a:r>
              <a:rPr lang="en-US" sz="1650" dirty="0">
                <a:solidFill>
                  <a:srgbClr val="EAF0FF"/>
                </a:solidFill>
                <a:latin typeface="Inter" pitchFamily="34" charset="0"/>
                <a:ea typeface="Inter" pitchFamily="34" charset="-122"/>
                <a:cs typeface="Inter" pitchFamily="34" charset="-120"/>
              </a:rPr>
              <a:t>Structured, known workflows</a:t>
            </a:r>
            <a:endParaRPr lang="en-US" sz="1650" dirty="0"/>
          </a:p>
        </p:txBody>
      </p:sp>
      <p:sp>
        <p:nvSpPr>
          <p:cNvPr id="37" name="Text 33"/>
          <p:cNvSpPr txBox="1"/>
          <p:nvPr/>
        </p:nvSpPr>
        <p:spPr>
          <a:xfrm>
            <a:off x="7936992" y="5111496"/>
            <a:ext cx="3172968" cy="429768"/>
          </a:xfrm>
          <a:prstGeom prst="rect">
            <a:avLst/>
          </a:prstGeom>
          <a:noFill/>
          <a:ln/>
        </p:spPr>
        <p:txBody>
          <a:bodyPr wrap="square" lIns="0" tIns="0" rIns="0" bIns="0" rtlCol="0" anchor="ctr"/>
          <a:lstStyle/>
          <a:p>
            <a:pPr marL="0" indent="0">
              <a:buNone/>
            </a:pPr>
            <a:r>
              <a:rPr lang="en-US" sz="1650" dirty="0">
                <a:solidFill>
                  <a:srgbClr val="EAF0FF"/>
                </a:solidFill>
                <a:latin typeface="Inter" pitchFamily="34" charset="0"/>
                <a:ea typeface="Inter" pitchFamily="34" charset="-122"/>
                <a:cs typeface="Inter" pitchFamily="34" charset="-120"/>
              </a:rPr>
              <a:t>Uncertain environments</a:t>
            </a:r>
            <a:endParaRPr lang="en-US" sz="1650" dirty="0"/>
          </a:p>
        </p:txBody>
      </p:sp>
      <p:sp>
        <p:nvSpPr>
          <p:cNvPr id="38" name="Text 34"/>
          <p:cNvSpPr txBox="1"/>
          <p:nvPr/>
        </p:nvSpPr>
        <p:spPr>
          <a:xfrm>
            <a:off x="868680" y="5486400"/>
            <a:ext cx="10424160" cy="658368"/>
          </a:xfrm>
          <a:prstGeom prst="rect">
            <a:avLst/>
          </a:prstGeom>
          <a:noFill/>
          <a:ln/>
        </p:spPr>
        <p:txBody>
          <a:bodyPr wrap="square" lIns="0" tIns="0" rIns="0" bIns="0" rtlCol="0" anchor="ctr"/>
          <a:lstStyle/>
          <a:p>
            <a:pPr marL="0" indent="0">
              <a:buNone/>
            </a:pPr>
            <a:r>
              <a:rPr lang="en-US" sz="2200" dirty="0">
                <a:solidFill>
                  <a:srgbClr val="9FB0D6"/>
                </a:solidFill>
                <a:latin typeface="Inter" pitchFamily="34" charset="0"/>
                <a:ea typeface="Inter" pitchFamily="34" charset="-122"/>
                <a:cs typeface="Inter" pitchFamily="34" charset="-120"/>
              </a:rPr>
              <a:t>Real agents do both, and replan when reality disagrees.</a:t>
            </a:r>
            <a:endParaRPr lang="en-US" sz="2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37</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4300" b="1" dirty="0">
                <a:solidFill>
                  <a:srgbClr val="EAF0FF"/>
                </a:solidFill>
                <a:latin typeface="Poppins" pitchFamily="34" charset="0"/>
                <a:ea typeface="Poppins" pitchFamily="34" charset="-122"/>
                <a:cs typeface="Poppins" pitchFamily="34" charset="-120"/>
              </a:rPr>
              <a:t>Replanning</a:t>
            </a:r>
            <a:endParaRPr lang="en-US" sz="4300" dirty="0"/>
          </a:p>
        </p:txBody>
      </p:sp>
      <p:sp>
        <p:nvSpPr>
          <p:cNvPr id="7" name="Shape 3"/>
          <p:cNvSpPr/>
          <p:nvPr/>
        </p:nvSpPr>
        <p:spPr>
          <a:xfrm>
            <a:off x="868680" y="1600200"/>
            <a:ext cx="4937760" cy="3794760"/>
          </a:xfrm>
          <a:prstGeom prst="roundRect">
            <a:avLst>
              <a:gd name="adj" fmla="val 2410"/>
            </a:avLst>
          </a:prstGeom>
          <a:solidFill>
            <a:srgbClr val="0A1024"/>
          </a:solidFill>
          <a:ln w="12700">
            <a:solidFill>
              <a:srgbClr val="1E2A55"/>
            </a:solidFill>
            <a:prstDash val="solid"/>
          </a:ln>
        </p:spPr>
      </p:sp>
      <p:sp>
        <p:nvSpPr>
          <p:cNvPr id="8" name="Text 4"/>
          <p:cNvSpPr txBox="1"/>
          <p:nvPr/>
        </p:nvSpPr>
        <p:spPr>
          <a:xfrm>
            <a:off x="11795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3FD0E6"/>
                </a:solidFill>
                <a:latin typeface="Inter" pitchFamily="34" charset="0"/>
                <a:ea typeface="Inter" pitchFamily="34" charset="-122"/>
                <a:cs typeface="Inter" pitchFamily="34" charset="-120"/>
              </a:rPr>
              <a:t>STEP TWO FAILS</a:t>
            </a:r>
            <a:endParaRPr lang="en-US" sz="1550" dirty="0"/>
          </a:p>
        </p:txBody>
      </p:sp>
      <p:sp>
        <p:nvSpPr>
          <p:cNvPr id="9" name="Text 5"/>
          <p:cNvSpPr txBox="1"/>
          <p:nvPr/>
        </p:nvSpPr>
        <p:spPr>
          <a:xfrm>
            <a:off x="1179576" y="2258568"/>
            <a:ext cx="4315968" cy="2862072"/>
          </a:xfrm>
          <a:prstGeom prst="rect">
            <a:avLst/>
          </a:prstGeom>
          <a:noFill/>
          <a:ln/>
        </p:spPr>
        <p:txBody>
          <a:bodyPr wrap="square" lIns="0" tIns="0" rIns="0" bIns="0" rtlCol="0" anchor="t"/>
          <a:lstStyle/>
          <a:p>
            <a:pPr marL="0" indent="0">
              <a:lnSpc>
                <a:spcPct val="118000"/>
              </a:lnSpc>
              <a:spcAft>
                <a:spcPts val="680"/>
              </a:spcAft>
              <a:buNone/>
            </a:pPr>
            <a:r>
              <a:rPr lang="en-US" sz="1292" dirty="0">
                <a:solidFill>
                  <a:srgbClr val="EAF0FF"/>
                </a:solidFill>
                <a:latin typeface="Inter" pitchFamily="34" charset="0"/>
                <a:ea typeface="Inter" pitchFamily="34" charset="-122"/>
                <a:cs typeface="Inter" pitchFamily="34" charset="-120"/>
              </a:rPr>
              <a:t>The plan was: search papers, download them, summarise, write the report. Step one worked. Step two failed, because paper three is paywalled.</a:t>
            </a:r>
            <a:endParaRPr lang="en-US" sz="1360" dirty="0"/>
          </a:p>
          <a:p>
            <a:pPr marL="0" indent="0">
              <a:lnSpc>
                <a:spcPct val="118000"/>
              </a:lnSpc>
              <a:spcAft>
                <a:spcPts val="680"/>
              </a:spcAft>
              <a:buNone/>
            </a:pPr>
            <a:r>
              <a:rPr lang="en-US" sz="1292" dirty="0">
                <a:solidFill>
                  <a:srgbClr val="9FB0D6"/>
                </a:solidFill>
                <a:latin typeface="Inter" pitchFamily="34" charset="0"/>
                <a:ea typeface="Inter" pitchFamily="34" charset="-122"/>
                <a:cs typeface="Inter" pitchFamily="34" charset="-120"/>
              </a:rPr>
              <a:t>The naive path is what a plain loop does: carry on to step three and summarise a file that was never downloaded. The report then cites a paper nobody read.</a:t>
            </a:r>
            <a:endParaRPr lang="en-US" sz="1360" dirty="0"/>
          </a:p>
          <a:p>
            <a:pPr marL="0" indent="0">
              <a:lnSpc>
                <a:spcPct val="118000"/>
              </a:lnSpc>
              <a:spcAft>
                <a:spcPts val="680"/>
              </a:spcAft>
              <a:buNone/>
            </a:pPr>
            <a:r>
              <a:rPr lang="en-US" sz="1292" dirty="0">
                <a:solidFill>
                  <a:srgbClr val="EAF0FF"/>
                </a:solidFill>
                <a:latin typeface="Inter" pitchFamily="34" charset="0"/>
                <a:ea typeface="Inter" pitchFamily="34" charset="-122"/>
                <a:cs typeface="Inter" pitchFamily="34" charset="-120"/>
              </a:rPr>
              <a:t>The robust path treats failure as information. Stop, look at the state, generate a new plan from where you actually are: find another source, or drop that paper and note it.</a:t>
            </a:r>
            <a:endParaRPr lang="en-US" sz="1360" dirty="0"/>
          </a:p>
        </p:txBody>
      </p:sp>
      <p:sp>
        <p:nvSpPr>
          <p:cNvPr id="10" name="Shape 6"/>
          <p:cNvSpPr/>
          <p:nvPr/>
        </p:nvSpPr>
        <p:spPr>
          <a:xfrm>
            <a:off x="6355080" y="1600200"/>
            <a:ext cx="4937760" cy="3794760"/>
          </a:xfrm>
          <a:prstGeom prst="roundRect">
            <a:avLst>
              <a:gd name="adj" fmla="val 2410"/>
            </a:avLst>
          </a:prstGeom>
          <a:solidFill>
            <a:srgbClr val="0A1024"/>
          </a:solidFill>
          <a:ln w="12700">
            <a:solidFill>
              <a:srgbClr val="1E2A55"/>
            </a:solidFill>
            <a:prstDash val="solid"/>
          </a:ln>
        </p:spPr>
      </p:sp>
      <p:sp>
        <p:nvSpPr>
          <p:cNvPr id="11" name="Text 7"/>
          <p:cNvSpPr txBox="1"/>
          <p:nvPr/>
        </p:nvSpPr>
        <p:spPr>
          <a:xfrm>
            <a:off x="66659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F5C542"/>
                </a:solidFill>
                <a:latin typeface="Inter" pitchFamily="34" charset="0"/>
                <a:ea typeface="Inter" pitchFamily="34" charset="-122"/>
                <a:cs typeface="Inter" pitchFamily="34" charset="-120"/>
              </a:rPr>
              <a:t>FIVE REASONS TO REPLAN</a:t>
            </a:r>
            <a:endParaRPr lang="en-US" sz="1550" dirty="0"/>
          </a:p>
        </p:txBody>
      </p:sp>
      <p:sp>
        <p:nvSpPr>
          <p:cNvPr id="12" name="Text 8"/>
          <p:cNvSpPr txBox="1"/>
          <p:nvPr/>
        </p:nvSpPr>
        <p:spPr>
          <a:xfrm>
            <a:off x="6665976" y="2258568"/>
            <a:ext cx="4315968" cy="2862072"/>
          </a:xfrm>
          <a:prstGeom prst="rect">
            <a:avLst/>
          </a:prstGeom>
          <a:noFill/>
          <a:ln/>
        </p:spPr>
        <p:txBody>
          <a:bodyPr wrap="square" lIns="0" tIns="0" rIns="0" bIns="0" rtlCol="0" anchor="t"/>
          <a:lstStyle/>
          <a:p>
            <a:pPr marL="0" indent="0">
              <a:lnSpc>
                <a:spcPct val="118000"/>
              </a:lnSpc>
              <a:spcAft>
                <a:spcPts val="476"/>
              </a:spcAft>
              <a:buNone/>
            </a:pPr>
            <a:r>
              <a:rPr lang="en-US" sz="1292" dirty="0">
                <a:solidFill>
                  <a:srgbClr val="EAF0FF"/>
                </a:solidFill>
                <a:latin typeface="Inter" pitchFamily="34" charset="0"/>
                <a:ea typeface="Inter" pitchFamily="34" charset="-122"/>
                <a:cs typeface="Inter" pitchFamily="34" charset="-120"/>
              </a:rPr>
              <a:t>Tool failure. The API is down, the request timed out, the service refused.</a:t>
            </a:r>
            <a:endParaRPr lang="en-US" sz="1292" dirty="0"/>
          </a:p>
          <a:p>
            <a:pPr marL="0" indent="0">
              <a:lnSpc>
                <a:spcPct val="118000"/>
              </a:lnSpc>
              <a:spcAft>
                <a:spcPts val="476"/>
              </a:spcAft>
              <a:buNone/>
            </a:pPr>
            <a:r>
              <a:rPr lang="en-US" sz="1292" dirty="0">
                <a:solidFill>
                  <a:srgbClr val="EAF0FF"/>
                </a:solidFill>
                <a:latin typeface="Inter" pitchFamily="34" charset="0"/>
                <a:ea typeface="Inter" pitchFamily="34" charset="-122"/>
                <a:cs typeface="Inter" pitchFamily="34" charset="-120"/>
              </a:rPr>
              <a:t>Missing information. A required input is not there to be found.</a:t>
            </a:r>
            <a:endParaRPr lang="en-US" sz="1292" dirty="0"/>
          </a:p>
          <a:p>
            <a:pPr marL="0" indent="0">
              <a:lnSpc>
                <a:spcPct val="118000"/>
              </a:lnSpc>
              <a:spcAft>
                <a:spcPts val="476"/>
              </a:spcAft>
              <a:buNone/>
            </a:pPr>
            <a:r>
              <a:rPr lang="en-US" sz="1292" dirty="0">
                <a:solidFill>
                  <a:srgbClr val="EAF0FF"/>
                </a:solidFill>
                <a:latin typeface="Inter" pitchFamily="34" charset="0"/>
                <a:ea typeface="Inter" pitchFamily="34" charset="-122"/>
                <a:cs typeface="Inter" pitchFamily="34" charset="-120"/>
              </a:rPr>
              <a:t>Invalid assumption. The plan expected a file, a table or a page that does not exist.</a:t>
            </a:r>
            <a:endParaRPr lang="en-US" sz="1292" dirty="0"/>
          </a:p>
          <a:p>
            <a:pPr marL="0" indent="0">
              <a:lnSpc>
                <a:spcPct val="118000"/>
              </a:lnSpc>
              <a:spcAft>
                <a:spcPts val="476"/>
              </a:spcAft>
              <a:buNone/>
            </a:pPr>
            <a:r>
              <a:rPr lang="en-US" sz="1292" dirty="0">
                <a:solidFill>
                  <a:srgbClr val="EAF0FF"/>
                </a:solidFill>
                <a:latin typeface="Inter" pitchFamily="34" charset="0"/>
                <a:ea typeface="Inter" pitchFamily="34" charset="-122"/>
                <a:cs typeface="Inter" pitchFamily="34" charset="-120"/>
              </a:rPr>
              <a:t>Goal change. The user changed their mind mid-run.</a:t>
            </a:r>
            <a:endParaRPr lang="en-US" sz="1292" dirty="0"/>
          </a:p>
          <a:p>
            <a:pPr marL="0" indent="0">
              <a:lnSpc>
                <a:spcPct val="118000"/>
              </a:lnSpc>
              <a:spcAft>
                <a:spcPts val="476"/>
              </a:spcAft>
              <a:buNone/>
            </a:pPr>
            <a:r>
              <a:rPr lang="en-US" sz="1292" dirty="0">
                <a:solidFill>
                  <a:srgbClr val="EAF0FF"/>
                </a:solidFill>
                <a:latin typeface="Inter" pitchFamily="34" charset="0"/>
                <a:ea typeface="Inter" pitchFamily="34" charset="-122"/>
                <a:cs typeface="Inter" pitchFamily="34" charset="-120"/>
              </a:rPr>
              <a:t>Repeated failure. The same step has failed three times; trying again will not help.</a:t>
            </a:r>
            <a:endParaRPr lang="en-US" sz="1292" dirty="0"/>
          </a:p>
        </p:txBody>
      </p:sp>
      <p:sp>
        <p:nvSpPr>
          <p:cNvPr id="13" name="Text 9"/>
          <p:cNvSpPr txBox="1"/>
          <p:nvPr/>
        </p:nvSpPr>
        <p:spPr>
          <a:xfrm>
            <a:off x="868680" y="5486400"/>
            <a:ext cx="10424160" cy="658368"/>
          </a:xfrm>
          <a:prstGeom prst="rect">
            <a:avLst/>
          </a:prstGeom>
          <a:noFill/>
          <a:ln/>
        </p:spPr>
        <p:txBody>
          <a:bodyPr wrap="square" lIns="0" tIns="0" rIns="0" bIns="0" rtlCol="0" anchor="ctr"/>
          <a:lstStyle/>
          <a:p>
            <a:pPr marL="0" indent="0">
              <a:buNone/>
            </a:pPr>
            <a:r>
              <a:rPr lang="en-US" sz="2200" dirty="0">
                <a:solidFill>
                  <a:srgbClr val="9FB0D6"/>
                </a:solidFill>
                <a:latin typeface="Inter" pitchFamily="34" charset="0"/>
                <a:ea typeface="Inter" pitchFamily="34" charset="-122"/>
                <a:cs typeface="Inter" pitchFamily="34" charset="-120"/>
              </a:rPr>
              <a:t>A retry is cheap. A replan is a model call. Spend it when the situation actually changed.</a:t>
            </a:r>
            <a:endParaRPr lang="en-US" sz="2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38</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4300" b="1" dirty="0">
                <a:solidFill>
                  <a:srgbClr val="EAF0FF"/>
                </a:solidFill>
                <a:latin typeface="Poppins" pitchFamily="34" charset="0"/>
                <a:ea typeface="Poppins" pitchFamily="34" charset="-122"/>
                <a:cs typeface="Poppins" pitchFamily="34" charset="-120"/>
              </a:rPr>
              <a:t>Stopping conditions</a:t>
            </a:r>
            <a:endParaRPr lang="en-US" sz="4300" dirty="0"/>
          </a:p>
        </p:txBody>
      </p:sp>
      <p:sp>
        <p:nvSpPr>
          <p:cNvPr id="7" name="Shape 3"/>
          <p:cNvSpPr/>
          <p:nvPr/>
        </p:nvSpPr>
        <p:spPr>
          <a:xfrm>
            <a:off x="868680" y="1600200"/>
            <a:ext cx="10424160" cy="2103120"/>
          </a:xfrm>
          <a:prstGeom prst="roundRect">
            <a:avLst>
              <a:gd name="adj" fmla="val 4348"/>
            </a:avLst>
          </a:prstGeom>
          <a:solidFill>
            <a:srgbClr val="0A1024"/>
          </a:solidFill>
          <a:ln w="12700">
            <a:solidFill>
              <a:srgbClr val="1E2A55"/>
            </a:solidFill>
            <a:prstDash val="solid"/>
          </a:ln>
        </p:spPr>
      </p:sp>
      <p:sp>
        <p:nvSpPr>
          <p:cNvPr id="8" name="Text 4"/>
          <p:cNvSpPr txBox="1"/>
          <p:nvPr/>
        </p:nvSpPr>
        <p:spPr>
          <a:xfrm>
            <a:off x="1179576" y="1819656"/>
            <a:ext cx="9875520" cy="274320"/>
          </a:xfrm>
          <a:prstGeom prst="rect">
            <a:avLst/>
          </a:prstGeom>
          <a:noFill/>
          <a:ln/>
        </p:spPr>
        <p:txBody>
          <a:bodyPr wrap="square" lIns="0" tIns="0" rIns="0" bIns="0" rtlCol="0" anchor="ctr"/>
          <a:lstStyle/>
          <a:p>
            <a:pPr marL="0" indent="0">
              <a:buNone/>
            </a:pPr>
            <a:r>
              <a:rPr lang="en-US" sz="1550" b="1" kern="0" spc="200" dirty="0">
                <a:solidFill>
                  <a:srgbClr val="F5C542"/>
                </a:solidFill>
                <a:latin typeface="Inter" pitchFamily="34" charset="0"/>
                <a:ea typeface="Inter" pitchFamily="34" charset="-122"/>
                <a:cs typeface="Inter" pitchFamily="34" charset="-120"/>
              </a:rPr>
              <a:t>A LOOP WITH NO EXIT CONDITION IS A BUG</a:t>
            </a:r>
            <a:endParaRPr lang="en-US" sz="1550" dirty="0"/>
          </a:p>
        </p:txBody>
      </p:sp>
      <p:sp>
        <p:nvSpPr>
          <p:cNvPr id="9" name="Text 5"/>
          <p:cNvSpPr txBox="1"/>
          <p:nvPr/>
        </p:nvSpPr>
        <p:spPr>
          <a:xfrm>
            <a:off x="1179576" y="2258568"/>
            <a:ext cx="9802368" cy="1170432"/>
          </a:xfrm>
          <a:prstGeom prst="rect">
            <a:avLst/>
          </a:prstGeom>
          <a:noFill/>
          <a:ln/>
        </p:spPr>
        <p:txBody>
          <a:bodyPr wrap="square" lIns="0" tIns="0" rIns="0" bIns="0" rtlCol="0" anchor="t"/>
          <a:lstStyle/>
          <a:p>
            <a:pPr marL="0" indent="0">
              <a:lnSpc>
                <a:spcPct val="118000"/>
              </a:lnSpc>
              <a:spcAft>
                <a:spcPts val="612"/>
              </a:spcAft>
              <a:buNone/>
            </a:pPr>
            <a:r>
              <a:rPr lang="en-US" sz="1292" dirty="0">
                <a:solidFill>
                  <a:srgbClr val="EAF0FF"/>
                </a:solidFill>
                <a:latin typeface="Inter" pitchFamily="34" charset="0"/>
                <a:ea typeface="Inter" pitchFamily="34" charset="-122"/>
                <a:cs typeface="Inter" pitchFamily="34" charset="-120"/>
              </a:rPr>
              <a:t>What guarantees an agent stops? Nothing. The model has no obligation to ever say “done”, and a chat is bounded by the human typing, while an autonomous loop has no such brake.</a:t>
            </a:r>
            <a:endParaRPr lang="en-US" sz="1292" dirty="0"/>
          </a:p>
          <a:p>
            <a:pPr marL="0" indent="0">
              <a:lnSpc>
                <a:spcPct val="118000"/>
              </a:lnSpc>
              <a:spcAft>
                <a:spcPts val="612"/>
              </a:spcAft>
              <a:buNone/>
            </a:pPr>
            <a:r>
              <a:rPr lang="en-US" sz="1292" dirty="0">
                <a:solidFill>
                  <a:srgbClr val="9FB0D6"/>
                </a:solidFill>
                <a:latin typeface="Inter" pitchFamily="34" charset="0"/>
                <a:ea typeface="Inter" pitchFamily="34" charset="-122"/>
                <a:cs typeface="Inter" pitchFamily="34" charset="-120"/>
              </a:rPr>
              <a:t>An unbounded agent burns API calls, tokens, money, time, rate limits and quotas. One that repeats the same action and gets the same result will happily do it forever, at your expense.</a:t>
            </a:r>
            <a:endParaRPr lang="en-US" sz="1292" dirty="0"/>
          </a:p>
        </p:txBody>
      </p:sp>
      <p:sp>
        <p:nvSpPr>
          <p:cNvPr id="10" name="Text 6"/>
          <p:cNvSpPr txBox="1"/>
          <p:nvPr/>
        </p:nvSpPr>
        <p:spPr>
          <a:xfrm>
            <a:off x="1005840" y="3840480"/>
            <a:ext cx="3017520" cy="402336"/>
          </a:xfrm>
          <a:prstGeom prst="rect">
            <a:avLst/>
          </a:prstGeom>
          <a:noFill/>
          <a:ln/>
        </p:spPr>
        <p:txBody>
          <a:bodyPr wrap="square" lIns="0" tIns="0" rIns="0" bIns="0" rtlCol="0" anchor="ctr"/>
          <a:lstStyle/>
          <a:p>
            <a:pPr marL="0" indent="0">
              <a:buNone/>
            </a:pPr>
            <a:r>
              <a:rPr lang="en-US" sz="1700" b="1" dirty="0">
                <a:solidFill>
                  <a:srgbClr val="EAF0FF"/>
                </a:solidFill>
                <a:latin typeface="Inter" pitchFamily="34" charset="0"/>
                <a:ea typeface="Inter" pitchFamily="34" charset="-122"/>
                <a:cs typeface="Inter" pitchFamily="34" charset="-120"/>
              </a:rPr>
              <a:t>Goal achieved</a:t>
            </a:r>
            <a:endParaRPr lang="en-US" sz="1700" dirty="0"/>
          </a:p>
        </p:txBody>
      </p:sp>
      <p:sp>
        <p:nvSpPr>
          <p:cNvPr id="11" name="Text 7"/>
          <p:cNvSpPr txBox="1"/>
          <p:nvPr/>
        </p:nvSpPr>
        <p:spPr>
          <a:xfrm>
            <a:off x="4114800" y="3840480"/>
            <a:ext cx="7132320" cy="438912"/>
          </a:xfrm>
          <a:prstGeom prst="rect">
            <a:avLst/>
          </a:prstGeom>
          <a:noFill/>
          <a:ln/>
        </p:spPr>
        <p:txBody>
          <a:bodyPr wrap="square" lIns="0" tIns="0" rIns="0" bIns="0" rtlCol="0" anchor="ctr"/>
          <a:lstStyle/>
          <a:p>
            <a:pPr marL="0" indent="0">
              <a:buNone/>
            </a:pPr>
            <a:r>
              <a:rPr lang="en-US" sz="1600" dirty="0">
                <a:solidFill>
                  <a:srgbClr val="9FB0D6"/>
                </a:solidFill>
                <a:latin typeface="Inter" pitchFamily="34" charset="0"/>
                <a:ea typeface="Inter" pitchFamily="34" charset="-122"/>
                <a:cs typeface="Inter" pitchFamily="34" charset="-120"/>
              </a:rPr>
              <a:t>The task is complete. The intended finish; everything else is a safety net.</a:t>
            </a:r>
            <a:endParaRPr lang="en-US" sz="1600" dirty="0"/>
          </a:p>
        </p:txBody>
      </p:sp>
      <p:sp>
        <p:nvSpPr>
          <p:cNvPr id="12" name="Text 8"/>
          <p:cNvSpPr txBox="1"/>
          <p:nvPr/>
        </p:nvSpPr>
        <p:spPr>
          <a:xfrm>
            <a:off x="1005840" y="4297680"/>
            <a:ext cx="3017520" cy="402336"/>
          </a:xfrm>
          <a:prstGeom prst="rect">
            <a:avLst/>
          </a:prstGeom>
          <a:noFill/>
          <a:ln/>
        </p:spPr>
        <p:txBody>
          <a:bodyPr wrap="square" lIns="0" tIns="0" rIns="0" bIns="0" rtlCol="0" anchor="ctr"/>
          <a:lstStyle/>
          <a:p>
            <a:pPr marL="0" indent="0">
              <a:buNone/>
            </a:pPr>
            <a:r>
              <a:rPr lang="en-US" sz="1700" b="1" dirty="0">
                <a:solidFill>
                  <a:srgbClr val="EAF0FF"/>
                </a:solidFill>
                <a:latin typeface="Inter" pitchFamily="34" charset="0"/>
                <a:ea typeface="Inter" pitchFamily="34" charset="-122"/>
                <a:cs typeface="Inter" pitchFamily="34" charset="-120"/>
              </a:rPr>
              <a:t>Iteration cap</a:t>
            </a:r>
            <a:endParaRPr lang="en-US" sz="1700" dirty="0"/>
          </a:p>
        </p:txBody>
      </p:sp>
      <p:sp>
        <p:nvSpPr>
          <p:cNvPr id="13" name="Text 9"/>
          <p:cNvSpPr txBox="1"/>
          <p:nvPr/>
        </p:nvSpPr>
        <p:spPr>
          <a:xfrm>
            <a:off x="4114800" y="4297680"/>
            <a:ext cx="7132320" cy="438912"/>
          </a:xfrm>
          <a:prstGeom prst="rect">
            <a:avLst/>
          </a:prstGeom>
          <a:noFill/>
          <a:ln/>
        </p:spPr>
        <p:txBody>
          <a:bodyPr wrap="square" lIns="0" tIns="0" rIns="0" bIns="0" rtlCol="0" anchor="ctr"/>
          <a:lstStyle/>
          <a:p>
            <a:pPr marL="0" indent="0">
              <a:buNone/>
            </a:pPr>
            <a:r>
              <a:rPr lang="en-US" sz="1600" dirty="0">
                <a:solidFill>
                  <a:srgbClr val="9FB0D6"/>
                </a:solidFill>
                <a:latin typeface="Inter" pitchFamily="34" charset="0"/>
                <a:ea typeface="Inter" pitchFamily="34" charset="-122"/>
                <a:cs typeface="Inter" pitchFamily="34" charset="-120"/>
              </a:rPr>
              <a:t>The step count hits its limit. The blunt one. Always have it.</a:t>
            </a:r>
            <a:endParaRPr lang="en-US" sz="1600" dirty="0"/>
          </a:p>
        </p:txBody>
      </p:sp>
      <p:sp>
        <p:nvSpPr>
          <p:cNvPr id="14" name="Text 10"/>
          <p:cNvSpPr txBox="1"/>
          <p:nvPr/>
        </p:nvSpPr>
        <p:spPr>
          <a:xfrm>
            <a:off x="1005840" y="4754880"/>
            <a:ext cx="3017520" cy="402336"/>
          </a:xfrm>
          <a:prstGeom prst="rect">
            <a:avLst/>
          </a:prstGeom>
          <a:noFill/>
          <a:ln/>
        </p:spPr>
        <p:txBody>
          <a:bodyPr wrap="square" lIns="0" tIns="0" rIns="0" bIns="0" rtlCol="0" anchor="ctr"/>
          <a:lstStyle/>
          <a:p>
            <a:pPr marL="0" indent="0">
              <a:buNone/>
            </a:pPr>
            <a:r>
              <a:rPr lang="en-US" sz="1700" b="1" dirty="0">
                <a:solidFill>
                  <a:srgbClr val="EAF0FF"/>
                </a:solidFill>
                <a:latin typeface="Inter" pitchFamily="34" charset="0"/>
                <a:ea typeface="Inter" pitchFamily="34" charset="-122"/>
                <a:cs typeface="Inter" pitchFamily="34" charset="-120"/>
              </a:rPr>
              <a:t>Unrecoverable error</a:t>
            </a:r>
            <a:endParaRPr lang="en-US" sz="1700" dirty="0"/>
          </a:p>
        </p:txBody>
      </p:sp>
      <p:sp>
        <p:nvSpPr>
          <p:cNvPr id="15" name="Text 11"/>
          <p:cNvSpPr txBox="1"/>
          <p:nvPr/>
        </p:nvSpPr>
        <p:spPr>
          <a:xfrm>
            <a:off x="4114800" y="4754880"/>
            <a:ext cx="7132320" cy="438912"/>
          </a:xfrm>
          <a:prstGeom prst="rect">
            <a:avLst/>
          </a:prstGeom>
          <a:noFill/>
          <a:ln/>
        </p:spPr>
        <p:txBody>
          <a:bodyPr wrap="square" lIns="0" tIns="0" rIns="0" bIns="0" rtlCol="0" anchor="ctr"/>
          <a:lstStyle/>
          <a:p>
            <a:pPr marL="0" indent="0">
              <a:buNone/>
            </a:pPr>
            <a:r>
              <a:rPr lang="en-US" sz="1600" dirty="0">
                <a:solidFill>
                  <a:srgbClr val="9FB0D6"/>
                </a:solidFill>
                <a:latin typeface="Inter" pitchFamily="34" charset="0"/>
                <a:ea typeface="Inter" pitchFamily="34" charset="-122"/>
                <a:cs typeface="Inter" pitchFamily="34" charset="-120"/>
              </a:rPr>
              <a:t>The failure is fatal, and the thing it needs is gone.</a:t>
            </a:r>
            <a:endParaRPr lang="en-US" sz="1600" dirty="0"/>
          </a:p>
        </p:txBody>
      </p:sp>
      <p:sp>
        <p:nvSpPr>
          <p:cNvPr id="16" name="Text 12"/>
          <p:cNvSpPr txBox="1"/>
          <p:nvPr/>
        </p:nvSpPr>
        <p:spPr>
          <a:xfrm>
            <a:off x="1005840" y="5212080"/>
            <a:ext cx="3017520" cy="402336"/>
          </a:xfrm>
          <a:prstGeom prst="rect">
            <a:avLst/>
          </a:prstGeom>
          <a:noFill/>
          <a:ln/>
        </p:spPr>
        <p:txBody>
          <a:bodyPr wrap="square" lIns="0" tIns="0" rIns="0" bIns="0" rtlCol="0" anchor="ctr"/>
          <a:lstStyle/>
          <a:p>
            <a:pPr marL="0" indent="0">
              <a:buNone/>
            </a:pPr>
            <a:r>
              <a:rPr lang="en-US" sz="1700" b="1" dirty="0">
                <a:solidFill>
                  <a:srgbClr val="EAF0FF"/>
                </a:solidFill>
                <a:latin typeface="Inter" pitchFamily="34" charset="0"/>
                <a:ea typeface="Inter" pitchFamily="34" charset="-122"/>
                <a:cs typeface="Inter" pitchFamily="34" charset="-120"/>
              </a:rPr>
              <a:t>No progress</a:t>
            </a:r>
            <a:endParaRPr lang="en-US" sz="1700" dirty="0"/>
          </a:p>
        </p:txBody>
      </p:sp>
      <p:sp>
        <p:nvSpPr>
          <p:cNvPr id="17" name="Text 13"/>
          <p:cNvSpPr txBox="1"/>
          <p:nvPr/>
        </p:nvSpPr>
        <p:spPr>
          <a:xfrm>
            <a:off x="4114800" y="5212080"/>
            <a:ext cx="7132320" cy="438912"/>
          </a:xfrm>
          <a:prstGeom prst="rect">
            <a:avLst/>
          </a:prstGeom>
          <a:noFill/>
          <a:ln/>
        </p:spPr>
        <p:txBody>
          <a:bodyPr wrap="square" lIns="0" tIns="0" rIns="0" bIns="0" rtlCol="0" anchor="ctr"/>
          <a:lstStyle/>
          <a:p>
            <a:pPr marL="0" indent="0">
              <a:buNone/>
            </a:pPr>
            <a:r>
              <a:rPr lang="en-US" sz="1600" dirty="0">
                <a:solidFill>
                  <a:srgbClr val="9FB0D6"/>
                </a:solidFill>
                <a:latin typeface="Inter" pitchFamily="34" charset="0"/>
                <a:ea typeface="Inter" pitchFamily="34" charset="-122"/>
                <a:cs typeface="Inter" pitchFamily="34" charset="-120"/>
              </a:rPr>
              <a:t>A whole cycle left the state unchanged. It is spinning.</a:t>
            </a:r>
            <a:endParaRPr lang="en-US" sz="1600" dirty="0"/>
          </a:p>
        </p:txBody>
      </p:sp>
      <p:sp>
        <p:nvSpPr>
          <p:cNvPr id="18" name="Text 14"/>
          <p:cNvSpPr txBox="1"/>
          <p:nvPr/>
        </p:nvSpPr>
        <p:spPr>
          <a:xfrm>
            <a:off x="1005840" y="5669280"/>
            <a:ext cx="3017520" cy="402336"/>
          </a:xfrm>
          <a:prstGeom prst="rect">
            <a:avLst/>
          </a:prstGeom>
          <a:noFill/>
          <a:ln/>
        </p:spPr>
        <p:txBody>
          <a:bodyPr wrap="square" lIns="0" tIns="0" rIns="0" bIns="0" rtlCol="0" anchor="ctr"/>
          <a:lstStyle/>
          <a:p>
            <a:pPr marL="0" indent="0">
              <a:buNone/>
            </a:pPr>
            <a:r>
              <a:rPr lang="en-US" sz="1700" b="1" dirty="0">
                <a:solidFill>
                  <a:srgbClr val="EAF0FF"/>
                </a:solidFill>
                <a:latin typeface="Inter" pitchFamily="34" charset="0"/>
                <a:ea typeface="Inter" pitchFamily="34" charset="-122"/>
                <a:cs typeface="Inter" pitchFamily="34" charset="-120"/>
              </a:rPr>
              <a:t>Human needed</a:t>
            </a:r>
            <a:endParaRPr lang="en-US" sz="1700" dirty="0"/>
          </a:p>
        </p:txBody>
      </p:sp>
      <p:sp>
        <p:nvSpPr>
          <p:cNvPr id="19" name="Text 15"/>
          <p:cNvSpPr txBox="1"/>
          <p:nvPr/>
        </p:nvSpPr>
        <p:spPr>
          <a:xfrm>
            <a:off x="4114800" y="5669280"/>
            <a:ext cx="7132320" cy="438912"/>
          </a:xfrm>
          <a:prstGeom prst="rect">
            <a:avLst/>
          </a:prstGeom>
          <a:noFill/>
          <a:ln/>
        </p:spPr>
        <p:txBody>
          <a:bodyPr wrap="square" lIns="0" tIns="0" rIns="0" bIns="0" rtlCol="0" anchor="ctr"/>
          <a:lstStyle/>
          <a:p>
            <a:pPr marL="0" indent="0">
              <a:buNone/>
            </a:pPr>
            <a:r>
              <a:rPr lang="en-US" sz="1600" dirty="0">
                <a:solidFill>
                  <a:srgbClr val="9FB0D6"/>
                </a:solidFill>
                <a:latin typeface="Inter" pitchFamily="34" charset="0"/>
                <a:ea typeface="Inter" pitchFamily="34" charset="-122"/>
                <a:cs typeface="Inter" pitchFamily="34" charset="-120"/>
              </a:rPr>
              <a:t>Stop and hand it to a person. A feature, not a failure.</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39</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4300" b="1" dirty="0">
                <a:solidFill>
                  <a:srgbClr val="EAF0FF"/>
                </a:solidFill>
                <a:latin typeface="Poppins" pitchFamily="34" charset="0"/>
                <a:ea typeface="Poppins" pitchFamily="34" charset="-122"/>
                <a:cs typeface="Poppins" pitchFamily="34" charset="-120"/>
              </a:rPr>
              <a:t>Planning needs memory</a:t>
            </a:r>
            <a:endParaRPr lang="en-US" sz="4300" dirty="0"/>
          </a:p>
        </p:txBody>
      </p:sp>
      <p:sp>
        <p:nvSpPr>
          <p:cNvPr id="7" name="Shape 3"/>
          <p:cNvSpPr/>
          <p:nvPr/>
        </p:nvSpPr>
        <p:spPr>
          <a:xfrm>
            <a:off x="868680" y="1600200"/>
            <a:ext cx="4937760" cy="3794760"/>
          </a:xfrm>
          <a:prstGeom prst="roundRect">
            <a:avLst>
              <a:gd name="adj" fmla="val 2410"/>
            </a:avLst>
          </a:prstGeom>
          <a:solidFill>
            <a:srgbClr val="0A1024"/>
          </a:solidFill>
          <a:ln w="12700">
            <a:solidFill>
              <a:srgbClr val="1E2A55"/>
            </a:solidFill>
            <a:prstDash val="solid"/>
          </a:ln>
        </p:spPr>
      </p:sp>
      <p:sp>
        <p:nvSpPr>
          <p:cNvPr id="8" name="Text 4"/>
          <p:cNvSpPr txBox="1"/>
          <p:nvPr/>
        </p:nvSpPr>
        <p:spPr>
          <a:xfrm>
            <a:off x="11795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3FD0E6"/>
                </a:solidFill>
                <a:latin typeface="Inter" pitchFamily="34" charset="0"/>
                <a:ea typeface="Inter" pitchFamily="34" charset="-122"/>
                <a:cs typeface="Inter" pitchFamily="34" charset="-120"/>
              </a:rPr>
              <a:t>WITH MEMORY</a:t>
            </a:r>
            <a:endParaRPr lang="en-US" sz="1550" dirty="0"/>
          </a:p>
        </p:txBody>
      </p:sp>
      <p:sp>
        <p:nvSpPr>
          <p:cNvPr id="9" name="Text 5"/>
          <p:cNvSpPr txBox="1"/>
          <p:nvPr/>
        </p:nvSpPr>
        <p:spPr>
          <a:xfrm>
            <a:off x="1179576" y="2258568"/>
            <a:ext cx="4315968" cy="2862072"/>
          </a:xfrm>
          <a:prstGeom prst="rect">
            <a:avLst/>
          </a:prstGeom>
          <a:noFill/>
          <a:ln/>
        </p:spPr>
        <p:txBody>
          <a:bodyPr wrap="square" lIns="0" tIns="0" rIns="0" bIns="0" rtlCol="0" anchor="t"/>
          <a:lstStyle/>
          <a:p>
            <a:pPr marL="0" indent="0">
              <a:lnSpc>
                <a:spcPct val="118000"/>
              </a:lnSpc>
              <a:spcAft>
                <a:spcPts val="1183"/>
              </a:spcAft>
              <a:buNone/>
            </a:pPr>
            <a:r>
              <a:rPr lang="en-US" sz="1820" dirty="0">
                <a:solidFill>
                  <a:srgbClr val="EAF0FF"/>
                </a:solidFill>
                <a:latin typeface="Inter" pitchFamily="34" charset="0"/>
                <a:ea typeface="Inter" pitchFamily="34" charset="-122"/>
                <a:cs typeface="Inter" pitchFamily="34" charset="-120"/>
              </a:rPr>
              <a:t>Step one produces three topics. They go into memory.</a:t>
            </a:r>
            <a:endParaRPr lang="en-US" sz="1820" dirty="0"/>
          </a:p>
          <a:p>
            <a:pPr marL="0" indent="0">
              <a:lnSpc>
                <a:spcPct val="118000"/>
              </a:lnSpc>
              <a:spcAft>
                <a:spcPts val="1183"/>
              </a:spcAft>
              <a:buNone/>
            </a:pPr>
            <a:r>
              <a:rPr lang="en-US" sz="1820" dirty="0">
                <a:solidFill>
                  <a:srgbClr val="EAF0FF"/>
                </a:solidFill>
                <a:latin typeface="Inter" pitchFamily="34" charset="0"/>
                <a:ea typeface="Inter" pitchFamily="34" charset="-122"/>
                <a:cs typeface="Inter" pitchFamily="34" charset="-120"/>
              </a:rPr>
              <a:t>Step two reads memory and builds a schedule for those three topics.</a:t>
            </a:r>
            <a:endParaRPr lang="en-US" sz="1820" dirty="0"/>
          </a:p>
          <a:p>
            <a:pPr marL="0" indent="0">
              <a:lnSpc>
                <a:spcPct val="118000"/>
              </a:lnSpc>
              <a:spcAft>
                <a:spcPts val="1183"/>
              </a:spcAft>
              <a:buNone/>
            </a:pPr>
            <a:r>
              <a:rPr lang="en-US" sz="1729" dirty="0">
                <a:solidFill>
                  <a:srgbClr val="9FB0D6"/>
                </a:solidFill>
                <a:latin typeface="Inter" pitchFamily="34" charset="0"/>
                <a:ea typeface="Inter" pitchFamily="34" charset="-122"/>
                <a:cs typeface="Inter" pitchFamily="34" charset="-120"/>
              </a:rPr>
              <a:t>Every later step can see what the earlier ones decided.</a:t>
            </a:r>
            <a:endParaRPr lang="en-US" sz="1820" dirty="0"/>
          </a:p>
        </p:txBody>
      </p:sp>
      <p:sp>
        <p:nvSpPr>
          <p:cNvPr id="10" name="Shape 6"/>
          <p:cNvSpPr/>
          <p:nvPr/>
        </p:nvSpPr>
        <p:spPr>
          <a:xfrm>
            <a:off x="6355080" y="1600200"/>
            <a:ext cx="4937760" cy="3794760"/>
          </a:xfrm>
          <a:prstGeom prst="roundRect">
            <a:avLst>
              <a:gd name="adj" fmla="val 2410"/>
            </a:avLst>
          </a:prstGeom>
          <a:solidFill>
            <a:srgbClr val="0A1024"/>
          </a:solidFill>
          <a:ln w="12700">
            <a:solidFill>
              <a:srgbClr val="1E2A55"/>
            </a:solidFill>
            <a:prstDash val="solid"/>
          </a:ln>
        </p:spPr>
      </p:sp>
      <p:sp>
        <p:nvSpPr>
          <p:cNvPr id="11" name="Text 7"/>
          <p:cNvSpPr txBox="1"/>
          <p:nvPr/>
        </p:nvSpPr>
        <p:spPr>
          <a:xfrm>
            <a:off x="6665976" y="1819656"/>
            <a:ext cx="4389120" cy="274320"/>
          </a:xfrm>
          <a:prstGeom prst="rect">
            <a:avLst/>
          </a:prstGeom>
          <a:noFill/>
          <a:ln/>
        </p:spPr>
        <p:txBody>
          <a:bodyPr wrap="square" lIns="0" tIns="0" rIns="0" bIns="0" rtlCol="0" anchor="ctr"/>
          <a:lstStyle/>
          <a:p>
            <a:pPr marL="0" indent="0">
              <a:buNone/>
            </a:pPr>
            <a:r>
              <a:rPr lang="en-US" sz="1550" b="1" kern="0" spc="200" dirty="0">
                <a:solidFill>
                  <a:srgbClr val="F5C542"/>
                </a:solidFill>
                <a:latin typeface="Inter" pitchFamily="34" charset="0"/>
                <a:ea typeface="Inter" pitchFamily="34" charset="-122"/>
                <a:cs typeface="Inter" pitchFamily="34" charset="-120"/>
              </a:rPr>
              <a:t>WITHOUT MEMORY</a:t>
            </a:r>
            <a:endParaRPr lang="en-US" sz="1550" dirty="0"/>
          </a:p>
        </p:txBody>
      </p:sp>
      <p:sp>
        <p:nvSpPr>
          <p:cNvPr id="12" name="Text 8"/>
          <p:cNvSpPr txBox="1"/>
          <p:nvPr/>
        </p:nvSpPr>
        <p:spPr>
          <a:xfrm>
            <a:off x="6665976" y="2258568"/>
            <a:ext cx="4315968" cy="2862072"/>
          </a:xfrm>
          <a:prstGeom prst="rect">
            <a:avLst/>
          </a:prstGeom>
          <a:noFill/>
          <a:ln/>
        </p:spPr>
        <p:txBody>
          <a:bodyPr wrap="square" lIns="0" tIns="0" rIns="0" bIns="0" rtlCol="0" anchor="t"/>
          <a:lstStyle/>
          <a:p>
            <a:pPr marL="0" indent="0">
              <a:lnSpc>
                <a:spcPct val="118000"/>
              </a:lnSpc>
              <a:spcAft>
                <a:spcPts val="1066"/>
              </a:spcAft>
              <a:buNone/>
            </a:pPr>
            <a:r>
              <a:rPr lang="en-US" sz="1640" dirty="0">
                <a:solidFill>
                  <a:srgbClr val="EAF0FF"/>
                </a:solidFill>
                <a:latin typeface="Inter" pitchFamily="34" charset="0"/>
                <a:ea typeface="Inter" pitchFamily="34" charset="-122"/>
                <a:cs typeface="Inter" pitchFamily="34" charset="-120"/>
              </a:rPr>
              <a:t>Step one produces three topics, and the output is lost.</a:t>
            </a:r>
            <a:endParaRPr lang="en-US" sz="1640" dirty="0"/>
          </a:p>
          <a:p>
            <a:pPr marL="0" indent="0">
              <a:lnSpc>
                <a:spcPct val="118000"/>
              </a:lnSpc>
              <a:spcAft>
                <a:spcPts val="1066"/>
              </a:spcAft>
              <a:buNone/>
            </a:pPr>
            <a:r>
              <a:rPr lang="en-US" sz="1640" dirty="0">
                <a:solidFill>
                  <a:srgbClr val="F5C542"/>
                </a:solidFill>
                <a:latin typeface="Inter" pitchFamily="34" charset="0"/>
                <a:ea typeface="Inter" pitchFamily="34" charset="-122"/>
                <a:cs typeface="Inter" pitchFamily="34" charset="-120"/>
              </a:rPr>
              <a:t>Step two builds a schedule for topics it invents on the spot.</a:t>
            </a:r>
            <a:endParaRPr lang="en-US" sz="1640" dirty="0"/>
          </a:p>
          <a:p>
            <a:pPr marL="0" indent="0">
              <a:lnSpc>
                <a:spcPct val="118000"/>
              </a:lnSpc>
              <a:spcAft>
                <a:spcPts val="1066"/>
              </a:spcAft>
              <a:buNone/>
            </a:pPr>
            <a:r>
              <a:rPr lang="en-US" sz="1558" dirty="0">
                <a:solidFill>
                  <a:srgbClr val="9FB0D6"/>
                </a:solidFill>
                <a:latin typeface="Inter" pitchFamily="34" charset="0"/>
                <a:ea typeface="Inter" pitchFamily="34" charset="-122"/>
                <a:cs typeface="Inter" pitchFamily="34" charset="-120"/>
              </a:rPr>
              <a:t>The plan still exists. All four steps, in order, perfectly sensible. The state needed to execute it does not.</a:t>
            </a:r>
            <a:endParaRPr lang="en-US" sz="1640" dirty="0"/>
          </a:p>
        </p:txBody>
      </p:sp>
      <p:sp>
        <p:nvSpPr>
          <p:cNvPr id="13" name="Text 9"/>
          <p:cNvSpPr txBox="1"/>
          <p:nvPr/>
        </p:nvSpPr>
        <p:spPr>
          <a:xfrm>
            <a:off x="868680" y="5486400"/>
            <a:ext cx="10424160" cy="658368"/>
          </a:xfrm>
          <a:prstGeom prst="rect">
            <a:avLst/>
          </a:prstGeom>
          <a:noFill/>
          <a:ln/>
        </p:spPr>
        <p:txBody>
          <a:bodyPr wrap="square" lIns="0" tIns="0" rIns="0" bIns="0" rtlCol="0" anchor="ctr"/>
          <a:lstStyle/>
          <a:p>
            <a:pPr marL="0" indent="0">
              <a:buNone/>
            </a:pPr>
            <a:r>
              <a:rPr lang="en-US" sz="2200" dirty="0">
                <a:solidFill>
                  <a:srgbClr val="F5C542"/>
                </a:solidFill>
                <a:latin typeface="Inter" pitchFamily="34" charset="0"/>
                <a:ea typeface="Inter" pitchFamily="34" charset="-122"/>
                <a:cs typeface="Inter" pitchFamily="34" charset="-120"/>
              </a:rPr>
              <a:t>Without memory, decomposition is just four unrelated calls with numbers in front of them.</a:t>
            </a:r>
            <a:endParaRPr lang="en-US" sz="2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40</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4300" b="1" dirty="0">
                <a:solidFill>
                  <a:srgbClr val="EAF0FF"/>
                </a:solidFill>
                <a:latin typeface="Poppins" pitchFamily="34" charset="0"/>
                <a:ea typeface="Poppins" pitchFamily="34" charset="-122"/>
                <a:cs typeface="Poppins" pitchFamily="34" charset="-120"/>
              </a:rPr>
              <a:t>Planner, executor, memory</a:t>
            </a:r>
            <a:endParaRPr lang="en-US" sz="4300" dirty="0"/>
          </a:p>
        </p:txBody>
      </p:sp>
      <p:sp>
        <p:nvSpPr>
          <p:cNvPr id="7" name="Shape 3"/>
          <p:cNvSpPr/>
          <p:nvPr/>
        </p:nvSpPr>
        <p:spPr>
          <a:xfrm>
            <a:off x="868680" y="1600200"/>
            <a:ext cx="3200400" cy="2880360"/>
          </a:xfrm>
          <a:prstGeom prst="roundRect">
            <a:avLst>
              <a:gd name="adj" fmla="val 3175"/>
            </a:avLst>
          </a:prstGeom>
          <a:solidFill>
            <a:srgbClr val="0A1024"/>
          </a:solidFill>
          <a:ln w="12700">
            <a:solidFill>
              <a:srgbClr val="1E2A55"/>
            </a:solidFill>
            <a:prstDash val="solid"/>
          </a:ln>
        </p:spPr>
      </p:sp>
      <p:sp>
        <p:nvSpPr>
          <p:cNvPr id="8" name="Text 4"/>
          <p:cNvSpPr txBox="1"/>
          <p:nvPr/>
        </p:nvSpPr>
        <p:spPr>
          <a:xfrm>
            <a:off x="1143000" y="1856232"/>
            <a:ext cx="2651760" cy="402336"/>
          </a:xfrm>
          <a:prstGeom prst="rect">
            <a:avLst/>
          </a:prstGeom>
          <a:noFill/>
          <a:ln/>
        </p:spPr>
        <p:txBody>
          <a:bodyPr wrap="square" lIns="0" tIns="0" rIns="0" bIns="0" rtlCol="0" anchor="ctr"/>
          <a:lstStyle/>
          <a:p>
            <a:pPr marL="0" indent="0">
              <a:buNone/>
            </a:pPr>
            <a:r>
              <a:rPr lang="en-US" sz="1600" b="1" kern="0" spc="200" dirty="0">
                <a:solidFill>
                  <a:srgbClr val="3FD0E6"/>
                </a:solidFill>
                <a:latin typeface="Inter" pitchFamily="34" charset="0"/>
                <a:ea typeface="Inter" pitchFamily="34" charset="-122"/>
                <a:cs typeface="Inter" pitchFamily="34" charset="-120"/>
              </a:rPr>
              <a:t>PLANNER</a:t>
            </a:r>
            <a:endParaRPr lang="en-US" sz="1600" dirty="0"/>
          </a:p>
        </p:txBody>
      </p:sp>
      <p:sp>
        <p:nvSpPr>
          <p:cNvPr id="9" name="Text 5"/>
          <p:cNvSpPr txBox="1"/>
          <p:nvPr/>
        </p:nvSpPr>
        <p:spPr>
          <a:xfrm>
            <a:off x="1143000" y="2313432"/>
            <a:ext cx="2651760" cy="1920240"/>
          </a:xfrm>
          <a:prstGeom prst="rect">
            <a:avLst/>
          </a:prstGeom>
          <a:noFill/>
          <a:ln/>
        </p:spPr>
        <p:txBody>
          <a:bodyPr wrap="square" lIns="0" tIns="0" rIns="0" bIns="0" rtlCol="0" anchor="t"/>
          <a:lstStyle/>
          <a:p>
            <a:pPr marL="0" indent="0">
              <a:lnSpc>
                <a:spcPct val="120000"/>
              </a:lnSpc>
              <a:buNone/>
            </a:pPr>
            <a:r>
              <a:rPr lang="en-US" sz="1800" dirty="0">
                <a:solidFill>
                  <a:srgbClr val="EAF0FF"/>
                </a:solidFill>
                <a:latin typeface="Inter" pitchFamily="34" charset="0"/>
                <a:ea typeface="Inter" pitchFamily="34" charset="-122"/>
                <a:cs typeface="Inter" pitchFamily="34" charset="-120"/>
              </a:rPr>
              <a:t>What should happen? Decomposes the task into steps. Runs once, or again after a failure. It is a model call.</a:t>
            </a:r>
            <a:endParaRPr lang="en-US" sz="1800" dirty="0"/>
          </a:p>
        </p:txBody>
      </p:sp>
      <p:sp>
        <p:nvSpPr>
          <p:cNvPr id="10" name="Shape 6"/>
          <p:cNvSpPr/>
          <p:nvPr/>
        </p:nvSpPr>
        <p:spPr>
          <a:xfrm>
            <a:off x="4434840" y="1600200"/>
            <a:ext cx="3200400" cy="2880360"/>
          </a:xfrm>
          <a:prstGeom prst="roundRect">
            <a:avLst>
              <a:gd name="adj" fmla="val 3175"/>
            </a:avLst>
          </a:prstGeom>
          <a:solidFill>
            <a:srgbClr val="0A1024"/>
          </a:solidFill>
          <a:ln w="12700">
            <a:solidFill>
              <a:srgbClr val="1E2A55"/>
            </a:solidFill>
            <a:prstDash val="solid"/>
          </a:ln>
        </p:spPr>
      </p:sp>
      <p:sp>
        <p:nvSpPr>
          <p:cNvPr id="11" name="Text 7"/>
          <p:cNvSpPr txBox="1"/>
          <p:nvPr/>
        </p:nvSpPr>
        <p:spPr>
          <a:xfrm>
            <a:off x="4709160" y="1856232"/>
            <a:ext cx="2651760" cy="402336"/>
          </a:xfrm>
          <a:prstGeom prst="rect">
            <a:avLst/>
          </a:prstGeom>
          <a:noFill/>
          <a:ln/>
        </p:spPr>
        <p:txBody>
          <a:bodyPr wrap="square" lIns="0" tIns="0" rIns="0" bIns="0" rtlCol="0" anchor="ctr"/>
          <a:lstStyle/>
          <a:p>
            <a:pPr marL="0" indent="0">
              <a:buNone/>
            </a:pPr>
            <a:r>
              <a:rPr lang="en-US" sz="1600" b="1" kern="0" spc="200" dirty="0">
                <a:solidFill>
                  <a:srgbClr val="3FD0E6"/>
                </a:solidFill>
                <a:latin typeface="Inter" pitchFamily="34" charset="0"/>
                <a:ea typeface="Inter" pitchFamily="34" charset="-122"/>
                <a:cs typeface="Inter" pitchFamily="34" charset="-120"/>
              </a:rPr>
              <a:t>EXECUTOR</a:t>
            </a:r>
            <a:endParaRPr lang="en-US" sz="1600" dirty="0"/>
          </a:p>
        </p:txBody>
      </p:sp>
      <p:sp>
        <p:nvSpPr>
          <p:cNvPr id="12" name="Text 8"/>
          <p:cNvSpPr txBox="1"/>
          <p:nvPr/>
        </p:nvSpPr>
        <p:spPr>
          <a:xfrm>
            <a:off x="4709160" y="2313432"/>
            <a:ext cx="2651760" cy="1920240"/>
          </a:xfrm>
          <a:prstGeom prst="rect">
            <a:avLst/>
          </a:prstGeom>
          <a:noFill/>
          <a:ln/>
        </p:spPr>
        <p:txBody>
          <a:bodyPr wrap="square" lIns="0" tIns="0" rIns="0" bIns="0" rtlCol="0" anchor="t"/>
          <a:lstStyle/>
          <a:p>
            <a:pPr marL="0" indent="0">
              <a:lnSpc>
                <a:spcPct val="120000"/>
              </a:lnSpc>
              <a:buNone/>
            </a:pPr>
            <a:r>
              <a:rPr lang="en-US" sz="1800" dirty="0">
                <a:solidFill>
                  <a:srgbClr val="EAF0FF"/>
                </a:solidFill>
                <a:latin typeface="Inter" pitchFamily="34" charset="0"/>
                <a:ea typeface="Inter" pitchFamily="34" charset="-122"/>
                <a:cs typeface="Inter" pitchFamily="34" charset="-120"/>
              </a:rPr>
              <a:t>What am I doing now? Takes one step plus the current state, performs it, returns a result. Also a model call.</a:t>
            </a:r>
            <a:endParaRPr lang="en-US" sz="1800" dirty="0"/>
          </a:p>
        </p:txBody>
      </p:sp>
      <p:sp>
        <p:nvSpPr>
          <p:cNvPr id="13" name="Shape 9"/>
          <p:cNvSpPr/>
          <p:nvPr/>
        </p:nvSpPr>
        <p:spPr>
          <a:xfrm>
            <a:off x="8001000" y="1600200"/>
            <a:ext cx="3200400" cy="2880360"/>
          </a:xfrm>
          <a:prstGeom prst="roundRect">
            <a:avLst>
              <a:gd name="adj" fmla="val 3175"/>
            </a:avLst>
          </a:prstGeom>
          <a:solidFill>
            <a:srgbClr val="16123A"/>
          </a:solidFill>
          <a:ln w="12700">
            <a:solidFill>
              <a:srgbClr val="4B3E9E"/>
            </a:solidFill>
            <a:prstDash val="solid"/>
          </a:ln>
        </p:spPr>
      </p:sp>
      <p:sp>
        <p:nvSpPr>
          <p:cNvPr id="14" name="Text 10"/>
          <p:cNvSpPr txBox="1"/>
          <p:nvPr/>
        </p:nvSpPr>
        <p:spPr>
          <a:xfrm>
            <a:off x="8275320" y="1856232"/>
            <a:ext cx="2651760" cy="402336"/>
          </a:xfrm>
          <a:prstGeom prst="rect">
            <a:avLst/>
          </a:prstGeom>
          <a:noFill/>
          <a:ln/>
        </p:spPr>
        <p:txBody>
          <a:bodyPr wrap="square" lIns="0" tIns="0" rIns="0" bIns="0" rtlCol="0" anchor="ctr"/>
          <a:lstStyle/>
          <a:p>
            <a:pPr marL="0" indent="0">
              <a:buNone/>
            </a:pPr>
            <a:r>
              <a:rPr lang="en-US" sz="1600" b="1" kern="0" spc="200" dirty="0">
                <a:solidFill>
                  <a:srgbClr val="F5C542"/>
                </a:solidFill>
                <a:latin typeface="Inter" pitchFamily="34" charset="0"/>
                <a:ea typeface="Inter" pitchFamily="34" charset="-122"/>
                <a:cs typeface="Inter" pitchFamily="34" charset="-120"/>
              </a:rPr>
              <a:t>MEMORY</a:t>
            </a:r>
            <a:endParaRPr lang="en-US" sz="1600" dirty="0"/>
          </a:p>
        </p:txBody>
      </p:sp>
      <p:sp>
        <p:nvSpPr>
          <p:cNvPr id="15" name="Text 11"/>
          <p:cNvSpPr txBox="1"/>
          <p:nvPr/>
        </p:nvSpPr>
        <p:spPr>
          <a:xfrm>
            <a:off x="8275320" y="2313432"/>
            <a:ext cx="2651760" cy="1920240"/>
          </a:xfrm>
          <a:prstGeom prst="rect">
            <a:avLst/>
          </a:prstGeom>
          <a:noFill/>
          <a:ln/>
        </p:spPr>
        <p:txBody>
          <a:bodyPr wrap="square" lIns="0" tIns="0" rIns="0" bIns="0" rtlCol="0" anchor="t"/>
          <a:lstStyle/>
          <a:p>
            <a:pPr marL="0" indent="0">
              <a:lnSpc>
                <a:spcPct val="120000"/>
              </a:lnSpc>
              <a:buNone/>
            </a:pPr>
            <a:r>
              <a:rPr lang="en-US" sz="1692" dirty="0">
                <a:solidFill>
                  <a:srgbClr val="EAF0FF"/>
                </a:solidFill>
                <a:latin typeface="Inter" pitchFamily="34" charset="0"/>
                <a:ea typeface="Inter" pitchFamily="34" charset="-122"/>
                <a:cs typeface="Inter" pitchFamily="34" charset="-120"/>
              </a:rPr>
              <a:t>What has happened? Holds results, progress and everything the next step depends on. The only one that is not a model call.</a:t>
            </a:r>
            <a:endParaRPr lang="en-US" sz="1692" dirty="0"/>
          </a:p>
        </p:txBody>
      </p:sp>
      <p:sp>
        <p:nvSpPr>
          <p:cNvPr id="16" name="Shape 12"/>
          <p:cNvSpPr/>
          <p:nvPr/>
        </p:nvSpPr>
        <p:spPr>
          <a:xfrm>
            <a:off x="868680" y="4617720"/>
            <a:ext cx="10424160" cy="1463040"/>
          </a:xfrm>
          <a:prstGeom prst="roundRect">
            <a:avLst>
              <a:gd name="adj" fmla="val 6250"/>
            </a:avLst>
          </a:prstGeom>
          <a:solidFill>
            <a:srgbClr val="0A1024"/>
          </a:solidFill>
          <a:ln w="12700">
            <a:solidFill>
              <a:srgbClr val="1E2A55"/>
            </a:solidFill>
            <a:prstDash val="solid"/>
          </a:ln>
        </p:spPr>
      </p:sp>
      <p:sp>
        <p:nvSpPr>
          <p:cNvPr id="17" name="Text 13"/>
          <p:cNvSpPr txBox="1"/>
          <p:nvPr/>
        </p:nvSpPr>
        <p:spPr>
          <a:xfrm>
            <a:off x="1179576" y="4928616"/>
            <a:ext cx="9802368" cy="841248"/>
          </a:xfrm>
          <a:prstGeom prst="rect">
            <a:avLst/>
          </a:prstGeom>
          <a:noFill/>
          <a:ln/>
        </p:spPr>
        <p:txBody>
          <a:bodyPr wrap="square" lIns="0" tIns="0" rIns="0" bIns="0" rtlCol="0" anchor="t"/>
          <a:lstStyle/>
          <a:p>
            <a:pPr marL="0" indent="0">
              <a:lnSpc>
                <a:spcPct val="118000"/>
              </a:lnSpc>
              <a:spcAft>
                <a:spcPts val="816"/>
              </a:spcAft>
              <a:buNone/>
            </a:pPr>
            <a:r>
              <a:rPr lang="en-US" sz="1428" dirty="0">
                <a:solidFill>
                  <a:srgbClr val="EAF0FF"/>
                </a:solidFill>
                <a:latin typeface="Inter" pitchFamily="34" charset="0"/>
                <a:ea typeface="Inter" pitchFamily="34" charset="-122"/>
                <a:cs typeface="Inter" pitchFamily="34" charset="-120"/>
              </a:rPr>
              <a:t>Task, plan, execute, result, memory, and round again. On failure, read the state and replan.</a:t>
            </a:r>
            <a:endParaRPr lang="en-US" sz="1292" dirty="0"/>
          </a:p>
          <a:p>
            <a:pPr marL="0" indent="0">
              <a:lnSpc>
                <a:spcPct val="118000"/>
              </a:lnSpc>
              <a:spcAft>
                <a:spcPts val="816"/>
              </a:spcAft>
              <a:buNone/>
            </a:pPr>
            <a:r>
              <a:rPr lang="en-US" sz="1428" dirty="0">
                <a:solidFill>
                  <a:srgbClr val="F5C542"/>
                </a:solidFill>
                <a:latin typeface="Inter" pitchFamily="34" charset="0"/>
                <a:ea typeface="Inter" pitchFamily="34" charset="-122"/>
                <a:cs typeface="Inter" pitchFamily="34" charset="-120"/>
              </a:rPr>
              <a:t>Every box is code you write. Only two are model calls.</a:t>
            </a:r>
            <a:endParaRPr lang="en-US" sz="1292"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41</a:t>
            </a:r>
            <a:endParaRPr lang="en-US" sz="1400" dirty="0"/>
          </a:p>
        </p:txBody>
      </p:sp>
      <p:sp>
        <p:nvSpPr>
          <p:cNvPr id="6" name="Text 2"/>
          <p:cNvSpPr txBox="1"/>
          <p:nvPr/>
        </p:nvSpPr>
        <p:spPr>
          <a:xfrm>
            <a:off x="822960" y="658368"/>
            <a:ext cx="10607040" cy="777240"/>
          </a:xfrm>
          <a:prstGeom prst="rect">
            <a:avLst/>
          </a:prstGeom>
          <a:noFill/>
          <a:ln/>
        </p:spPr>
        <p:txBody>
          <a:bodyPr wrap="square" lIns="0" tIns="0" rIns="0" bIns="0" rtlCol="0" anchor="ctr"/>
          <a:lstStyle/>
          <a:p>
            <a:pPr marL="0" indent="0">
              <a:buNone/>
            </a:pPr>
            <a:r>
              <a:rPr lang="en-US" sz="4300" b="1" dirty="0">
                <a:solidFill>
                  <a:srgbClr val="EAF0FF"/>
                </a:solidFill>
                <a:latin typeface="Poppins" pitchFamily="34" charset="0"/>
                <a:ea typeface="Poppins" pitchFamily="34" charset="-122"/>
                <a:cs typeface="Poppins" pitchFamily="34" charset="-120"/>
              </a:rPr>
              <a:t>Session summary</a:t>
            </a:r>
            <a:endParaRPr lang="en-US" sz="4300" dirty="0"/>
          </a:p>
        </p:txBody>
      </p:sp>
      <p:sp>
        <p:nvSpPr>
          <p:cNvPr id="7" name="Shape 3"/>
          <p:cNvSpPr/>
          <p:nvPr/>
        </p:nvSpPr>
        <p:spPr>
          <a:xfrm>
            <a:off x="868680" y="1600200"/>
            <a:ext cx="3337560" cy="3703320"/>
          </a:xfrm>
          <a:prstGeom prst="roundRect">
            <a:avLst>
              <a:gd name="adj" fmla="val 2740"/>
            </a:avLst>
          </a:prstGeom>
          <a:solidFill>
            <a:srgbClr val="0A1024"/>
          </a:solidFill>
          <a:ln w="12700">
            <a:solidFill>
              <a:srgbClr val="1E2A55"/>
            </a:solidFill>
            <a:prstDash val="solid"/>
          </a:ln>
        </p:spPr>
      </p:sp>
      <p:sp>
        <p:nvSpPr>
          <p:cNvPr id="8" name="Text 4"/>
          <p:cNvSpPr txBox="1"/>
          <p:nvPr/>
        </p:nvSpPr>
        <p:spPr>
          <a:xfrm>
            <a:off x="1179576" y="1819656"/>
            <a:ext cx="2788920" cy="274320"/>
          </a:xfrm>
          <a:prstGeom prst="rect">
            <a:avLst/>
          </a:prstGeom>
          <a:noFill/>
          <a:ln/>
        </p:spPr>
        <p:txBody>
          <a:bodyPr wrap="square" lIns="0" tIns="0" rIns="0" bIns="0" rtlCol="0" anchor="ctr"/>
          <a:lstStyle/>
          <a:p>
            <a:pPr marL="0" indent="0">
              <a:buNone/>
            </a:pPr>
            <a:r>
              <a:rPr lang="en-US" sz="1550" b="1" kern="0" spc="200" dirty="0">
                <a:solidFill>
                  <a:srgbClr val="3FD0E6"/>
                </a:solidFill>
                <a:latin typeface="Inter" pitchFamily="34" charset="0"/>
                <a:ea typeface="Inter" pitchFamily="34" charset="-122"/>
                <a:cs typeface="Inter" pitchFamily="34" charset="-120"/>
              </a:rPr>
              <a:t>1 · STATELESS</a:t>
            </a:r>
            <a:endParaRPr lang="en-US" sz="1550" dirty="0"/>
          </a:p>
        </p:txBody>
      </p:sp>
      <p:sp>
        <p:nvSpPr>
          <p:cNvPr id="9" name="Text 5"/>
          <p:cNvSpPr txBox="1"/>
          <p:nvPr/>
        </p:nvSpPr>
        <p:spPr>
          <a:xfrm>
            <a:off x="1179576" y="2258568"/>
            <a:ext cx="2715768" cy="2770632"/>
          </a:xfrm>
          <a:prstGeom prst="rect">
            <a:avLst/>
          </a:prstGeom>
          <a:noFill/>
          <a:ln/>
        </p:spPr>
        <p:txBody>
          <a:bodyPr wrap="square" lIns="0" tIns="0" rIns="0" bIns="0" rtlCol="0" anchor="t"/>
          <a:lstStyle/>
          <a:p>
            <a:pPr marL="0" indent="0">
              <a:lnSpc>
                <a:spcPct val="118000"/>
              </a:lnSpc>
              <a:spcAft>
                <a:spcPts val="840"/>
              </a:spcAft>
              <a:buNone/>
            </a:pPr>
            <a:r>
              <a:rPr lang="en-US" sz="1330" dirty="0">
                <a:solidFill>
                  <a:srgbClr val="EAF0FF"/>
                </a:solidFill>
                <a:latin typeface="Inter" pitchFamily="34" charset="0"/>
                <a:ea typeface="Inter" pitchFamily="34" charset="-122"/>
                <a:cs typeface="Inter" pitchFamily="34" charset="-120"/>
              </a:rPr>
              <a:t>Every call starts from zero. No session.</a:t>
            </a:r>
            <a:endParaRPr lang="en-US" sz="1330" dirty="0"/>
          </a:p>
          <a:p>
            <a:pPr marL="0" indent="0">
              <a:lnSpc>
                <a:spcPct val="118000"/>
              </a:lnSpc>
              <a:spcAft>
                <a:spcPts val="840"/>
              </a:spcAft>
              <a:buNone/>
            </a:pPr>
            <a:r>
              <a:rPr lang="en-US" sz="1330" dirty="0">
                <a:solidFill>
                  <a:srgbClr val="EAF0FF"/>
                </a:solidFill>
                <a:latin typeface="Inter" pitchFamily="34" charset="0"/>
                <a:ea typeface="Inter" pitchFamily="34" charset="-122"/>
                <a:cs typeface="Inter" pitchFamily="34" charset="-120"/>
              </a:rPr>
              <a:t>The messages list is its whole world.</a:t>
            </a:r>
            <a:endParaRPr lang="en-US" sz="1330" dirty="0"/>
          </a:p>
          <a:p>
            <a:pPr marL="0" indent="0">
              <a:lnSpc>
                <a:spcPct val="118000"/>
              </a:lnSpc>
              <a:spcAft>
                <a:spcPts val="840"/>
              </a:spcAft>
              <a:buNone/>
            </a:pPr>
            <a:r>
              <a:rPr lang="en-US" sz="1330" dirty="0">
                <a:solidFill>
                  <a:srgbClr val="EAF0FF"/>
                </a:solidFill>
                <a:latin typeface="Inter" pitchFamily="34" charset="0"/>
                <a:ea typeface="Inter" pitchFamily="34" charset="-122"/>
                <a:cs typeface="Inter" pitchFamily="34" charset="-120"/>
              </a:rPr>
              <a:t>Chat apps just resend the transcript.</a:t>
            </a:r>
            <a:endParaRPr lang="en-US" sz="1330" dirty="0"/>
          </a:p>
          <a:p>
            <a:pPr marL="0" indent="0">
              <a:lnSpc>
                <a:spcPct val="118000"/>
              </a:lnSpc>
              <a:spcAft>
                <a:spcPts val="840"/>
              </a:spcAft>
              <a:buNone/>
            </a:pPr>
            <a:r>
              <a:rPr lang="en-US" sz="1330" dirty="0">
                <a:solidFill>
                  <a:srgbClr val="EAF0FF"/>
                </a:solidFill>
                <a:latin typeface="Inter" pitchFamily="34" charset="0"/>
                <a:ea typeface="Inter" pitchFamily="34" charset="-122"/>
                <a:cs typeface="Inter" pitchFamily="34" charset="-120"/>
              </a:rPr>
              <a:t>Context is a budget. History is one item.</a:t>
            </a:r>
            <a:endParaRPr lang="en-US" sz="1330" dirty="0"/>
          </a:p>
        </p:txBody>
      </p:sp>
      <p:sp>
        <p:nvSpPr>
          <p:cNvPr id="10" name="Shape 6"/>
          <p:cNvSpPr/>
          <p:nvPr/>
        </p:nvSpPr>
        <p:spPr>
          <a:xfrm>
            <a:off x="4416552" y="1600200"/>
            <a:ext cx="3337560" cy="3703320"/>
          </a:xfrm>
          <a:prstGeom prst="roundRect">
            <a:avLst>
              <a:gd name="adj" fmla="val 2740"/>
            </a:avLst>
          </a:prstGeom>
          <a:solidFill>
            <a:srgbClr val="0A1024"/>
          </a:solidFill>
          <a:ln w="12700">
            <a:solidFill>
              <a:srgbClr val="1E2A55"/>
            </a:solidFill>
            <a:prstDash val="solid"/>
          </a:ln>
        </p:spPr>
      </p:sp>
      <p:sp>
        <p:nvSpPr>
          <p:cNvPr id="11" name="Text 7"/>
          <p:cNvSpPr txBox="1"/>
          <p:nvPr/>
        </p:nvSpPr>
        <p:spPr>
          <a:xfrm>
            <a:off x="4727448" y="1819656"/>
            <a:ext cx="2788920" cy="274320"/>
          </a:xfrm>
          <a:prstGeom prst="rect">
            <a:avLst/>
          </a:prstGeom>
          <a:noFill/>
          <a:ln/>
        </p:spPr>
        <p:txBody>
          <a:bodyPr wrap="square" lIns="0" tIns="0" rIns="0" bIns="0" rtlCol="0" anchor="ctr"/>
          <a:lstStyle/>
          <a:p>
            <a:pPr marL="0" indent="0">
              <a:buNone/>
            </a:pPr>
            <a:r>
              <a:rPr lang="en-US" sz="1550" b="1" kern="0" spc="200" dirty="0">
                <a:solidFill>
                  <a:srgbClr val="817AFF"/>
                </a:solidFill>
                <a:latin typeface="Inter" pitchFamily="34" charset="0"/>
                <a:ea typeface="Inter" pitchFamily="34" charset="-122"/>
                <a:cs typeface="Inter" pitchFamily="34" charset="-120"/>
              </a:rPr>
              <a:t>2 · MEMORY</a:t>
            </a:r>
            <a:endParaRPr lang="en-US" sz="1550" dirty="0"/>
          </a:p>
        </p:txBody>
      </p:sp>
      <p:sp>
        <p:nvSpPr>
          <p:cNvPr id="12" name="Text 8"/>
          <p:cNvSpPr txBox="1"/>
          <p:nvPr/>
        </p:nvSpPr>
        <p:spPr>
          <a:xfrm>
            <a:off x="4727448" y="2258568"/>
            <a:ext cx="2715768" cy="2770632"/>
          </a:xfrm>
          <a:prstGeom prst="rect">
            <a:avLst/>
          </a:prstGeom>
          <a:noFill/>
          <a:ln/>
        </p:spPr>
        <p:txBody>
          <a:bodyPr wrap="square" lIns="0" tIns="0" rIns="0" bIns="0" rtlCol="0" anchor="t"/>
          <a:lstStyle/>
          <a:p>
            <a:pPr marL="0" indent="0">
              <a:lnSpc>
                <a:spcPct val="118000"/>
              </a:lnSpc>
              <a:spcAft>
                <a:spcPts val="840"/>
              </a:spcAft>
              <a:buNone/>
            </a:pPr>
            <a:r>
              <a:rPr lang="en-US" sz="1330" dirty="0">
                <a:solidFill>
                  <a:srgbClr val="EAF0FF"/>
                </a:solidFill>
                <a:latin typeface="Inter" pitchFamily="34" charset="0"/>
                <a:ea typeface="Inter" pitchFamily="34" charset="-122"/>
                <a:cs typeface="Inter" pitchFamily="34" charset="-120"/>
              </a:rPr>
              <a:t>Tool calls and results live in the list.</a:t>
            </a:r>
            <a:endParaRPr lang="en-US" sz="1330" dirty="0"/>
          </a:p>
          <a:p>
            <a:pPr marL="0" indent="0">
              <a:lnSpc>
                <a:spcPct val="118000"/>
              </a:lnSpc>
              <a:spcAft>
                <a:spcPts val="840"/>
              </a:spcAft>
              <a:buNone/>
            </a:pPr>
            <a:r>
              <a:rPr lang="en-US" sz="1330" dirty="0">
                <a:solidFill>
                  <a:srgbClr val="EAF0FF"/>
                </a:solidFill>
                <a:latin typeface="Inter" pitchFamily="34" charset="0"/>
                <a:ea typeface="Inter" pitchFamily="34" charset="-122"/>
                <a:cs typeface="Inter" pitchFamily="34" charset="-120"/>
              </a:rPr>
              <a:t>Every turn costs more than the last.</a:t>
            </a:r>
            <a:endParaRPr lang="en-US" sz="1330" dirty="0"/>
          </a:p>
          <a:p>
            <a:pPr marL="0" indent="0">
              <a:lnSpc>
                <a:spcPct val="118000"/>
              </a:lnSpc>
              <a:spcAft>
                <a:spcPts val="840"/>
              </a:spcAft>
              <a:buNone/>
            </a:pPr>
            <a:r>
              <a:rPr lang="en-US" sz="1330" dirty="0">
                <a:solidFill>
                  <a:srgbClr val="EAF0FF"/>
                </a:solidFill>
                <a:latin typeface="Inter" pitchFamily="34" charset="0"/>
                <a:ea typeface="Inter" pitchFamily="34" charset="-122"/>
                <a:cs typeface="Inter" pitchFamily="34" charset="-120"/>
              </a:rPr>
              <a:t>Truncate, summarise, pin, or retrieve.</a:t>
            </a:r>
            <a:endParaRPr lang="en-US" sz="1330" dirty="0"/>
          </a:p>
          <a:p>
            <a:pPr marL="0" indent="0">
              <a:lnSpc>
                <a:spcPct val="118000"/>
              </a:lnSpc>
              <a:spcAft>
                <a:spcPts val="840"/>
              </a:spcAft>
              <a:buNone/>
            </a:pPr>
            <a:r>
              <a:rPr lang="en-US" sz="1330" dirty="0">
                <a:solidFill>
                  <a:srgbClr val="EAF0FF"/>
                </a:solidFill>
                <a:latin typeface="Inter" pitchFamily="34" charset="0"/>
                <a:ea typeface="Inter" pitchFamily="34" charset="-122"/>
                <a:cs typeface="Inter" pitchFamily="34" charset="-120"/>
              </a:rPr>
              <a:t>Short-term dies. Long-term is a store.</a:t>
            </a:r>
            <a:endParaRPr lang="en-US" sz="1330" dirty="0"/>
          </a:p>
        </p:txBody>
      </p:sp>
      <p:sp>
        <p:nvSpPr>
          <p:cNvPr id="13" name="Shape 9"/>
          <p:cNvSpPr/>
          <p:nvPr/>
        </p:nvSpPr>
        <p:spPr>
          <a:xfrm>
            <a:off x="7964424" y="1600200"/>
            <a:ext cx="3337560" cy="3703320"/>
          </a:xfrm>
          <a:prstGeom prst="roundRect">
            <a:avLst>
              <a:gd name="adj" fmla="val 2740"/>
            </a:avLst>
          </a:prstGeom>
          <a:solidFill>
            <a:srgbClr val="0A1024"/>
          </a:solidFill>
          <a:ln w="12700">
            <a:solidFill>
              <a:srgbClr val="1E2A55"/>
            </a:solidFill>
            <a:prstDash val="solid"/>
          </a:ln>
        </p:spPr>
      </p:sp>
      <p:sp>
        <p:nvSpPr>
          <p:cNvPr id="14" name="Text 10"/>
          <p:cNvSpPr txBox="1"/>
          <p:nvPr/>
        </p:nvSpPr>
        <p:spPr>
          <a:xfrm>
            <a:off x="8275320" y="1819656"/>
            <a:ext cx="2788920" cy="274320"/>
          </a:xfrm>
          <a:prstGeom prst="rect">
            <a:avLst/>
          </a:prstGeom>
          <a:noFill/>
          <a:ln/>
        </p:spPr>
        <p:txBody>
          <a:bodyPr wrap="square" lIns="0" tIns="0" rIns="0" bIns="0" rtlCol="0" anchor="ctr"/>
          <a:lstStyle/>
          <a:p>
            <a:pPr marL="0" indent="0">
              <a:buNone/>
            </a:pPr>
            <a:r>
              <a:rPr lang="en-US" sz="1550" b="1" kern="0" spc="200" dirty="0">
                <a:solidFill>
                  <a:srgbClr val="F5C542"/>
                </a:solidFill>
                <a:latin typeface="Inter" pitchFamily="34" charset="0"/>
                <a:ea typeface="Inter" pitchFamily="34" charset="-122"/>
                <a:cs typeface="Inter" pitchFamily="34" charset="-120"/>
              </a:rPr>
              <a:t>3 · PLANNING</a:t>
            </a:r>
            <a:endParaRPr lang="en-US" sz="1550" dirty="0"/>
          </a:p>
        </p:txBody>
      </p:sp>
      <p:sp>
        <p:nvSpPr>
          <p:cNvPr id="15" name="Text 11"/>
          <p:cNvSpPr txBox="1"/>
          <p:nvPr/>
        </p:nvSpPr>
        <p:spPr>
          <a:xfrm>
            <a:off x="8275320" y="2258568"/>
            <a:ext cx="2715768" cy="2770632"/>
          </a:xfrm>
          <a:prstGeom prst="rect">
            <a:avLst/>
          </a:prstGeom>
          <a:noFill/>
          <a:ln/>
        </p:spPr>
        <p:txBody>
          <a:bodyPr wrap="square" lIns="0" tIns="0" rIns="0" bIns="0" rtlCol="0" anchor="t"/>
          <a:lstStyle/>
          <a:p>
            <a:pPr marL="0" indent="0">
              <a:lnSpc>
                <a:spcPct val="118000"/>
              </a:lnSpc>
              <a:spcAft>
                <a:spcPts val="840"/>
              </a:spcAft>
              <a:buNone/>
            </a:pPr>
            <a:r>
              <a:rPr lang="en-US" sz="1330" dirty="0">
                <a:solidFill>
                  <a:srgbClr val="EAF0FF"/>
                </a:solidFill>
                <a:latin typeface="Inter" pitchFamily="34" charset="0"/>
                <a:ea typeface="Inter" pitchFamily="34" charset="-122"/>
                <a:cs typeface="Inter" pitchFamily="34" charset="-120"/>
              </a:rPr>
              <a:t>Decompose so failures are locatable.</a:t>
            </a:r>
            <a:endParaRPr lang="en-US" sz="1330" dirty="0"/>
          </a:p>
          <a:p>
            <a:pPr marL="0" indent="0">
              <a:lnSpc>
                <a:spcPct val="118000"/>
              </a:lnSpc>
              <a:spcAft>
                <a:spcPts val="840"/>
              </a:spcAft>
              <a:buNone/>
            </a:pPr>
            <a:r>
              <a:rPr lang="en-US" sz="1330" dirty="0">
                <a:solidFill>
                  <a:srgbClr val="EAF0FF"/>
                </a:solidFill>
                <a:latin typeface="Inter" pitchFamily="34" charset="0"/>
                <a:ea typeface="Inter" pitchFamily="34" charset="-122"/>
                <a:cs typeface="Inter" pitchFamily="34" charset="-120"/>
              </a:rPr>
              <a:t>A plan is a proposal, not a guarantee.</a:t>
            </a:r>
            <a:endParaRPr lang="en-US" sz="1330" dirty="0"/>
          </a:p>
          <a:p>
            <a:pPr marL="0" indent="0">
              <a:lnSpc>
                <a:spcPct val="118000"/>
              </a:lnSpc>
              <a:spcAft>
                <a:spcPts val="840"/>
              </a:spcAft>
              <a:buNone/>
            </a:pPr>
            <a:r>
              <a:rPr lang="en-US" sz="1330" dirty="0">
                <a:solidFill>
                  <a:srgbClr val="EAF0FF"/>
                </a:solidFill>
                <a:latin typeface="Inter" pitchFamily="34" charset="0"/>
                <a:ea typeface="Inter" pitchFamily="34" charset="-122"/>
                <a:cs typeface="Inter" pitchFamily="34" charset="-120"/>
              </a:rPr>
              <a:t>Structured output: the executor is code.</a:t>
            </a:r>
            <a:endParaRPr lang="en-US" sz="1330" dirty="0"/>
          </a:p>
          <a:p>
            <a:pPr marL="0" indent="0">
              <a:lnSpc>
                <a:spcPct val="118000"/>
              </a:lnSpc>
              <a:spcAft>
                <a:spcPts val="840"/>
              </a:spcAft>
              <a:buNone/>
            </a:pPr>
            <a:r>
              <a:rPr lang="en-US" sz="1330" dirty="0">
                <a:solidFill>
                  <a:srgbClr val="EAF0FF"/>
                </a:solidFill>
                <a:latin typeface="Inter" pitchFamily="34" charset="0"/>
                <a:ea typeface="Inter" pitchFamily="34" charset="-122"/>
                <a:cs typeface="Inter" pitchFamily="34" charset="-120"/>
              </a:rPr>
              <a:t>Memory carries results. Bound the loop.</a:t>
            </a:r>
            <a:endParaRPr lang="en-US" sz="1330" dirty="0"/>
          </a:p>
        </p:txBody>
      </p:sp>
      <p:sp>
        <p:nvSpPr>
          <p:cNvPr id="16" name="Shape 12"/>
          <p:cNvSpPr/>
          <p:nvPr/>
        </p:nvSpPr>
        <p:spPr>
          <a:xfrm>
            <a:off x="868680" y="5440680"/>
            <a:ext cx="10433304" cy="685800"/>
          </a:xfrm>
          <a:prstGeom prst="roundRect">
            <a:avLst>
              <a:gd name="adj" fmla="val 10667"/>
            </a:avLst>
          </a:prstGeom>
          <a:solidFill>
            <a:srgbClr val="1A1430"/>
          </a:solidFill>
          <a:ln w="12700">
            <a:solidFill>
              <a:srgbClr val="5A4A2A"/>
            </a:solidFill>
            <a:prstDash val="solid"/>
          </a:ln>
        </p:spPr>
      </p:sp>
      <p:sp>
        <p:nvSpPr>
          <p:cNvPr id="17" name="Text 13"/>
          <p:cNvSpPr txBox="1"/>
          <p:nvPr/>
        </p:nvSpPr>
        <p:spPr>
          <a:xfrm>
            <a:off x="1051560" y="5440680"/>
            <a:ext cx="10067544" cy="685800"/>
          </a:xfrm>
          <a:prstGeom prst="rect">
            <a:avLst/>
          </a:prstGeom>
          <a:noFill/>
          <a:ln/>
        </p:spPr>
        <p:txBody>
          <a:bodyPr wrap="square" lIns="0" tIns="0" rIns="0" bIns="0" rtlCol="0" anchor="ctr"/>
          <a:lstStyle/>
          <a:p>
            <a:pPr marL="0" indent="0" algn="ctr">
              <a:buNone/>
            </a:pPr>
            <a:r>
              <a:rPr lang="en-US" sz="1900" b="1" dirty="0">
                <a:solidFill>
                  <a:srgbClr val="EAF0FF"/>
                </a:solidFill>
                <a:latin typeface="Inter" pitchFamily="34" charset="0"/>
                <a:ea typeface="Inter" pitchFamily="34" charset="-122"/>
                <a:cs typeface="Inter" pitchFamily="34" charset="-120"/>
              </a:rPr>
              <a:t>The model has context. </a:t>
            </a:r>
            <a:r>
              <a:rPr lang="en-US" sz="1900" b="1" dirty="0">
                <a:solidFill>
                  <a:srgbClr val="3FD0E6"/>
                </a:solidFill>
                <a:latin typeface="Inter" pitchFamily="34" charset="0"/>
                <a:ea typeface="Inter" pitchFamily="34" charset="-122"/>
                <a:cs typeface="Inter" pitchFamily="34" charset="-120"/>
              </a:rPr>
              <a:t>You build the memory. </a:t>
            </a:r>
            <a:r>
              <a:rPr lang="en-US" sz="1900" b="1" dirty="0">
                <a:solidFill>
                  <a:srgbClr val="F5C542"/>
                </a:solidFill>
                <a:latin typeface="Inter" pitchFamily="34" charset="0"/>
                <a:ea typeface="Inter" pitchFamily="34" charset="-122"/>
                <a:cs typeface="Inter" pitchFamily="34" charset="-120"/>
              </a:rPr>
              <a:t>A plan is only as good as the surviving state.</a:t>
            </a:r>
            <a:endParaRPr lang="en-US" sz="1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root/deck/assets/logo_right.png"/>
          <p:cNvPicPr>
            <a:picLocks noChangeAspect="1"/>
          </p:cNvPicPr>
          <p:nvPr/>
        </p:nvPicPr>
        <p:blipFill>
          <a:blip r:embed="rId4"/>
          <a:stretch>
            <a:fillRect/>
          </a:stretch>
        </p:blipFill>
        <p:spPr>
          <a:xfrm>
            <a:off x="566928" y="182880"/>
            <a:ext cx="1325880" cy="365760"/>
          </a:xfrm>
          <a:prstGeom prst="rect">
            <a:avLst/>
          </a:prstGeom>
        </p:spPr>
      </p:pic>
      <p:pic>
        <p:nvPicPr>
          <p:cNvPr id="3" name="Image 1" descr="/root/deck/assets/logo_left.png"/>
          <p:cNvPicPr>
            <a:picLocks noChangeAspect="1"/>
          </p:cNvPicPr>
          <p:nvPr/>
        </p:nvPicPr>
        <p:blipFill>
          <a:blip r:embed="rId5"/>
          <a:stretch>
            <a:fillRect/>
          </a:stretch>
        </p:blipFill>
        <p:spPr>
          <a:xfrm>
            <a:off x="10716768" y="182880"/>
            <a:ext cx="905256" cy="365760"/>
          </a:xfrm>
          <a:prstGeom prst="rect">
            <a:avLst/>
          </a:prstGeom>
        </p:spPr>
      </p:pic>
      <p:sp>
        <p:nvSpPr>
          <p:cNvPr id="4" name="Text 0"/>
          <p:cNvSpPr txBox="1"/>
          <p:nvPr/>
        </p:nvSpPr>
        <p:spPr>
          <a:xfrm>
            <a:off x="566928" y="6281928"/>
            <a:ext cx="2743200" cy="256032"/>
          </a:xfrm>
          <a:prstGeom prst="rect">
            <a:avLst/>
          </a:prstGeom>
          <a:noFill/>
          <a:ln/>
        </p:spPr>
        <p:txBody>
          <a:bodyPr wrap="square" lIns="0" tIns="0" rIns="0" bIns="0" rtlCol="0" anchor="ctr"/>
          <a:lstStyle/>
          <a:p>
            <a:pPr marL="0" indent="0" algn="l">
              <a:buNone/>
            </a:pPr>
            <a:r>
              <a:rPr lang="en-US" sz="1400" dirty="0">
                <a:solidFill>
                  <a:srgbClr val="9FB0D6"/>
                </a:solidFill>
                <a:latin typeface="Inter" pitchFamily="34" charset="0"/>
                <a:ea typeface="Inter" pitchFamily="34" charset="-122"/>
                <a:cs typeface="Inter" pitchFamily="34" charset="-120"/>
              </a:rPr>
              <a:t>Data Alchemy 4.0</a:t>
            </a:r>
            <a:endParaRPr lang="en-US" sz="1400" dirty="0"/>
          </a:p>
        </p:txBody>
      </p:sp>
      <p:sp>
        <p:nvSpPr>
          <p:cNvPr id="5" name="Text 1"/>
          <p:cNvSpPr txBox="1"/>
          <p:nvPr/>
        </p:nvSpPr>
        <p:spPr>
          <a:xfrm>
            <a:off x="10607040" y="6281928"/>
            <a:ext cx="1005840" cy="256032"/>
          </a:xfrm>
          <a:prstGeom prst="rect">
            <a:avLst/>
          </a:prstGeom>
          <a:noFill/>
          <a:ln/>
        </p:spPr>
        <p:txBody>
          <a:bodyPr wrap="square" lIns="0" tIns="0" rIns="0" bIns="0" rtlCol="0" anchor="ctr"/>
          <a:lstStyle/>
          <a:p>
            <a:pPr marL="0" indent="0" algn="r">
              <a:buNone/>
            </a:pPr>
            <a:r>
              <a:rPr lang="en-US" sz="1400" dirty="0">
                <a:solidFill>
                  <a:srgbClr val="9FB0D6"/>
                </a:solidFill>
                <a:latin typeface="Inter" pitchFamily="34" charset="0"/>
                <a:ea typeface="Inter" pitchFamily="34" charset="-122"/>
                <a:cs typeface="Inter" pitchFamily="34" charset="-120"/>
              </a:rPr>
              <a:t>42</a:t>
            </a:r>
            <a:endParaRPr lang="en-US" sz="1400" dirty="0"/>
          </a:p>
        </p:txBody>
      </p:sp>
      <p:pic>
        <p:nvPicPr>
          <p:cNvPr id="6" name="Image 2" descr="/root/deck/assets/sparkle_gold.png"/>
          <p:cNvPicPr>
            <a:picLocks noChangeAspect="1"/>
          </p:cNvPicPr>
          <p:nvPr/>
        </p:nvPicPr>
        <p:blipFill>
          <a:blip r:embed="rId6"/>
          <a:stretch>
            <a:fillRect/>
          </a:stretch>
        </p:blipFill>
        <p:spPr>
          <a:xfrm>
            <a:off x="914400" y="1572768"/>
            <a:ext cx="384048" cy="384048"/>
          </a:xfrm>
          <a:prstGeom prst="rect">
            <a:avLst/>
          </a:prstGeom>
        </p:spPr>
      </p:pic>
      <p:sp>
        <p:nvSpPr>
          <p:cNvPr id="7" name="Text 2"/>
          <p:cNvSpPr txBox="1"/>
          <p:nvPr/>
        </p:nvSpPr>
        <p:spPr>
          <a:xfrm>
            <a:off x="1444752" y="1609344"/>
            <a:ext cx="7315200" cy="310896"/>
          </a:xfrm>
          <a:prstGeom prst="rect">
            <a:avLst/>
          </a:prstGeom>
          <a:noFill/>
          <a:ln/>
        </p:spPr>
        <p:txBody>
          <a:bodyPr wrap="square" lIns="0" tIns="0" rIns="0" bIns="0" rtlCol="0" anchor="ctr"/>
          <a:lstStyle/>
          <a:p>
            <a:pPr marL="0" indent="0">
              <a:buNone/>
            </a:pPr>
            <a:r>
              <a:rPr lang="en-US" sz="1700" b="1" kern="0" spc="300" dirty="0">
                <a:solidFill>
                  <a:srgbClr val="F5C542"/>
                </a:solidFill>
                <a:latin typeface="Inter" pitchFamily="34" charset="0"/>
                <a:ea typeface="Inter" pitchFamily="34" charset="-122"/>
                <a:cs typeface="Inter" pitchFamily="34" charset="-120"/>
              </a:rPr>
              <a:t>SESSION 3 · DONE</a:t>
            </a:r>
            <a:endParaRPr lang="en-US" sz="1700" dirty="0"/>
          </a:p>
        </p:txBody>
      </p:sp>
      <p:sp>
        <p:nvSpPr>
          <p:cNvPr id="8" name="Text 3"/>
          <p:cNvSpPr txBox="1"/>
          <p:nvPr/>
        </p:nvSpPr>
        <p:spPr>
          <a:xfrm>
            <a:off x="868680" y="2148840"/>
            <a:ext cx="10515600" cy="2651760"/>
          </a:xfrm>
          <a:prstGeom prst="rect">
            <a:avLst/>
          </a:prstGeom>
          <a:noFill/>
          <a:ln/>
        </p:spPr>
        <p:txBody>
          <a:bodyPr wrap="square" lIns="0" tIns="0" rIns="0" bIns="0" rtlCol="0" anchor="t"/>
          <a:lstStyle/>
          <a:p>
            <a:pPr marL="0" indent="0">
              <a:lnSpc>
                <a:spcPct val="118000"/>
              </a:lnSpc>
              <a:buNone/>
            </a:pPr>
            <a:r>
              <a:rPr lang="en-US" sz="4200" b="1" dirty="0">
                <a:solidFill>
                  <a:srgbClr val="EAF0FF"/>
                </a:solidFill>
                <a:latin typeface="Poppins" pitchFamily="34" charset="0"/>
                <a:ea typeface="Poppins" pitchFamily="34" charset="-122"/>
                <a:cs typeface="Poppins" pitchFamily="34" charset="-120"/>
              </a:rPr>
              <a:t>The planner says what.</a:t>
            </a:r>
            <a:endParaRPr lang="en-US" sz="4200" dirty="0"/>
          </a:p>
          <a:p>
            <a:pPr marL="0" indent="0">
              <a:lnSpc>
                <a:spcPct val="118000"/>
              </a:lnSpc>
              <a:buNone/>
            </a:pPr>
            <a:r>
              <a:rPr lang="en-US" sz="4200" b="1" dirty="0">
                <a:solidFill>
                  <a:srgbClr val="EAF0FF"/>
                </a:solidFill>
                <a:latin typeface="Poppins" pitchFamily="34" charset="0"/>
                <a:ea typeface="Poppins" pitchFamily="34" charset="-122"/>
                <a:cs typeface="Poppins" pitchFamily="34" charset="-120"/>
              </a:rPr>
              <a:t>The executor does it.</a:t>
            </a:r>
            <a:endParaRPr lang="en-US" sz="4200" dirty="0"/>
          </a:p>
          <a:p>
            <a:pPr marL="0" indent="0">
              <a:lnSpc>
                <a:spcPct val="118000"/>
              </a:lnSpc>
              <a:buNone/>
            </a:pPr>
            <a:r>
              <a:rPr lang="en-US" sz="4200" b="1" dirty="0">
                <a:solidFill>
                  <a:srgbClr val="EAF0FF"/>
                </a:solidFill>
                <a:latin typeface="Poppins" pitchFamily="34" charset="0"/>
                <a:ea typeface="Poppins" pitchFamily="34" charset="-122"/>
                <a:cs typeface="Poppins" pitchFamily="34" charset="-120"/>
              </a:rPr>
              <a:t>Memory </a:t>
            </a:r>
            <a:r>
              <a:rPr lang="en-US" sz="4200" b="1" dirty="0">
                <a:solidFill>
                  <a:srgbClr val="F5C542"/>
                </a:solidFill>
                <a:latin typeface="Poppins" pitchFamily="34" charset="0"/>
                <a:ea typeface="Poppins" pitchFamily="34" charset="-122"/>
                <a:cs typeface="Poppins" pitchFamily="34" charset="-120"/>
              </a:rPr>
              <a:t>holds it together.</a:t>
            </a:r>
            <a:endParaRPr lang="en-US" sz="4200" dirty="0"/>
          </a:p>
        </p:txBody>
      </p:sp>
      <p:sp>
        <p:nvSpPr>
          <p:cNvPr id="9" name="Text 4"/>
          <p:cNvSpPr txBox="1"/>
          <p:nvPr/>
        </p:nvSpPr>
        <p:spPr>
          <a:xfrm>
            <a:off x="914400" y="5074920"/>
            <a:ext cx="10058400" cy="457200"/>
          </a:xfrm>
          <a:prstGeom prst="rect">
            <a:avLst/>
          </a:prstGeom>
          <a:noFill/>
          <a:ln/>
        </p:spPr>
        <p:txBody>
          <a:bodyPr wrap="square" lIns="0" tIns="0" rIns="0" bIns="0" rtlCol="0" anchor="ctr"/>
          <a:lstStyle/>
          <a:p>
            <a:pPr marL="0" indent="0">
              <a:buNone/>
            </a:pPr>
            <a:r>
              <a:rPr lang="en-US" sz="2200" dirty="0">
                <a:solidFill>
                  <a:srgbClr val="9FB0D6"/>
                </a:solidFill>
                <a:latin typeface="Inter" pitchFamily="34" charset="0"/>
                <a:ea typeface="Inter" pitchFamily="34" charset="-122"/>
                <a:cs typeface="Inter" pitchFamily="34" charset="-120"/>
              </a:rPr>
              <a:t>You started with a goldfish. You're leaving with a workflow.</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147</TotalTime>
  <Words>9664</Words>
  <Application>Microsoft Office PowerPoint</Application>
  <PresentationFormat>Widescreen</PresentationFormat>
  <Paragraphs>622</Paragraphs>
  <Slides>42</Slides>
  <Notes>42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42</vt:i4>
      </vt:variant>
    </vt:vector>
  </HeadingPairs>
  <TitlesOfParts>
    <vt:vector size="46" baseType="lpstr">
      <vt:lpstr>Arial</vt:lpstr>
      <vt:lpstr>Inter</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S3 - How does AI remember my name?</dc:title>
  <dc:subject>PptxGenJS Presentation</dc:subject>
  <dc:creator>Data Alchemy 4.0</dc:creator>
  <cp:lastModifiedBy>Aarav Gupta</cp:lastModifiedBy>
  <cp:revision>2</cp:revision>
  <dcterms:created xsi:type="dcterms:W3CDTF">2026-09-12T10:34:09Z</dcterms:created>
  <dcterms:modified xsi:type="dcterms:W3CDTF">2026-09-12T13:03:41Z</dcterms:modified>
</cp:coreProperties>
</file>