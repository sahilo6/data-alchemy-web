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47"/>
  </p:notesMasterIdLst>
  <p:sldIdLst>
    <p:sldId id="256" r:id="rId2"/>
    <p:sldId id="257" r:id="rId3"/>
    <p:sldId id="259" r:id="rId4"/>
    <p:sldId id="261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9" r:id="rId17"/>
    <p:sldId id="274" r:id="rId18"/>
    <p:sldId id="275" r:id="rId19"/>
    <p:sldId id="258" r:id="rId20"/>
    <p:sldId id="278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8" r:id="rId39"/>
    <p:sldId id="299" r:id="rId40"/>
    <p:sldId id="300" r:id="rId41"/>
    <p:sldId id="301" r:id="rId42"/>
    <p:sldId id="302" r:id="rId43"/>
    <p:sldId id="304" r:id="rId44"/>
    <p:sldId id="305" r:id="rId45"/>
    <p:sldId id="306" r:id="rId46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achine_learning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Artificial_neural_network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0" name="Google Shape;30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5" name="Google Shape;95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/>
              <a:t>Inside AI is Machine Learning, where systems learn from data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/>
              <a:t>Deep Learning, which uses neural networks. Large Language Models like ChatGPT belong to Deep Learning, specifically the Transformer family.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Dl- </a:t>
            </a:r>
            <a:r>
              <a:rPr lang="en-IN" sz="1200" dirty="0"/>
              <a:t>a specialized subset of </a:t>
            </a:r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  <a:hlinkClick r:id="rId3"/>
              </a:rPr>
              <a:t>machine learning</a:t>
            </a:r>
            <a:r>
              <a:rPr lang="en-IN" sz="1200" dirty="0"/>
              <a:t> that uses multi-layered </a:t>
            </a:r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  <a:hlinkClick r:id="rId4"/>
              </a:rPr>
              <a:t>artificial neural networks</a:t>
            </a:r>
            <a:r>
              <a:rPr lang="en-IN" sz="1200" dirty="0"/>
              <a:t> to imitate the way the human brain processes data and spots patterns.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multi modal models 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Expert systems captured human expertise using rules. A doctor’s knowledge, for example, could be converted into a knowledge base</a:t>
            </a:r>
            <a:endParaRPr dirty="0"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5" name="Google Shape;285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Linear Regression finds the best-fit line through data. It predicts continuous values like house prices or marks. One reason it remains popular is that it is easy to interpret</a:t>
            </a:r>
            <a:endParaRPr dirty="0"/>
          </a:p>
        </p:txBody>
      </p:sp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Decision Trees work like flowcharts. The model learns a sequence of yes-or-no questions to arrive at a decision. They are easy to understand but can overfit if allowed to grow too much</a:t>
            </a:r>
            <a:endParaRPr dirty="0"/>
          </a:p>
        </p:txBody>
      </p:sp>
      <p:sp>
        <p:nvSpPr>
          <p:cNvPr id="360" name="Google Shape;3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Random Forest combines many Decision Trees. Each tree makes a prediction, and the forest takes a vote. This improves accuracy and reduces overfitting.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Overfitting </a:t>
            </a:r>
            <a:r>
              <a:rPr lang="en-IN" dirty="0"/>
              <a:t>occurs when a machine learning model fits its training data too closely, memorizing noise and random quirks instead of learning general patterns, which leads to poor performance on new, unseen data</a:t>
            </a:r>
            <a:endParaRPr dirty="0"/>
          </a:p>
        </p:txBody>
      </p:sp>
      <p:sp>
        <p:nvSpPr>
          <p:cNvPr id="390" name="Google Shape;39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that groups </a:t>
            </a:r>
            <a:r>
              <a:rPr lang="en-IN" dirty="0" err="1"/>
              <a:t>unlabeled</a:t>
            </a:r>
            <a:r>
              <a:rPr lang="en-IN" dirty="0"/>
              <a:t> data into a pre-specified number (K) of distinct clusters based on feature similarity.</a:t>
            </a:r>
            <a:endParaRPr dirty="0"/>
          </a:p>
        </p:txBody>
      </p:sp>
      <p:sp>
        <p:nvSpPr>
          <p:cNvPr id="427" name="Google Shape;42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Deep Learning goes a step further by learning useful features automatically. Instead of manually creating features, neural networks learn them directly from raw data such as images, audio, and text.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Gradient descent- </a:t>
            </a:r>
            <a:endParaRPr dirty="0"/>
          </a:p>
        </p:txBody>
      </p:sp>
      <p:sp>
        <p:nvSpPr>
          <p:cNvPr id="457" name="Google Shape;45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CNNs are designed for images. Early layers learn simple features like edges, while deeper layers learn complex objects. They power applications like face recognition, medical imaging, and self-driving cars</a:t>
            </a:r>
            <a:endParaRPr dirty="0"/>
          </a:p>
        </p:txBody>
      </p:sp>
      <p:sp>
        <p:nvSpPr>
          <p:cNvPr id="485" name="Google Shape;48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err="1"/>
              <a:t>ransformers</a:t>
            </a:r>
            <a:r>
              <a:rPr lang="en-IN" dirty="0"/>
              <a:t> introduced attention, allowing models to process all words at once. This made training much faster and enabled the creation of modern LLMs such as GPT, Claude, Gemini, and Llama</a:t>
            </a:r>
            <a:endParaRPr dirty="0"/>
          </a:p>
        </p:txBody>
      </p:sp>
      <p:sp>
        <p:nvSpPr>
          <p:cNvPr id="552" name="Google Shape;55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>
          <a:extLst>
            <a:ext uri="{FF2B5EF4-FFF2-40B4-BE49-F238E27FC236}">
              <a16:creationId xmlns:a16="http://schemas.microsoft.com/office/drawing/2014/main" id="{7115ED27-84E8-7B66-4DC2-DA7055C06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24:notes">
            <a:extLst>
              <a:ext uri="{FF2B5EF4-FFF2-40B4-BE49-F238E27FC236}">
                <a16:creationId xmlns:a16="http://schemas.microsoft.com/office/drawing/2014/main" id="{74CEE090-3E82-49D6-EB01-2C2CC43ED2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24:notes">
            <a:extLst>
              <a:ext uri="{FF2B5EF4-FFF2-40B4-BE49-F238E27FC236}">
                <a16:creationId xmlns:a16="http://schemas.microsoft.com/office/drawing/2014/main" id="{FBA2032C-C092-7876-92F8-B34AC59A01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5082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80" name="Google Shape;580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1200" b="1" dirty="0"/>
              <a:t>Retrieval </a:t>
            </a:r>
            <a:r>
              <a:rPr lang="en-IN" sz="1200" dirty="0"/>
              <a:t>Find relevant information. </a:t>
            </a:r>
            <a:r>
              <a:rPr lang="en-IN" sz="1200" b="1" dirty="0" err="1"/>
              <a:t>Augmented</a:t>
            </a:r>
            <a:r>
              <a:rPr lang="en-IN" sz="1200" dirty="0" err="1"/>
              <a:t>Add</a:t>
            </a:r>
            <a:r>
              <a:rPr lang="en-IN" sz="1200" dirty="0"/>
              <a:t> that information to the user's question. </a:t>
            </a:r>
            <a:r>
              <a:rPr lang="en-IN" sz="1200" b="1" dirty="0"/>
              <a:t>Generation </a:t>
            </a:r>
            <a:r>
              <a:rPr lang="en-IN" sz="1200" dirty="0"/>
              <a:t>The LLM generates an answer using the question + retrieved information.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N" dirty="0"/>
              <a:t>Fine-tuning changes the model itself by training it further on custom examples. RAG is best for changing knowledge, while fine-tuning is better for changing </a:t>
            </a:r>
            <a:r>
              <a:rPr lang="en-IN" dirty="0" err="1"/>
              <a:t>behavior</a:t>
            </a:r>
            <a:r>
              <a:rPr lang="en-IN" dirty="0"/>
              <a:t> and style."</a:t>
            </a:r>
          </a:p>
        </p:txBody>
      </p:sp>
      <p:sp>
        <p:nvSpPr>
          <p:cNvPr id="616" name="Google Shape;61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BE3FF2C2-0E16-CC3D-F52A-9701D01D5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>
            <a:extLst>
              <a:ext uri="{FF2B5EF4-FFF2-40B4-BE49-F238E27FC236}">
                <a16:creationId xmlns:a16="http://schemas.microsoft.com/office/drawing/2014/main" id="{19CF0B37-A3D6-A3D9-6BF8-FDD5A38681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987C6888-E1FB-33CC-075E-6D58E0FFE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2596ACC7-30BA-023E-2421-43F272D417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19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3060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fb39479fe3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18" name="Google Shape;718;g3fb39479fe3_3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g3fb39479fe3_3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74" name="Google Shape;774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08" name="Google Shape;808;p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39" name="Google Shape;839;p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73" name="Google Shape;873;p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39" name="Google Shape;939;p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74" name="Google Shape;974;p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11" name="Google Shape;1011;p3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3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3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3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15" name="Google Shape;1115;p3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3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43" name="Google Shape;1143;p3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3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70" name="Google Shape;1170;p3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3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92" name="Google Shape;1192;p3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3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20" name="Google Shape;1220;p3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3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4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80" name="Google Shape;1280;p4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4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29" name="Google Shape;1329;p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59" name="Google Shape;1359;p4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4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4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err="1"/>
              <a:t>Groq</a:t>
            </a:r>
            <a:r>
              <a:rPr lang="en-IN" dirty="0"/>
              <a:t> provides fast inference for open-source models and has an API similar to OpenAI.</a:t>
            </a:r>
            <a:endParaRPr dirty="0"/>
          </a:p>
        </p:txBody>
      </p:sp>
      <p:sp>
        <p:nvSpPr>
          <p:cNvPr id="1390" name="Google Shape;139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20" name="Google Shape;1420;p4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/>
              <a:t>An </a:t>
            </a:r>
            <a:r>
              <a:rPr lang="en-IN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API (Application Programming Interface)</a:t>
            </a:r>
            <a:r>
              <a:rPr lang="en-IN" sz="1200" dirty="0"/>
              <a:t> is a set of rules and protocols that </a:t>
            </a:r>
            <a:r>
              <a:rPr lang="en-IN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allows different software applications to communicate and share data</a:t>
            </a:r>
            <a:r>
              <a:rPr lang="en-IN" sz="1200" dirty="0"/>
              <a:t> with one another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4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4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3" name="Google Shape;144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05" name="Google Shape;1505;p4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4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43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36" name="Google Shape;1536;p5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5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77" name="Google Shape;1577;p5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5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8138160" y="2743200"/>
            <a:ext cx="128016" cy="128016"/>
          </a:xfrm>
          <a:prstGeom prst="star4">
            <a:avLst>
              <a:gd name="adj" fmla="val 12500"/>
            </a:avLst>
          </a:prstGeom>
          <a:solidFill>
            <a:srgbClr val="FFC85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 txBox="1"/>
          <p:nvPr/>
        </p:nvSpPr>
        <p:spPr>
          <a:xfrm>
            <a:off x="0" y="1965960"/>
            <a:ext cx="12191695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SESSION 1  ·  FOUNDATIONS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 txBox="1"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5400"/>
              <a:buFont typeface="Calibri"/>
              <a:buNone/>
            </a:pPr>
            <a:r>
              <a:rPr lang="en-US" sz="5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Build an AI </a:t>
            </a:r>
            <a:r>
              <a:rPr lang="en-US" sz="54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that acts.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 txBox="1"/>
          <p:nvPr/>
        </p:nvSpPr>
        <p:spPr>
          <a:xfrm>
            <a:off x="1463040" y="3337560"/>
            <a:ext cx="9235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From chatbots to agents that reason, act, and observe — built by hand, live, in Python.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615216" y="4114800"/>
            <a:ext cx="2410176" cy="685800"/>
          </a:xfrm>
          <a:prstGeom prst="roundRect">
            <a:avLst>
              <a:gd name="adj" fmla="val 16000"/>
            </a:avLst>
          </a:prstGeom>
          <a:solidFill>
            <a:srgbClr val="0E1730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706656" y="4114800"/>
            <a:ext cx="231873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Chatbot vs. Agent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222732" y="4114800"/>
            <a:ext cx="2327836" cy="685800"/>
          </a:xfrm>
          <a:prstGeom prst="roundRect">
            <a:avLst>
              <a:gd name="adj" fmla="val 16000"/>
            </a:avLst>
          </a:prstGeom>
          <a:solidFill>
            <a:srgbClr val="0E1730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3097067" y="4114800"/>
            <a:ext cx="262197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The 4 Building Blocks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713684" y="4114800"/>
            <a:ext cx="2593112" cy="685800"/>
          </a:xfrm>
          <a:prstGeom prst="roundRect">
            <a:avLst>
              <a:gd name="adj" fmla="val 16000"/>
            </a:avLst>
          </a:prstGeom>
          <a:solidFill>
            <a:srgbClr val="0E1730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5750100" y="4133088"/>
            <a:ext cx="251607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50"/>
              <a:buFont typeface="Calibri"/>
              <a:buNone/>
            </a:pPr>
            <a:r>
              <a:rPr lang="en-US" sz="1150" dirty="0" err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Groq</a:t>
            </a:r>
            <a:r>
              <a:rPr lang="en-US" sz="1150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 · Python · </a:t>
            </a:r>
            <a:r>
              <a:rPr lang="en-US" sz="1150" dirty="0" err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Colab</a:t>
            </a: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469911" y="4114800"/>
            <a:ext cx="2762751" cy="685800"/>
          </a:xfrm>
          <a:prstGeom prst="roundRect">
            <a:avLst>
              <a:gd name="adj" fmla="val 16000"/>
            </a:avLst>
          </a:prstGeom>
          <a:solidFill>
            <a:srgbClr val="0E1730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8561352" y="4114800"/>
            <a:ext cx="2762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Your First Reasoning Loop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3" descr="/home/claude/build/assets/vit_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313" y="3556"/>
            <a:ext cx="1726353" cy="860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 descr="/home/claude/build/assets/tam_logo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/>
        </p:nvSpPr>
        <p:spPr>
          <a:xfrm>
            <a:off x="548640" y="756867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548640" y="939587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What we're covering today.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548640" y="1607259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Four stops between “what's a chatbot” and “I built a reasoning loop.”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40" y="2247339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822960" y="2448507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3FD0E6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822960" y="3088587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What is an agent, how is it different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822960" y="3436059"/>
            <a:ext cx="4892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Chatbots answer. Agents act — through a loop of reasoning, action, and observation.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355080" y="2247339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6629400" y="2448507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3FF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8B93F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6629400" y="3088587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The four building blocks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6629400" y="3436059"/>
            <a:ext cx="4892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Every agent is built from Model, Goal, Tools, and Memory. Today we build the first two by hand.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48640" y="4350459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822960" y="4551627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822960" y="5191707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Your toolkit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822960" y="5539179"/>
            <a:ext cx="4892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Groq as the model, Python as the glue, Colab as where you'll write and run it live in the browser.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355080" y="4350459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6629400" y="4551627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5FD9A4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6629400" y="5191707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Build your first loop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6629400" y="5539179"/>
            <a:ext cx="4892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Six short code demos — voice, goal, wording, reasoning, personality, temperature — chatbot to agent.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B1A05D92-C84E-2F56-36EC-17ACA897676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12023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7CB8CFF4-AB09-928A-0B0E-94AF73CBEB1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26353" cy="910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/>
          <p:nvPr/>
        </p:nvSpPr>
        <p:spPr>
          <a:xfrm>
            <a:off x="548640" y="739985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THE BIG PICTURE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539496" y="953384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The AI family tree.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533400" y="1648327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Every buzzword you have heard fits inside one nested diagram.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33400" y="2196967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533400" y="2196967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1155192" y="2142103"/>
            <a:ext cx="577900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</a:pPr>
            <a:r>
              <a:rPr lang="en-US" sz="16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AI is the outermost circle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200"/>
              <a:buFont typeface="Calibri"/>
              <a:buNone/>
            </a:pPr>
            <a:r>
              <a:rPr lang="en-US" sz="16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Any system that makes a machine do something we would call intelligent — deciding, planning, recognizing, conversing.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33400" y="3431407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533400" y="3431407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1155192" y="3376543"/>
            <a:ext cx="577900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</a:pPr>
            <a:r>
              <a:rPr lang="en-US" sz="16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Machine Learning sits inside AI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200"/>
              <a:buFont typeface="Calibri"/>
              <a:buNone/>
            </a:pPr>
            <a:r>
              <a:rPr lang="en-US" sz="16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Instead of a human writing the rules, the program learns the rules from data. Every ML system is AI; not every AI is ML.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33400" y="4665847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533400" y="4665847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1155192" y="4610983"/>
            <a:ext cx="577900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</a:pPr>
            <a:r>
              <a:rPr lang="en-US" sz="16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Deep Learning sits inside ML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200"/>
              <a:buFont typeface="Calibri"/>
              <a:buNone/>
            </a:pPr>
            <a:r>
              <a:rPr lang="en-US" sz="16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ML built from many-layered neural networks. Transformers — and therefore the LLM you call today — live at the bottom of this branch.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7345680" y="2196967"/>
            <a:ext cx="4297680" cy="4160520"/>
          </a:xfrm>
          <a:prstGeom prst="roundRect">
            <a:avLst>
              <a:gd name="adj" fmla="val 219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7620000" y="2425567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FROM OUTER RING TO YOUR CODE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7620000" y="288276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8900160" y="288276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Who writes the rules?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10134600" y="288276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6"/>
          <p:cNvCxnSpPr/>
          <p:nvPr/>
        </p:nvCxnSpPr>
        <p:spPr>
          <a:xfrm>
            <a:off x="7620000" y="3294247"/>
            <a:ext cx="374904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6"/>
          <p:cNvSpPr txBox="1"/>
          <p:nvPr/>
        </p:nvSpPr>
        <p:spPr>
          <a:xfrm>
            <a:off x="7620000" y="366000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Classical AI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8900160" y="366000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A human, by hand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10134600" y="366000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Chess engine, tax rules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6"/>
          <p:cNvCxnSpPr/>
          <p:nvPr/>
        </p:nvCxnSpPr>
        <p:spPr>
          <a:xfrm>
            <a:off x="7620000" y="4071487"/>
            <a:ext cx="374904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3" name="Google Shape;123;p6"/>
          <p:cNvSpPr txBox="1"/>
          <p:nvPr/>
        </p:nvSpPr>
        <p:spPr>
          <a:xfrm>
            <a:off x="7620000" y="443724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Classical ML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8900160" y="443724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Learned from tables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10134600" y="443724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Spam filter, price model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6"/>
          <p:cNvCxnSpPr/>
          <p:nvPr/>
        </p:nvCxnSpPr>
        <p:spPr>
          <a:xfrm>
            <a:off x="7620000" y="4848727"/>
            <a:ext cx="374904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7" name="Google Shape;127;p6"/>
          <p:cNvSpPr txBox="1"/>
          <p:nvPr/>
        </p:nvSpPr>
        <p:spPr>
          <a:xfrm>
            <a:off x="7620000" y="521448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Deep Learning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8900160" y="521448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Learned from raw data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10134600" y="521448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Vision, speech, LLMs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975A7809-BB0F-A467-5300-68C28971EE0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12023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C181A978-8205-C7E8-800E-4DC6C1860E1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/>
          <p:nvPr/>
        </p:nvSpPr>
        <p:spPr>
          <a:xfrm>
            <a:off x="548640" y="748685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 dirty="0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CLASSICAL AI  ·  1 OF 2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548640" y="91440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Classical AI: Rule-based systems.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48640" y="193852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548640" y="193852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1170432" y="1883664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A human writes every rule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Conditions and actions in plain logic: if this is true, do that. No training data, no statistics, no model weights.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48640" y="3145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548640" y="31455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1170432" y="3090672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Completely predictable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The same input always gives the same output, and you can point at the exact rule that fired — critical in finance, medicine and law.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48640" y="435254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548640" y="435254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1170432" y="4297680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Breaks on the unexpected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Anything nobody wrote a rule for simply falls through. Large rule bases also start to contradict each other as they grow.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7178040" y="1938528"/>
            <a:ext cx="4480560" cy="4343400"/>
          </a:xfrm>
          <a:prstGeom prst="roundRect">
            <a:avLst>
              <a:gd name="adj" fmla="val 210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7406640" y="21396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A RULE BASE, IN CODE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7406640" y="2487168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121A3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7589520" y="2624328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600" dirty="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if temperature &gt; 38: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600" dirty="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  diagnosis = "fever"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600" dirty="0" err="1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lang="en-US" sz="1600" dirty="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cough and duration &gt; 14: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600" dirty="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  diagnosis = "chronic cough"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7406640" y="413308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where you still see 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7406640" y="445312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Strength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9235440" y="445312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00"/>
              <a:buFont typeface="Calibri"/>
              <a:buNone/>
            </a:pPr>
            <a:r>
              <a:rPr lang="en-US" sz="11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Total transparency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7406640" y="495604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Weakness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9235440" y="495604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No generalisation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7406640" y="545896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Used 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9235440" y="545896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Fraud checks, payroll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154C623C-C60D-04EE-384A-E6EDCBA505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4;p3" descr="/home/claude/build/assets/vit_logo.png">
            <a:extLst>
              <a:ext uri="{FF2B5EF4-FFF2-40B4-BE49-F238E27FC236}">
                <a16:creationId xmlns:a16="http://schemas.microsoft.com/office/drawing/2014/main" id="{655AC0D0-DFFF-D69A-7E82-335D9F8EAC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/>
          <p:nvPr/>
        </p:nvSpPr>
        <p:spPr>
          <a:xfrm>
            <a:off x="548640" y="739985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 dirty="0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CLASSICAL AI  ·  2 OF 2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539496" y="953384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Expert systems.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533400" y="1648327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libri"/>
              <a:buNone/>
            </a:pPr>
            <a:r>
              <a:rPr lang="en-US" sz="1400" i="1" dirty="0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Bottle one specialist’s knowledge and let a program reason with it.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533400" y="2196967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533400" y="2196967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1155192" y="2142103"/>
            <a:ext cx="577900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Knowledge base &amp; Inference engine</a:t>
            </a:r>
            <a:br>
              <a:rPr lang="en-US" sz="145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 knowledge base holds the facts and rules; an inference engine chains them together to reach a conclusion.</a:t>
            </a: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33400" y="3431407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533400" y="3431407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1155192" y="3376543"/>
            <a:ext cx="577900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Built by interviewing experts</a:t>
            </a:r>
            <a:br>
              <a:rPr lang="en-US" sz="145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Knowledge engineers sat with doctors, geologists and engineers and turned their judgement into hundreds of rules. MYCIN diagnosed infections this way in the 1970s.</a:t>
            </a: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33400" y="4665847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 txBox="1"/>
          <p:nvPr/>
        </p:nvSpPr>
        <p:spPr>
          <a:xfrm>
            <a:off x="533400" y="4665847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1155192" y="4610983"/>
            <a:ext cx="577900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It can explain itself</a:t>
            </a:r>
            <a:br>
              <a:rPr lang="en-US" sz="145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Ask an expert system “why?” and it replays the exact chain of rules it used — something a neural network still cannot do.</a:t>
            </a: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7345680" y="2196967"/>
            <a:ext cx="4297680" cy="4160520"/>
          </a:xfrm>
          <a:prstGeom prst="roundRect">
            <a:avLst>
              <a:gd name="adj" fmla="val 219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7620000" y="2425567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EXPERT SYSTEM  vs  ML MODEL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7620000" y="288276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Knowledge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8900160" y="288276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Hand-authored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10134600" y="288276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Learned from data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9"/>
          <p:cNvCxnSpPr/>
          <p:nvPr/>
        </p:nvCxnSpPr>
        <p:spPr>
          <a:xfrm>
            <a:off x="7620000" y="3294247"/>
            <a:ext cx="374904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4" name="Google Shape;214;p9"/>
          <p:cNvSpPr txBox="1"/>
          <p:nvPr/>
        </p:nvSpPr>
        <p:spPr>
          <a:xfrm>
            <a:off x="7620000" y="366000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Explains why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8900160" y="366000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Yes, rule by rule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10134600" y="366000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Rarely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9"/>
          <p:cNvCxnSpPr/>
          <p:nvPr/>
        </p:nvCxnSpPr>
        <p:spPr>
          <a:xfrm>
            <a:off x="7620000" y="4071487"/>
            <a:ext cx="374904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8" name="Google Shape;218;p9"/>
          <p:cNvSpPr txBox="1"/>
          <p:nvPr/>
        </p:nvSpPr>
        <p:spPr>
          <a:xfrm>
            <a:off x="7620000" y="443724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New cases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8900160" y="443724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Needs a new rule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10134600" y="443724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Often generalises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9"/>
          <p:cNvCxnSpPr/>
          <p:nvPr/>
        </p:nvCxnSpPr>
        <p:spPr>
          <a:xfrm>
            <a:off x="7620000" y="4848727"/>
            <a:ext cx="374904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p9"/>
          <p:cNvSpPr txBox="1"/>
          <p:nvPr/>
        </p:nvSpPr>
        <p:spPr>
          <a:xfrm>
            <a:off x="7620000" y="521448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Build cost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8900160" y="521448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Months of interviews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10134600" y="521448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Days of data work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3E6A57DA-FDCC-BF4A-5E19-A5A6C146BF9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A3C6DF66-2341-94AF-3834-0B8715B1EE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"/>
          <p:cNvSpPr txBox="1"/>
          <p:nvPr/>
        </p:nvSpPr>
        <p:spPr>
          <a:xfrm>
            <a:off x="548640" y="78197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BRANCH 2  ·  MACHINE LEARNING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548640" y="941832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Machine Learning — rules learned from data.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548640" y="192024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 txBox="1"/>
          <p:nvPr/>
        </p:nvSpPr>
        <p:spPr>
          <a:xfrm>
            <a:off x="548640" y="19202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 txBox="1"/>
          <p:nvPr/>
        </p:nvSpPr>
        <p:spPr>
          <a:xfrm>
            <a:off x="1170432" y="1865376"/>
            <a:ext cx="58704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20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The shift in who writes the rules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You supply examples of inputs and correct outputs; the algorithm finds the pattern that maps one to the other.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548640" y="299923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 txBox="1"/>
          <p:nvPr/>
        </p:nvSpPr>
        <p:spPr>
          <a:xfrm>
            <a:off x="548640" y="299923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 txBox="1"/>
          <p:nvPr/>
        </p:nvSpPr>
        <p:spPr>
          <a:xfrm>
            <a:off x="1170432" y="2944368"/>
            <a:ext cx="58704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20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Three families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Supervised learns from labelled examples, unsupervised finds structure in unlabeled data, reinforcement learns from reward and penalty.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548640" y="40782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 txBox="1"/>
          <p:nvPr/>
        </p:nvSpPr>
        <p:spPr>
          <a:xfrm>
            <a:off x="548640" y="407822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 txBox="1"/>
          <p:nvPr/>
        </p:nvSpPr>
        <p:spPr>
          <a:xfrm>
            <a:off x="1170432" y="4023360"/>
            <a:ext cx="58704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20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Training vs. testing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Training fits the parameters once and is expensive; inference applies the fitted model to new data and is cheap and fast.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548640" y="515721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 txBox="1"/>
          <p:nvPr/>
        </p:nvSpPr>
        <p:spPr>
          <a:xfrm>
            <a:off x="548640" y="51572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 txBox="1"/>
          <p:nvPr/>
        </p:nvSpPr>
        <p:spPr>
          <a:xfrm>
            <a:off x="1170432" y="5102352"/>
            <a:ext cx="58704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20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It is only as good as the data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Biased, thin or stale data produces a biased, thin or stale model — no algorithm rescues bad input.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7360920" y="1920240"/>
            <a:ext cx="4297680" cy="4343400"/>
          </a:xfrm>
          <a:prstGeom prst="roundRect">
            <a:avLst>
              <a:gd name="adj" fmla="val 2128"/>
            </a:avLst>
          </a:prstGeom>
          <a:solidFill>
            <a:srgbClr val="121A33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 txBox="1"/>
          <p:nvPr/>
        </p:nvSpPr>
        <p:spPr>
          <a:xfrm>
            <a:off x="7635240" y="21488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THE WHOLE LOOP, IN CODE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7635240" y="2514600"/>
            <a:ext cx="3749040" cy="1920240"/>
          </a:xfrm>
          <a:prstGeom prst="roundRect">
            <a:avLst>
              <a:gd name="adj" fmla="val 2857"/>
            </a:avLst>
          </a:prstGeom>
          <a:solidFill>
            <a:srgbClr val="0E17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 txBox="1"/>
          <p:nvPr/>
        </p:nvSpPr>
        <p:spPr>
          <a:xfrm>
            <a:off x="7818120" y="2606040"/>
            <a:ext cx="33832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model = RandomForest()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model.fit(X_train, y_train)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pred = model.predict(X_new)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score = model.score(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  X_test, y_test)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 txBox="1"/>
          <p:nvPr/>
        </p:nvSpPr>
        <p:spPr>
          <a:xfrm>
            <a:off x="7635240" y="4663440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Same three lines whichever algorithm you pick — fit, predict, evaluate.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 txBox="1"/>
          <p:nvPr/>
        </p:nvSpPr>
        <p:spPr>
          <a:xfrm>
            <a:off x="7635240" y="539496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An LLM is this same idea at enormous scale: predict the next token instead of a label.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12E65ED0-E14D-4FB4-28CF-817E78BBCC6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B4A8643B-40FD-FE35-7EAA-ABEA20F1A19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 txBox="1"/>
          <p:nvPr/>
        </p:nvSpPr>
        <p:spPr>
          <a:xfrm>
            <a:off x="548640" y="861782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Classical ML — four workhorses.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 txBox="1"/>
          <p:nvPr/>
        </p:nvSpPr>
        <p:spPr>
          <a:xfrm>
            <a:off x="548640" y="1460714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Still the right answer for most tabular business problems — small, fast and explainable.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548640" y="197735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121A33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777240" y="2233382"/>
            <a:ext cx="457200" cy="457200"/>
          </a:xfrm>
          <a:prstGeom prst="ellipse">
            <a:avLst/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 txBox="1"/>
          <p:nvPr/>
        </p:nvSpPr>
        <p:spPr>
          <a:xfrm>
            <a:off x="777240" y="223338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 txBox="1"/>
          <p:nvPr/>
        </p:nvSpPr>
        <p:spPr>
          <a:xfrm>
            <a:off x="777240" y="284603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900"/>
              <a:buFont typeface="Calibri"/>
              <a:buNone/>
            </a:pPr>
            <a:r>
              <a:rPr lang="en-US" sz="19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Linear Regression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 txBox="1"/>
          <p:nvPr/>
        </p:nvSpPr>
        <p:spPr>
          <a:xfrm>
            <a:off x="777240" y="321179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Predicts a number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 txBox="1"/>
          <p:nvPr/>
        </p:nvSpPr>
        <p:spPr>
          <a:xfrm>
            <a:off x="777240" y="3604982"/>
            <a:ext cx="21488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Fits a straight line through the data to forecast a continuous value.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777240" y="5360630"/>
            <a:ext cx="2148840" cy="365760"/>
          </a:xfrm>
          <a:prstGeom prst="roundRect">
            <a:avLst>
              <a:gd name="adj" fmla="val 20000"/>
            </a:avLst>
          </a:prstGeom>
          <a:solidFill>
            <a:srgbClr val="0E1730"/>
          </a:solidFill>
          <a:ln w="1270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 txBox="1"/>
          <p:nvPr/>
        </p:nvSpPr>
        <p:spPr>
          <a:xfrm>
            <a:off x="868680" y="536063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SUPERVISED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3246120" y="197735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121A33"/>
          </a:solidFill>
          <a:ln w="15875" cap="flat" cmpd="sng">
            <a:solidFill>
              <a:srgbClr val="8B9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3474720" y="2233382"/>
            <a:ext cx="457200" cy="457200"/>
          </a:xfrm>
          <a:prstGeom prst="ellipse">
            <a:avLst/>
          </a:prstGeom>
          <a:solidFill>
            <a:srgbClr val="0E1730"/>
          </a:solidFill>
          <a:ln w="15875" cap="flat" cmpd="sng">
            <a:solidFill>
              <a:srgbClr val="8B9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 txBox="1"/>
          <p:nvPr/>
        </p:nvSpPr>
        <p:spPr>
          <a:xfrm>
            <a:off x="3474720" y="223338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3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8B93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 txBox="1"/>
          <p:nvPr/>
        </p:nvSpPr>
        <p:spPr>
          <a:xfrm>
            <a:off x="3474720" y="284603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900"/>
              <a:buFont typeface="Calibri"/>
              <a:buNone/>
            </a:pPr>
            <a:r>
              <a:rPr lang="en-US" sz="19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Decision Trees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3474720" y="321179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3FF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8B93FF"/>
                </a:solidFill>
                <a:latin typeface="Calibri"/>
                <a:ea typeface="Calibri"/>
                <a:cs typeface="Calibri"/>
                <a:sym typeface="Calibri"/>
              </a:rPr>
              <a:t>Predicts a category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 txBox="1"/>
          <p:nvPr/>
        </p:nvSpPr>
        <p:spPr>
          <a:xfrm>
            <a:off x="3474720" y="3604982"/>
            <a:ext cx="21488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Splits data by asking a series of yes/no questions until it reaches a label.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3474720" y="5360630"/>
            <a:ext cx="2148840" cy="365760"/>
          </a:xfrm>
          <a:prstGeom prst="roundRect">
            <a:avLst>
              <a:gd name="adj" fmla="val 20000"/>
            </a:avLst>
          </a:prstGeom>
          <a:solidFill>
            <a:srgbClr val="0E1730"/>
          </a:solidFill>
          <a:ln w="12700" cap="flat" cmpd="sng">
            <a:solidFill>
              <a:srgbClr val="8B9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 txBox="1"/>
          <p:nvPr/>
        </p:nvSpPr>
        <p:spPr>
          <a:xfrm>
            <a:off x="3566160" y="536063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3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8B93FF"/>
                </a:solidFill>
                <a:latin typeface="Calibri"/>
                <a:ea typeface="Calibri"/>
                <a:cs typeface="Calibri"/>
                <a:sym typeface="Calibri"/>
              </a:rPr>
              <a:t>SUPERVISED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5943600" y="197735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121A33"/>
          </a:solidFill>
          <a:ln w="15875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172200" y="2233382"/>
            <a:ext cx="457200" cy="457200"/>
          </a:xfrm>
          <a:prstGeom prst="ellipse">
            <a:avLst/>
          </a:prstGeom>
          <a:solidFill>
            <a:srgbClr val="0E1730"/>
          </a:solidFill>
          <a:ln w="15875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 txBox="1"/>
          <p:nvPr/>
        </p:nvSpPr>
        <p:spPr>
          <a:xfrm>
            <a:off x="6172200" y="223338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 txBox="1"/>
          <p:nvPr/>
        </p:nvSpPr>
        <p:spPr>
          <a:xfrm>
            <a:off x="6172200" y="284603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900"/>
              <a:buFont typeface="Calibri"/>
              <a:buNone/>
            </a:pPr>
            <a:r>
              <a:rPr lang="en-US" sz="19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 txBox="1"/>
          <p:nvPr/>
        </p:nvSpPr>
        <p:spPr>
          <a:xfrm>
            <a:off x="6172200" y="321179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Many trees, one vote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 txBox="1"/>
          <p:nvPr/>
        </p:nvSpPr>
        <p:spPr>
          <a:xfrm>
            <a:off x="6172200" y="3604982"/>
            <a:ext cx="21488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Hundreds of varied trees vote together, cancelling out each other’s mistakes.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6172200" y="5360630"/>
            <a:ext cx="2148840" cy="365760"/>
          </a:xfrm>
          <a:prstGeom prst="roundRect">
            <a:avLst>
              <a:gd name="adj" fmla="val 20000"/>
            </a:avLst>
          </a:prstGeom>
          <a:solidFill>
            <a:srgbClr val="0E1730"/>
          </a:solidFill>
          <a:ln w="12700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 txBox="1"/>
          <p:nvPr/>
        </p:nvSpPr>
        <p:spPr>
          <a:xfrm>
            <a:off x="6263640" y="536063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SUPERVISED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8641080" y="197735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121A33"/>
          </a:solidFill>
          <a:ln w="15875" cap="flat" cmpd="sng">
            <a:solidFill>
              <a:srgbClr val="5FD9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8869680" y="2233382"/>
            <a:ext cx="457200" cy="457200"/>
          </a:xfrm>
          <a:prstGeom prst="ellipse">
            <a:avLst/>
          </a:prstGeom>
          <a:solidFill>
            <a:srgbClr val="0E1730"/>
          </a:solidFill>
          <a:ln w="15875" cap="flat" cmpd="sng">
            <a:solidFill>
              <a:srgbClr val="5FD9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 txBox="1"/>
          <p:nvPr/>
        </p:nvSpPr>
        <p:spPr>
          <a:xfrm>
            <a:off x="8869680" y="223338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5FD9A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 txBox="1"/>
          <p:nvPr/>
        </p:nvSpPr>
        <p:spPr>
          <a:xfrm>
            <a:off x="8869680" y="284603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900"/>
              <a:buFont typeface="Calibri"/>
              <a:buNone/>
            </a:pPr>
            <a:r>
              <a:rPr lang="en-US" sz="19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K-Means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 txBox="1"/>
          <p:nvPr/>
        </p:nvSpPr>
        <p:spPr>
          <a:xfrm>
            <a:off x="8869680" y="321179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5FD9A4"/>
                </a:solidFill>
                <a:latin typeface="Calibri"/>
                <a:ea typeface="Calibri"/>
                <a:cs typeface="Calibri"/>
                <a:sym typeface="Calibri"/>
              </a:rPr>
              <a:t>Finds hidden groups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 txBox="1"/>
          <p:nvPr/>
        </p:nvSpPr>
        <p:spPr>
          <a:xfrm>
            <a:off x="8869680" y="3604982"/>
            <a:ext cx="21488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Groups similar records into k clusters with no labels given at all.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8869680" y="5360630"/>
            <a:ext cx="2148840" cy="365760"/>
          </a:xfrm>
          <a:prstGeom prst="roundRect">
            <a:avLst>
              <a:gd name="adj" fmla="val 20000"/>
            </a:avLst>
          </a:prstGeom>
          <a:solidFill>
            <a:srgbClr val="0E1730"/>
          </a:solidFill>
          <a:ln w="12700" cap="flat" cmpd="sng">
            <a:solidFill>
              <a:srgbClr val="5FD9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 txBox="1"/>
          <p:nvPr/>
        </p:nvSpPr>
        <p:spPr>
          <a:xfrm>
            <a:off x="8961120" y="536063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5FD9A4"/>
                </a:solidFill>
                <a:latin typeface="Calibri"/>
                <a:ea typeface="Calibri"/>
                <a:cs typeface="Calibri"/>
                <a:sym typeface="Calibri"/>
              </a:rPr>
              <a:t>UNSUPERVISED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 txBox="1"/>
          <p:nvPr/>
        </p:nvSpPr>
        <p:spPr>
          <a:xfrm>
            <a:off x="548640" y="5996218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Classical ML wants a clean table of numbers. Deep learning is what you reach for when the input is raw pixels, audio or text.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8E490A81-371B-1893-2D97-27ACF1A7028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9EDC4ED3-A156-D63F-1FF3-5DC88DA2B80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"/>
          <p:cNvSpPr txBox="1"/>
          <p:nvPr/>
        </p:nvSpPr>
        <p:spPr>
          <a:xfrm>
            <a:off x="548640" y="748685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CLASSICAL ML  ·  1 OF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 txBox="1"/>
          <p:nvPr/>
        </p:nvSpPr>
        <p:spPr>
          <a:xfrm>
            <a:off x="548640" y="91440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Linear regression.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548640" y="193852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 txBox="1"/>
          <p:nvPr/>
        </p:nvSpPr>
        <p:spPr>
          <a:xfrm>
            <a:off x="548640" y="193852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 txBox="1"/>
          <p:nvPr/>
        </p:nvSpPr>
        <p:spPr>
          <a:xfrm>
            <a:off x="1170432" y="1883664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Draws the best-fit line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It finds the slope and intercept that put the line as close as possible to every point in your data.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548640" y="3145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 txBox="1"/>
          <p:nvPr/>
        </p:nvSpPr>
        <p:spPr>
          <a:xfrm>
            <a:off x="548640" y="31455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 txBox="1"/>
          <p:nvPr/>
        </p:nvSpPr>
        <p:spPr>
          <a:xfrm>
            <a:off x="1170432" y="3090672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Trained by minimizing error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It squares the vertical distance from each point to the line and adjusts until that total is as small as it can be.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548640" y="435254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 txBox="1"/>
          <p:nvPr/>
        </p:nvSpPr>
        <p:spPr>
          <a:xfrm>
            <a:off x="548640" y="435254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 txBox="1"/>
          <p:nvPr/>
        </p:nvSpPr>
        <p:spPr>
          <a:xfrm>
            <a:off x="1170432" y="4297680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Fully interpretable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Each coefficient tells you exactly how much the prediction moves per unit of that input — which is why regulators still like it.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7178040" y="1938528"/>
            <a:ext cx="4480560" cy="4343400"/>
          </a:xfrm>
          <a:prstGeom prst="roundRect">
            <a:avLst>
              <a:gd name="adj" fmla="val 210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 txBox="1"/>
          <p:nvPr/>
        </p:nvSpPr>
        <p:spPr>
          <a:xfrm>
            <a:off x="7406640" y="21396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THE MODEL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7406640" y="2487168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121A3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 txBox="1"/>
          <p:nvPr/>
        </p:nvSpPr>
        <p:spPr>
          <a:xfrm>
            <a:off x="7589520" y="2624328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y = m·x + 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hours studied  →  marks scored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area, rooms    →  house price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 txBox="1"/>
          <p:nvPr/>
        </p:nvSpPr>
        <p:spPr>
          <a:xfrm>
            <a:off x="7406640" y="413308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at a glance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 txBox="1"/>
          <p:nvPr/>
        </p:nvSpPr>
        <p:spPr>
          <a:xfrm>
            <a:off x="7406640" y="445312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Predicts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 txBox="1"/>
          <p:nvPr/>
        </p:nvSpPr>
        <p:spPr>
          <a:xfrm>
            <a:off x="9235440" y="445312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A number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 txBox="1"/>
          <p:nvPr/>
        </p:nvSpPr>
        <p:spPr>
          <a:xfrm>
            <a:off x="7406640" y="495604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Assumes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 txBox="1"/>
          <p:nvPr/>
        </p:nvSpPr>
        <p:spPr>
          <a:xfrm>
            <a:off x="9235440" y="495604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A roughly linear trend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 txBox="1"/>
          <p:nvPr/>
        </p:nvSpPr>
        <p:spPr>
          <a:xfrm>
            <a:off x="7406640" y="545896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Fails when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 txBox="1"/>
          <p:nvPr/>
        </p:nvSpPr>
        <p:spPr>
          <a:xfrm>
            <a:off x="9235440" y="545896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The pattern curves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CDC090BF-C5F7-AB31-2C48-A53F6D71257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6197045D-B53D-359C-0B68-7A8AEC44A95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4"/>
          <p:cNvSpPr txBox="1"/>
          <p:nvPr/>
        </p:nvSpPr>
        <p:spPr>
          <a:xfrm>
            <a:off x="548640" y="748685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CLASSICAL ML  ·  2 OF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 txBox="1"/>
          <p:nvPr/>
        </p:nvSpPr>
        <p:spPr>
          <a:xfrm>
            <a:off x="548640" y="91440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Decision trees.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548640" y="193852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 txBox="1"/>
          <p:nvPr/>
        </p:nvSpPr>
        <p:spPr>
          <a:xfrm>
            <a:off x="548640" y="193852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 txBox="1"/>
          <p:nvPr/>
        </p:nvSpPr>
        <p:spPr>
          <a:xfrm>
            <a:off x="1170432" y="1883664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A flowchart it learns itself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Each internal node asks one question about one feature; each leaf is a final prediction.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548640" y="3145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 txBox="1"/>
          <p:nvPr/>
        </p:nvSpPr>
        <p:spPr>
          <a:xfrm>
            <a:off x="548640" y="31455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 txBox="1"/>
          <p:nvPr/>
        </p:nvSpPr>
        <p:spPr>
          <a:xfrm>
            <a:off x="1170432" y="3090672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It picks the questions greedily</a:t>
            </a:r>
            <a:b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At every node it chooses the split that separates the classes best, measured by Gini impurity or information gain.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548640" y="435254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 txBox="1"/>
          <p:nvPr/>
        </p:nvSpPr>
        <p:spPr>
          <a:xfrm>
            <a:off x="548640" y="435254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 txBox="1"/>
          <p:nvPr/>
        </p:nvSpPr>
        <p:spPr>
          <a:xfrm>
            <a:off x="1170432" y="4297680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Easy to read, easy to overfit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You can print the tree and follow any decision — but grown too deep it </a:t>
            </a:r>
            <a:r>
              <a:rPr lang="en-US" sz="1400" dirty="0" err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memorises</a:t>
            </a: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 the training set, so you prune it or cap its depth.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7178040" y="1938528"/>
            <a:ext cx="4480560" cy="4343400"/>
          </a:xfrm>
          <a:prstGeom prst="roundRect">
            <a:avLst>
              <a:gd name="adj" fmla="val 210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 txBox="1"/>
          <p:nvPr/>
        </p:nvSpPr>
        <p:spPr>
          <a:xfrm>
            <a:off x="7406640" y="21396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A LEARNED TREE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7406640" y="2487168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121A3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 txBox="1"/>
          <p:nvPr/>
        </p:nvSpPr>
        <p:spPr>
          <a:xfrm>
            <a:off x="7589520" y="2624328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Attendance &gt; 75%?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yes → Marks &gt; 60? → PASS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no  → Assignments done?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      no → FAIL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 txBox="1"/>
          <p:nvPr/>
        </p:nvSpPr>
        <p:spPr>
          <a:xfrm>
            <a:off x="7406640" y="413308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at a glance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 txBox="1"/>
          <p:nvPr/>
        </p:nvSpPr>
        <p:spPr>
          <a:xfrm>
            <a:off x="7406640" y="445312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Predicts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 txBox="1"/>
          <p:nvPr/>
        </p:nvSpPr>
        <p:spPr>
          <a:xfrm>
            <a:off x="9235440" y="445312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A category or number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 txBox="1"/>
          <p:nvPr/>
        </p:nvSpPr>
        <p:spPr>
          <a:xfrm>
            <a:off x="7406640" y="495604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Strength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 txBox="1"/>
          <p:nvPr/>
        </p:nvSpPr>
        <p:spPr>
          <a:xfrm>
            <a:off x="9235440" y="495604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Human-readable rules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7406640" y="545896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Weakness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 txBox="1"/>
          <p:nvPr/>
        </p:nvSpPr>
        <p:spPr>
          <a:xfrm>
            <a:off x="9235440" y="545896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Unstable, overfits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44467325-FBCD-AEED-8E81-DAA8C1A035B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3ACF92D8-4855-35EA-3779-44D8FA0C263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5"/>
          <p:cNvSpPr txBox="1"/>
          <p:nvPr/>
        </p:nvSpPr>
        <p:spPr>
          <a:xfrm>
            <a:off x="548640" y="739985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CLASSICAL ML  ·  3 OF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 txBox="1"/>
          <p:nvPr/>
        </p:nvSpPr>
        <p:spPr>
          <a:xfrm>
            <a:off x="539496" y="953384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Random forest.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 txBox="1"/>
          <p:nvPr/>
        </p:nvSpPr>
        <p:spPr>
          <a:xfrm>
            <a:off x="533400" y="1648327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libri"/>
              <a:buNone/>
            </a:pPr>
            <a:r>
              <a:rPr lang="en-US" sz="1400" i="1" dirty="0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One tree is a guess. Hundreds of different trees voting is a reliable answer.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533400" y="2196967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 txBox="1"/>
          <p:nvPr/>
        </p:nvSpPr>
        <p:spPr>
          <a:xfrm>
            <a:off x="533400" y="2196967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 txBox="1"/>
          <p:nvPr/>
        </p:nvSpPr>
        <p:spPr>
          <a:xfrm>
            <a:off x="1155192" y="2142103"/>
            <a:ext cx="577900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An ensemble of trees</a:t>
            </a:r>
            <a:br>
              <a:rPr lang="en-US" sz="145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It trains many decision trees, each on a random sample of rows and a random subset of features, so no two trees are the same.</a:t>
            </a: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533400" y="3431407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 txBox="1"/>
          <p:nvPr/>
        </p:nvSpPr>
        <p:spPr>
          <a:xfrm>
            <a:off x="533400" y="3431407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 txBox="1"/>
          <p:nvPr/>
        </p:nvSpPr>
        <p:spPr>
          <a:xfrm>
            <a:off x="1155192" y="3376543"/>
            <a:ext cx="577900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Bagging: no individual errors</a:t>
            </a:r>
            <a:br>
              <a:rPr lang="en-US" sz="145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Individual trees overfit in different directions; averaging their votes cancels those errors out. This is called bagging.</a:t>
            </a: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533400" y="4665847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 txBox="1"/>
          <p:nvPr/>
        </p:nvSpPr>
        <p:spPr>
          <a:xfrm>
            <a:off x="533400" y="4665847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 txBox="1"/>
          <p:nvPr/>
        </p:nvSpPr>
        <p:spPr>
          <a:xfrm>
            <a:off x="1155192" y="4610983"/>
            <a:ext cx="577900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The default first model</a:t>
            </a:r>
            <a:br>
              <a:rPr lang="en-US" sz="145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It works well on messy tabular data with almost no tuning, and it ranks which features mattered most — often the strongest baseline you will build.</a:t>
            </a: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7345680" y="2196967"/>
            <a:ext cx="4297680" cy="4160520"/>
          </a:xfrm>
          <a:prstGeom prst="roundRect">
            <a:avLst>
              <a:gd name="adj" fmla="val 219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 txBox="1"/>
          <p:nvPr/>
        </p:nvSpPr>
        <p:spPr>
          <a:xfrm>
            <a:off x="7620000" y="2425567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ONE TREE  vs  A FOREST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 txBox="1"/>
          <p:nvPr/>
        </p:nvSpPr>
        <p:spPr>
          <a:xfrm>
            <a:off x="7620000" y="288276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 txBox="1"/>
          <p:nvPr/>
        </p:nvSpPr>
        <p:spPr>
          <a:xfrm>
            <a:off x="8900160" y="288276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Moderate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 txBox="1"/>
          <p:nvPr/>
        </p:nvSpPr>
        <p:spPr>
          <a:xfrm>
            <a:off x="10134600" y="288276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2" name="Google Shape;412;p15"/>
          <p:cNvCxnSpPr/>
          <p:nvPr/>
        </p:nvCxnSpPr>
        <p:spPr>
          <a:xfrm>
            <a:off x="7620000" y="3294247"/>
            <a:ext cx="374904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3" name="Google Shape;413;p15"/>
          <p:cNvSpPr txBox="1"/>
          <p:nvPr/>
        </p:nvSpPr>
        <p:spPr>
          <a:xfrm>
            <a:off x="7620000" y="366000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Overfitting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 txBox="1"/>
          <p:nvPr/>
        </p:nvSpPr>
        <p:spPr>
          <a:xfrm>
            <a:off x="8900160" y="366000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Severe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 txBox="1"/>
          <p:nvPr/>
        </p:nvSpPr>
        <p:spPr>
          <a:xfrm>
            <a:off x="10134600" y="366000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Largely controlled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15"/>
          <p:cNvCxnSpPr/>
          <p:nvPr/>
        </p:nvCxnSpPr>
        <p:spPr>
          <a:xfrm>
            <a:off x="7620000" y="4071487"/>
            <a:ext cx="374904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7" name="Google Shape;417;p15"/>
          <p:cNvSpPr txBox="1"/>
          <p:nvPr/>
        </p:nvSpPr>
        <p:spPr>
          <a:xfrm>
            <a:off x="7620000" y="443724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Explainability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 txBox="1"/>
          <p:nvPr/>
        </p:nvSpPr>
        <p:spPr>
          <a:xfrm>
            <a:off x="8900160" y="443724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Read the tree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 txBox="1"/>
          <p:nvPr/>
        </p:nvSpPr>
        <p:spPr>
          <a:xfrm>
            <a:off x="10134600" y="443724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Feature importances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0" name="Google Shape;420;p15"/>
          <p:cNvCxnSpPr/>
          <p:nvPr/>
        </p:nvCxnSpPr>
        <p:spPr>
          <a:xfrm>
            <a:off x="7620000" y="4848727"/>
            <a:ext cx="374904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1" name="Google Shape;421;p15"/>
          <p:cNvSpPr txBox="1"/>
          <p:nvPr/>
        </p:nvSpPr>
        <p:spPr>
          <a:xfrm>
            <a:off x="7620000" y="521448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 txBox="1"/>
          <p:nvPr/>
        </p:nvSpPr>
        <p:spPr>
          <a:xfrm>
            <a:off x="8900160" y="521448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Instant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 txBox="1"/>
          <p:nvPr/>
        </p:nvSpPr>
        <p:spPr>
          <a:xfrm>
            <a:off x="10134600" y="521448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Slower, parallelisable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82E19A79-0E3C-E899-1959-858762293B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FC567E79-6AA4-F2E1-5778-F9B33ABB8E8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6"/>
          <p:cNvSpPr txBox="1"/>
          <p:nvPr/>
        </p:nvSpPr>
        <p:spPr>
          <a:xfrm>
            <a:off x="548640" y="748685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CLASSICAL ML  ·  4 OF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 txBox="1"/>
          <p:nvPr/>
        </p:nvSpPr>
        <p:spPr>
          <a:xfrm>
            <a:off x="548640" y="91440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K-Means clustering.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548640" y="193852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 txBox="1"/>
          <p:nvPr/>
        </p:nvSpPr>
        <p:spPr>
          <a:xfrm>
            <a:off x="548640" y="193852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 txBox="1"/>
          <p:nvPr/>
        </p:nvSpPr>
        <p:spPr>
          <a:xfrm>
            <a:off x="1170432" y="1883664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No labels, no right answers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This is unsupervised learning — you hand it raw records and it discovers the groups hiding inside them.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548640" y="3145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 txBox="1"/>
          <p:nvPr/>
        </p:nvSpPr>
        <p:spPr>
          <a:xfrm>
            <a:off x="548640" y="31455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 txBox="1"/>
          <p:nvPr/>
        </p:nvSpPr>
        <p:spPr>
          <a:xfrm>
            <a:off x="1170432" y="3090672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Assign, move, repeat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Place k </a:t>
            </a:r>
            <a:r>
              <a:rPr lang="en-US" sz="1400" dirty="0" err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centres</a:t>
            </a: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, assign every point to its nearest </a:t>
            </a:r>
            <a:r>
              <a:rPr lang="en-US" sz="1400" dirty="0" err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centre</a:t>
            </a: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, move each </a:t>
            </a:r>
            <a:r>
              <a:rPr lang="en-US" sz="1400" dirty="0" err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centre</a:t>
            </a: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 to the mean of its points, and repeat until nothing moves.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548640" y="435254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 txBox="1"/>
          <p:nvPr/>
        </p:nvSpPr>
        <p:spPr>
          <a:xfrm>
            <a:off x="548640" y="435254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 txBox="1"/>
          <p:nvPr/>
        </p:nvSpPr>
        <p:spPr>
          <a:xfrm>
            <a:off x="1170432" y="4297680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You choose k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The number of clusters is your decision, usually guided by the elbow method or a silhouette score — and the result shifts with the starting </a:t>
            </a:r>
            <a:r>
              <a:rPr lang="en-US" sz="1400" dirty="0" err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centres</a:t>
            </a: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7178040" y="1938528"/>
            <a:ext cx="4480560" cy="4343400"/>
          </a:xfrm>
          <a:prstGeom prst="roundRect">
            <a:avLst>
              <a:gd name="adj" fmla="val 210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 txBox="1"/>
          <p:nvPr/>
        </p:nvSpPr>
        <p:spPr>
          <a:xfrm>
            <a:off x="7406640" y="21396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THE LOOP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7406640" y="2487168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121A3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 txBox="1"/>
          <p:nvPr/>
        </p:nvSpPr>
        <p:spPr>
          <a:xfrm>
            <a:off x="7589520" y="2624328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1  place k centroids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2  assign points to nearest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3  recompute each centroid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4  repeat until stable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 txBox="1"/>
          <p:nvPr/>
        </p:nvSpPr>
        <p:spPr>
          <a:xfrm>
            <a:off x="7406640" y="413308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at a glance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6"/>
          <p:cNvSpPr txBox="1"/>
          <p:nvPr/>
        </p:nvSpPr>
        <p:spPr>
          <a:xfrm>
            <a:off x="7406640" y="445312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Learning type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6"/>
          <p:cNvSpPr txBox="1"/>
          <p:nvPr/>
        </p:nvSpPr>
        <p:spPr>
          <a:xfrm>
            <a:off x="9235440" y="445312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Unsupervised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 txBox="1"/>
          <p:nvPr/>
        </p:nvSpPr>
        <p:spPr>
          <a:xfrm>
            <a:off x="7406640" y="495604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Used for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 txBox="1"/>
          <p:nvPr/>
        </p:nvSpPr>
        <p:spPr>
          <a:xfrm>
            <a:off x="9235440" y="495604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Customer segments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 txBox="1"/>
          <p:nvPr/>
        </p:nvSpPr>
        <p:spPr>
          <a:xfrm>
            <a:off x="7406640" y="545896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Watch out for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 txBox="1"/>
          <p:nvPr/>
        </p:nvSpPr>
        <p:spPr>
          <a:xfrm>
            <a:off x="9235440" y="545896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Choosing a bad 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2EA800A5-57D3-A0DB-E125-3569D01A2D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AC989A90-027B-8972-FFFB-23D38138BD1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7"/>
          <p:cNvSpPr txBox="1"/>
          <p:nvPr/>
        </p:nvSpPr>
        <p:spPr>
          <a:xfrm>
            <a:off x="548640" y="78197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BRANCH 3  ·  DEEP LEARNING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7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7"/>
          <p:cNvSpPr txBox="1"/>
          <p:nvPr/>
        </p:nvSpPr>
        <p:spPr>
          <a:xfrm>
            <a:off x="548640" y="941832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Deep Learning — learning the features too.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550333" y="233172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 txBox="1"/>
          <p:nvPr/>
        </p:nvSpPr>
        <p:spPr>
          <a:xfrm>
            <a:off x="550333" y="23317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7"/>
          <p:cNvSpPr txBox="1"/>
          <p:nvPr/>
        </p:nvSpPr>
        <p:spPr>
          <a:xfrm>
            <a:off x="1172125" y="2276856"/>
            <a:ext cx="58704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Layers of artificial neurons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Each layer takes the previous layer’s output, multiplies by learned weights and applies a non-linearity. Depth is what makes it “deep”.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550333" y="341071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7"/>
          <p:cNvSpPr txBox="1"/>
          <p:nvPr/>
        </p:nvSpPr>
        <p:spPr>
          <a:xfrm>
            <a:off x="550333" y="341071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7"/>
          <p:cNvSpPr txBox="1"/>
          <p:nvPr/>
        </p:nvSpPr>
        <p:spPr>
          <a:xfrm>
            <a:off x="1172125" y="3355848"/>
            <a:ext cx="58704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It builds its own features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Classical ML needs you to hand it useful columns. A deep network discovers edges, then shapes, then objects on its own.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/>
          <p:nvPr/>
        </p:nvSpPr>
        <p:spPr>
          <a:xfrm>
            <a:off x="550333" y="448970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7"/>
          <p:cNvSpPr txBox="1"/>
          <p:nvPr/>
        </p:nvSpPr>
        <p:spPr>
          <a:xfrm>
            <a:off x="550333" y="448970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 txBox="1"/>
          <p:nvPr/>
        </p:nvSpPr>
        <p:spPr>
          <a:xfrm>
            <a:off x="1172125" y="4434840"/>
            <a:ext cx="58704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Trained by backpropagation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Measure the error, push it backwards through the layers, nudge every weight a little via gradient descent, repeat millions of times.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7360920" y="1920240"/>
            <a:ext cx="4297680" cy="4343400"/>
          </a:xfrm>
          <a:prstGeom prst="roundRect">
            <a:avLst>
              <a:gd name="adj" fmla="val 2128"/>
            </a:avLst>
          </a:prstGeom>
          <a:solidFill>
            <a:srgbClr val="121A33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7"/>
          <p:cNvSpPr txBox="1"/>
          <p:nvPr/>
        </p:nvSpPr>
        <p:spPr>
          <a:xfrm>
            <a:off x="7635240" y="197053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00"/>
              <a:buFont typeface="Calibri"/>
              <a:buNone/>
            </a:pPr>
            <a:r>
              <a:rPr lang="en-US" sz="1100" b="1" dirty="0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A TINY NETWORK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7635240" y="2514600"/>
            <a:ext cx="3749040" cy="1920240"/>
          </a:xfrm>
          <a:prstGeom prst="roundRect">
            <a:avLst>
              <a:gd name="adj" fmla="val 2857"/>
            </a:avLst>
          </a:prstGeom>
          <a:solidFill>
            <a:srgbClr val="0E17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 txBox="1"/>
          <p:nvPr/>
        </p:nvSpPr>
        <p:spPr>
          <a:xfrm>
            <a:off x="7818120" y="2606040"/>
            <a:ext cx="33832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 dirty="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model = Sequential([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 dirty="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Dense(128, activation="</a:t>
            </a:r>
            <a:r>
              <a:rPr lang="en-US" sz="1400" dirty="0" err="1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relu</a:t>
            </a:r>
            <a:r>
              <a:rPr lang="en-US" sz="1400" dirty="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"),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 dirty="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Dense(64,  activation="</a:t>
            </a:r>
            <a:r>
              <a:rPr lang="en-US" sz="1400" dirty="0" err="1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relu</a:t>
            </a:r>
            <a:r>
              <a:rPr lang="en-US" sz="1400" dirty="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"),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 dirty="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Dense(10,  activation="</a:t>
            </a:r>
            <a:r>
              <a:rPr lang="en-US" sz="1400" dirty="0" err="1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softmax</a:t>
            </a:r>
            <a:r>
              <a:rPr lang="en-US" sz="1400" dirty="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")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 dirty="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 dirty="0" err="1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model.fit</a:t>
            </a:r>
            <a:r>
              <a:rPr lang="en-US" sz="1400" dirty="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(X, y, epochs=10)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7"/>
          <p:cNvSpPr txBox="1"/>
          <p:nvPr/>
        </p:nvSpPr>
        <p:spPr>
          <a:xfrm>
            <a:off x="7635240" y="4663440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Raw input in, prediction out — with every intermediate feature learned rather than designed.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7"/>
          <p:cNvSpPr txBox="1"/>
          <p:nvPr/>
        </p:nvSpPr>
        <p:spPr>
          <a:xfrm>
            <a:off x="7635240" y="539496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Three shapes of network matter for us: CNNs, RNNs and Transformers.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EA328688-29E4-530E-B137-028F4D06AC1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CF5D33CF-B8AE-8C89-A06E-68E0D4DB144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8"/>
          <p:cNvSpPr txBox="1"/>
          <p:nvPr/>
        </p:nvSpPr>
        <p:spPr>
          <a:xfrm>
            <a:off x="548640" y="748685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DEEP LEARNING  ·  CNN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8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8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8"/>
          <p:cNvSpPr txBox="1"/>
          <p:nvPr/>
        </p:nvSpPr>
        <p:spPr>
          <a:xfrm>
            <a:off x="548640" y="91440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CNN — convolutional neural networks.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8"/>
          <p:cNvSpPr/>
          <p:nvPr/>
        </p:nvSpPr>
        <p:spPr>
          <a:xfrm>
            <a:off x="548640" y="193852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8"/>
          <p:cNvSpPr txBox="1"/>
          <p:nvPr/>
        </p:nvSpPr>
        <p:spPr>
          <a:xfrm>
            <a:off x="548640" y="193852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8"/>
          <p:cNvSpPr txBox="1"/>
          <p:nvPr/>
        </p:nvSpPr>
        <p:spPr>
          <a:xfrm>
            <a:off x="1170432" y="1883664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Built for images &amp; spatial data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 small filter slides across the picture looking for one pattern at a time — an edge, a corner, a texture — wherever it appears.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8"/>
          <p:cNvSpPr/>
          <p:nvPr/>
        </p:nvSpPr>
        <p:spPr>
          <a:xfrm>
            <a:off x="548640" y="3145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8"/>
          <p:cNvSpPr txBox="1"/>
          <p:nvPr/>
        </p:nvSpPr>
        <p:spPr>
          <a:xfrm>
            <a:off x="548640" y="31455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8"/>
          <p:cNvSpPr txBox="1"/>
          <p:nvPr/>
        </p:nvSpPr>
        <p:spPr>
          <a:xfrm>
            <a:off x="1170432" y="3090672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Learns visual features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Early layers find edges, middle layers find shapes like eyes or wheels, deep layers recognize whole objects.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548640" y="435254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8"/>
          <p:cNvSpPr txBox="1"/>
          <p:nvPr/>
        </p:nvSpPr>
        <p:spPr>
          <a:xfrm>
            <a:off x="548640" y="435254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8"/>
          <p:cNvSpPr txBox="1"/>
          <p:nvPr/>
        </p:nvSpPr>
        <p:spPr>
          <a:xfrm>
            <a:off x="1170432" y="4297680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Far fewer parameters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The same filter is reused across the entire image, so a CNN learns from vastly less data than a fully connected network would need.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8"/>
          <p:cNvSpPr/>
          <p:nvPr/>
        </p:nvSpPr>
        <p:spPr>
          <a:xfrm>
            <a:off x="7178040" y="1938528"/>
            <a:ext cx="4480560" cy="4343400"/>
          </a:xfrm>
          <a:prstGeom prst="roundRect">
            <a:avLst>
              <a:gd name="adj" fmla="val 210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 txBox="1"/>
          <p:nvPr/>
        </p:nvSpPr>
        <p:spPr>
          <a:xfrm>
            <a:off x="7406640" y="21396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WHAT IT POWERS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7406640" y="2487168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121A3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8"/>
          <p:cNvSpPr txBox="1"/>
          <p:nvPr/>
        </p:nvSpPr>
        <p:spPr>
          <a:xfrm>
            <a:off x="7589520" y="2624328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face unlock on your phone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medical scan screening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self-driving perception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OCR and document scanning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8"/>
          <p:cNvSpPr txBox="1"/>
          <p:nvPr/>
        </p:nvSpPr>
        <p:spPr>
          <a:xfrm>
            <a:off x="7406640" y="413308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at a glance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8"/>
          <p:cNvSpPr txBox="1"/>
          <p:nvPr/>
        </p:nvSpPr>
        <p:spPr>
          <a:xfrm>
            <a:off x="7406640" y="445312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8"/>
          <p:cNvSpPr txBox="1"/>
          <p:nvPr/>
        </p:nvSpPr>
        <p:spPr>
          <a:xfrm>
            <a:off x="9235440" y="445312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Images, video, spectrograms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8"/>
          <p:cNvSpPr txBox="1"/>
          <p:nvPr/>
        </p:nvSpPr>
        <p:spPr>
          <a:xfrm>
            <a:off x="7406640" y="495604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Key idea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8"/>
          <p:cNvSpPr txBox="1"/>
          <p:nvPr/>
        </p:nvSpPr>
        <p:spPr>
          <a:xfrm>
            <a:off x="9235440" y="495604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Convolution + pooling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8"/>
          <p:cNvSpPr txBox="1"/>
          <p:nvPr/>
        </p:nvSpPr>
        <p:spPr>
          <a:xfrm>
            <a:off x="7406640" y="545896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Breakthrough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8"/>
          <p:cNvSpPr txBox="1"/>
          <p:nvPr/>
        </p:nvSpPr>
        <p:spPr>
          <a:xfrm>
            <a:off x="9235440" y="545896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AlexNet, 2012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B6BB1E93-46AB-4035-A6D7-07CE136C27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8B732E5B-C1AC-3689-801E-2B4868E3CB1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97;p15">
            <a:extLst>
              <a:ext uri="{FF2B5EF4-FFF2-40B4-BE49-F238E27FC236}">
                <a16:creationId xmlns:a16="http://schemas.microsoft.com/office/drawing/2014/main" id="{D082B04E-B28C-AFC5-B863-CDC4D14FBED8}"/>
              </a:ext>
            </a:extLst>
          </p:cNvPr>
          <p:cNvSpPr txBox="1"/>
          <p:nvPr/>
        </p:nvSpPr>
        <p:spPr>
          <a:xfrm>
            <a:off x="533400" y="577900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FC857"/>
              </a:buClr>
              <a:buSzPts val="1400"/>
            </a:pPr>
            <a:r>
              <a:rPr lang="en-IN" sz="1600" i="1" dirty="0">
                <a:solidFill>
                  <a:srgbClr val="FFC857"/>
                </a:solidFill>
                <a:latin typeface="Calibri"/>
                <a:ea typeface="Calibri"/>
                <a:cs typeface="Calibri"/>
              </a:rPr>
              <a:t>CNNs automatically learn increasingly complex features from simple patterns</a:t>
            </a:r>
          </a:p>
          <a:p>
            <a:pPr lvl="0">
              <a:buClr>
                <a:srgbClr val="FFC857"/>
              </a:buClr>
              <a:buSzPts val="1400"/>
            </a:pPr>
            <a:r>
              <a:rPr lang="en-IN" sz="1600" i="1" dirty="0">
                <a:solidFill>
                  <a:srgbClr val="FFC857"/>
                </a:solidFill>
                <a:latin typeface="Calibri"/>
                <a:ea typeface="Calibri"/>
                <a:cs typeface="Calibri"/>
              </a:rPr>
              <a:t> to higher-level objects.</a:t>
            </a:r>
            <a:endParaRPr sz="1600" i="1" dirty="0">
              <a:solidFill>
                <a:srgbClr val="FFC8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9"/>
          <p:cNvSpPr txBox="1"/>
          <p:nvPr/>
        </p:nvSpPr>
        <p:spPr>
          <a:xfrm>
            <a:off x="548640" y="739985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 dirty="0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DEEP LEARNING  ·  RNN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9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9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9"/>
          <p:cNvSpPr txBox="1"/>
          <p:nvPr/>
        </p:nvSpPr>
        <p:spPr>
          <a:xfrm>
            <a:off x="539496" y="953384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RNN — recurrent neural networks.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9"/>
          <p:cNvSpPr txBox="1"/>
          <p:nvPr/>
        </p:nvSpPr>
        <p:spPr>
          <a:xfrm>
            <a:off x="533400" y="1648327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libri"/>
              <a:buNone/>
            </a:pPr>
            <a:r>
              <a:rPr lang="en-US" sz="1400" i="1" dirty="0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Built for sequential data where order matters: sequences, time series and text.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9"/>
          <p:cNvSpPr/>
          <p:nvPr/>
        </p:nvSpPr>
        <p:spPr>
          <a:xfrm>
            <a:off x="533400" y="2196967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9"/>
          <p:cNvSpPr txBox="1"/>
          <p:nvPr/>
        </p:nvSpPr>
        <p:spPr>
          <a:xfrm>
            <a:off x="533400" y="2196967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9"/>
          <p:cNvSpPr txBox="1"/>
          <p:nvPr/>
        </p:nvSpPr>
        <p:spPr>
          <a:xfrm>
            <a:off x="1155192" y="2142103"/>
            <a:ext cx="577900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It carries a hidden state</a:t>
            </a:r>
            <a:br>
              <a:rPr lang="en-US" sz="145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The network reads one step at a time and passes a summary of everything it has seen so far into the next step — a memory of the sequence.</a:t>
            </a: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9"/>
          <p:cNvSpPr/>
          <p:nvPr/>
        </p:nvSpPr>
        <p:spPr>
          <a:xfrm>
            <a:off x="533400" y="3431407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9"/>
          <p:cNvSpPr txBox="1"/>
          <p:nvPr/>
        </p:nvSpPr>
        <p:spPr>
          <a:xfrm>
            <a:off x="533400" y="3431407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9"/>
          <p:cNvSpPr txBox="1"/>
          <p:nvPr/>
        </p:nvSpPr>
        <p:spPr>
          <a:xfrm>
            <a:off x="1155192" y="3287897"/>
            <a:ext cx="577900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LSTM fixed the memory fade</a:t>
            </a:r>
            <a:b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8492B8"/>
              </a:buClr>
              <a:buSzPts val="1200"/>
            </a:pPr>
            <a:r>
              <a:rPr lang="en-US" sz="12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Plain RNNs forget long-range context because gradients vanish. LSTM helped </a:t>
            </a:r>
            <a:r>
              <a:rPr lang="en-IN" sz="1200" dirty="0">
                <a:solidFill>
                  <a:srgbClr val="8492B8"/>
                </a:solidFill>
                <a:latin typeface="Calibri"/>
                <a:ea typeface="Calibri"/>
                <a:cs typeface="Calibri"/>
              </a:rPr>
              <a:t>handle long-term dependencies better</a:t>
            </a:r>
            <a:endParaRPr sz="1200" dirty="0">
              <a:solidFill>
                <a:srgbClr val="8492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9"/>
          <p:cNvSpPr/>
          <p:nvPr/>
        </p:nvSpPr>
        <p:spPr>
          <a:xfrm>
            <a:off x="533400" y="4665847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9"/>
          <p:cNvSpPr txBox="1"/>
          <p:nvPr/>
        </p:nvSpPr>
        <p:spPr>
          <a:xfrm>
            <a:off x="533400" y="4665847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9"/>
          <p:cNvSpPr txBox="1"/>
          <p:nvPr/>
        </p:nvSpPr>
        <p:spPr>
          <a:xfrm>
            <a:off x="1155192" y="4610983"/>
            <a:ext cx="577900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Strictly one step at a time</a:t>
            </a:r>
            <a:b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Step 5 cannot be computed before step 4, so training will not parallelize — the exact bottleneck that Transformers removed.</a:t>
            </a: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7345680" y="2196967"/>
            <a:ext cx="4297680" cy="4160520"/>
          </a:xfrm>
          <a:prstGeom prst="roundRect">
            <a:avLst>
              <a:gd name="adj" fmla="val 219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9"/>
          <p:cNvSpPr txBox="1"/>
          <p:nvPr/>
        </p:nvSpPr>
        <p:spPr>
          <a:xfrm>
            <a:off x="7620000" y="2425567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RNN  vs  TRANSFORMER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9"/>
          <p:cNvSpPr txBox="1"/>
          <p:nvPr/>
        </p:nvSpPr>
        <p:spPr>
          <a:xfrm>
            <a:off x="7620000" y="288276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Reads input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9"/>
          <p:cNvSpPr txBox="1"/>
          <p:nvPr/>
        </p:nvSpPr>
        <p:spPr>
          <a:xfrm>
            <a:off x="8900160" y="288276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Sequentially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9"/>
          <p:cNvSpPr txBox="1"/>
          <p:nvPr/>
        </p:nvSpPr>
        <p:spPr>
          <a:xfrm>
            <a:off x="10134600" y="288276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All at once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7" name="Google Shape;537;p19"/>
          <p:cNvCxnSpPr/>
          <p:nvPr/>
        </p:nvCxnSpPr>
        <p:spPr>
          <a:xfrm>
            <a:off x="7620000" y="3294247"/>
            <a:ext cx="374904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8" name="Google Shape;538;p19"/>
          <p:cNvSpPr txBox="1"/>
          <p:nvPr/>
        </p:nvSpPr>
        <p:spPr>
          <a:xfrm>
            <a:off x="7620000" y="366000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Long context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9"/>
          <p:cNvSpPr txBox="1"/>
          <p:nvPr/>
        </p:nvSpPr>
        <p:spPr>
          <a:xfrm>
            <a:off x="8900160" y="366000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Fades quickly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9"/>
          <p:cNvSpPr txBox="1"/>
          <p:nvPr/>
        </p:nvSpPr>
        <p:spPr>
          <a:xfrm>
            <a:off x="10134600" y="366000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Attends directly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1" name="Google Shape;541;p19"/>
          <p:cNvCxnSpPr/>
          <p:nvPr/>
        </p:nvCxnSpPr>
        <p:spPr>
          <a:xfrm>
            <a:off x="7620000" y="4071487"/>
            <a:ext cx="374904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2" name="Google Shape;542;p19"/>
          <p:cNvSpPr txBox="1"/>
          <p:nvPr/>
        </p:nvSpPr>
        <p:spPr>
          <a:xfrm>
            <a:off x="7620000" y="443724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9"/>
          <p:cNvSpPr txBox="1"/>
          <p:nvPr/>
        </p:nvSpPr>
        <p:spPr>
          <a:xfrm>
            <a:off x="8900160" y="443724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Hard to parallelise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9"/>
          <p:cNvSpPr txBox="1"/>
          <p:nvPr/>
        </p:nvSpPr>
        <p:spPr>
          <a:xfrm>
            <a:off x="10134600" y="443724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Massively parallel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5" name="Google Shape;545;p19"/>
          <p:cNvCxnSpPr/>
          <p:nvPr/>
        </p:nvCxnSpPr>
        <p:spPr>
          <a:xfrm>
            <a:off x="7620000" y="4848727"/>
            <a:ext cx="374904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6" name="Google Shape;546;p19"/>
          <p:cNvSpPr txBox="1"/>
          <p:nvPr/>
        </p:nvSpPr>
        <p:spPr>
          <a:xfrm>
            <a:off x="7620000" y="521448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Used today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9"/>
          <p:cNvSpPr txBox="1"/>
          <p:nvPr/>
        </p:nvSpPr>
        <p:spPr>
          <a:xfrm>
            <a:off x="8900160" y="521448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Niche time series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9"/>
          <p:cNvSpPr txBox="1"/>
          <p:nvPr/>
        </p:nvSpPr>
        <p:spPr>
          <a:xfrm>
            <a:off x="10134600" y="521448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Nearly everything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16D41763-4260-8C26-823A-2C4DFF11BBF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4E5EE1C3-FAC5-1BDD-3365-47DFB66E7B5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97;p15">
            <a:extLst>
              <a:ext uri="{FF2B5EF4-FFF2-40B4-BE49-F238E27FC236}">
                <a16:creationId xmlns:a16="http://schemas.microsoft.com/office/drawing/2014/main" id="{9095B842-C39B-F14D-2946-F724B2FEDFB9}"/>
              </a:ext>
            </a:extLst>
          </p:cNvPr>
          <p:cNvSpPr txBox="1"/>
          <p:nvPr/>
        </p:nvSpPr>
        <p:spPr>
          <a:xfrm>
            <a:off x="533400" y="591400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FC857"/>
              </a:buClr>
              <a:buSzPts val="1400"/>
            </a:pPr>
            <a:r>
              <a:rPr lang="en-IN" sz="1600" i="1" dirty="0">
                <a:solidFill>
                  <a:srgbClr val="FFC857"/>
                </a:solidFill>
                <a:latin typeface="Calibri"/>
                <a:ea typeface="Calibri"/>
                <a:cs typeface="Calibri"/>
              </a:rPr>
              <a:t>Vanishing gradient problem, exploding gradient problem</a:t>
            </a:r>
            <a:endParaRPr sz="1600" i="1" dirty="0">
              <a:solidFill>
                <a:srgbClr val="FFC8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0"/>
          <p:cNvSpPr txBox="1"/>
          <p:nvPr/>
        </p:nvSpPr>
        <p:spPr>
          <a:xfrm>
            <a:off x="548640" y="78197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DEEP LEARNING  ·  TRANSFORMERS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0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0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0"/>
          <p:cNvSpPr txBox="1"/>
          <p:nvPr/>
        </p:nvSpPr>
        <p:spPr>
          <a:xfrm>
            <a:off x="548640" y="941832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Transformers &amp; foundation models.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548640" y="192024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0"/>
          <p:cNvSpPr txBox="1"/>
          <p:nvPr/>
        </p:nvSpPr>
        <p:spPr>
          <a:xfrm>
            <a:off x="548640" y="19202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0"/>
          <p:cNvSpPr txBox="1"/>
          <p:nvPr/>
        </p:nvSpPr>
        <p:spPr>
          <a:xfrm>
            <a:off x="1170432" y="1865376"/>
            <a:ext cx="58704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Attention replaced recurrence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The 2017 paper “Attention Is All You Need” let every token look directly at every other token, in parallel, in a single pass.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0"/>
          <p:cNvSpPr/>
          <p:nvPr/>
        </p:nvSpPr>
        <p:spPr>
          <a:xfrm>
            <a:off x="548640" y="299923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0"/>
          <p:cNvSpPr txBox="1"/>
          <p:nvPr/>
        </p:nvSpPr>
        <p:spPr>
          <a:xfrm>
            <a:off x="548640" y="299923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0"/>
          <p:cNvSpPr txBox="1"/>
          <p:nvPr/>
        </p:nvSpPr>
        <p:spPr>
          <a:xfrm>
            <a:off x="1170432" y="2962656"/>
            <a:ext cx="58704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Self-attention in one sentence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>
              <a:solidFill>
                <a:srgbClr val="8492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8492B8"/>
              </a:buClr>
              <a:buSzPts val="1400"/>
            </a:pPr>
            <a:r>
              <a:rPr lang="en-IN" dirty="0">
                <a:solidFill>
                  <a:srgbClr val="8492B8"/>
                </a:solidFill>
                <a:latin typeface="Calibri"/>
                <a:ea typeface="Calibri"/>
                <a:cs typeface="Calibri"/>
              </a:rPr>
              <a:t>Instead of processing a sentence strictly one word at a time like an RNN, a Transformer can look at all the words </a:t>
            </a:r>
            <a:r>
              <a:rPr lang="en-IN" b="1" dirty="0"/>
              <a:t>in a sequence and determine which words are important to each other</a:t>
            </a:r>
            <a:r>
              <a:rPr lang="en-IN" dirty="0"/>
              <a:t>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548640" y="40782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0"/>
          <p:cNvSpPr txBox="1"/>
          <p:nvPr/>
        </p:nvSpPr>
        <p:spPr>
          <a:xfrm>
            <a:off x="548640" y="407822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0"/>
          <p:cNvSpPr txBox="1"/>
          <p:nvPr/>
        </p:nvSpPr>
        <p:spPr>
          <a:xfrm>
            <a:off x="1170432" y="4023360"/>
            <a:ext cx="58704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Parallel training unlocked scale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Because the whole sequence computes at once, these models could be trained on internet-scale text with thousands of GPUs.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0"/>
          <p:cNvSpPr/>
          <p:nvPr/>
        </p:nvSpPr>
        <p:spPr>
          <a:xfrm>
            <a:off x="548640" y="515721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0"/>
          <p:cNvSpPr txBox="1"/>
          <p:nvPr/>
        </p:nvSpPr>
        <p:spPr>
          <a:xfrm>
            <a:off x="548640" y="51572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0"/>
          <p:cNvSpPr txBox="1"/>
          <p:nvPr/>
        </p:nvSpPr>
        <p:spPr>
          <a:xfrm>
            <a:off x="1170432" y="5102352"/>
            <a:ext cx="58704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Foundation models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Train one enormous general model, then adapt it to countless tasks. GPT, Claude, Llama and Gemini all use transformer-based architecture..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0"/>
          <p:cNvSpPr/>
          <p:nvPr/>
        </p:nvSpPr>
        <p:spPr>
          <a:xfrm>
            <a:off x="7360920" y="1920240"/>
            <a:ext cx="4297680" cy="4343400"/>
          </a:xfrm>
          <a:prstGeom prst="roundRect">
            <a:avLst>
              <a:gd name="adj" fmla="val 2128"/>
            </a:avLst>
          </a:prstGeom>
          <a:solidFill>
            <a:srgbClr val="121A33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0"/>
          <p:cNvSpPr txBox="1"/>
          <p:nvPr/>
        </p:nvSpPr>
        <p:spPr>
          <a:xfrm>
            <a:off x="7635240" y="21488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THE STACK, TOP TO BOTTOM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0"/>
          <p:cNvSpPr/>
          <p:nvPr/>
        </p:nvSpPr>
        <p:spPr>
          <a:xfrm>
            <a:off x="7635240" y="2514600"/>
            <a:ext cx="3749040" cy="1920240"/>
          </a:xfrm>
          <a:prstGeom prst="roundRect">
            <a:avLst>
              <a:gd name="adj" fmla="val 2857"/>
            </a:avLst>
          </a:prstGeom>
          <a:solidFill>
            <a:srgbClr val="0E17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0"/>
          <p:cNvSpPr txBox="1"/>
          <p:nvPr/>
        </p:nvSpPr>
        <p:spPr>
          <a:xfrm>
            <a:off x="7818120" y="2606040"/>
            <a:ext cx="33832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tokens in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↓ embeddings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↓ self-attention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↓ feed-forward   (× N layers)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↓ softmax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next-token probabilities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0"/>
          <p:cNvSpPr txBox="1"/>
          <p:nvPr/>
        </p:nvSpPr>
        <p:spPr>
          <a:xfrm>
            <a:off x="7635240" y="4663440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This is the architecture behind the LLM you will call from Python in a few slides.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0"/>
          <p:cNvSpPr txBox="1"/>
          <p:nvPr/>
        </p:nvSpPr>
        <p:spPr>
          <a:xfrm>
            <a:off x="7635240" y="539496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Two ways to specialise one of these: give it knowledge at run time (RAG), or retrain it (fine-tuning).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AD3E6433-0FE3-A478-DDF3-719137ABB0A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5D1A620C-28C1-93FD-9C56-E3B65CDF98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9">
          <a:extLst>
            <a:ext uri="{FF2B5EF4-FFF2-40B4-BE49-F238E27FC236}">
              <a16:creationId xmlns:a16="http://schemas.microsoft.com/office/drawing/2014/main" id="{856DDAD1-AEFB-E117-1136-427890F72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6">
            <a:extLst>
              <a:ext uri="{FF2B5EF4-FFF2-40B4-BE49-F238E27FC236}">
                <a16:creationId xmlns:a16="http://schemas.microsoft.com/office/drawing/2014/main" id="{7E170426-C4EB-724E-3F8A-59FDA6628550}"/>
              </a:ext>
            </a:extLst>
          </p:cNvPr>
          <p:cNvSpPr txBox="1"/>
          <p:nvPr/>
        </p:nvSpPr>
        <p:spPr>
          <a:xfrm>
            <a:off x="548639" y="1025331"/>
            <a:ext cx="7876495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3FD0E6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FOUNDATION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6">
            <a:extLst>
              <a:ext uri="{FF2B5EF4-FFF2-40B4-BE49-F238E27FC236}">
                <a16:creationId xmlns:a16="http://schemas.microsoft.com/office/drawing/2014/main" id="{26EE31F8-A0F3-C1BE-6001-6AAF45B405C3}"/>
              </a:ext>
            </a:extLst>
          </p:cNvPr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>
                <a:ln>
                  <a:noFill/>
                </a:ln>
                <a:solidFill>
                  <a:srgbClr val="5A6E96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kumimoji="0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6">
            <a:extLst>
              <a:ext uri="{FF2B5EF4-FFF2-40B4-BE49-F238E27FC236}">
                <a16:creationId xmlns:a16="http://schemas.microsoft.com/office/drawing/2014/main" id="{356E83F1-4BDB-CF2E-0D15-6216C159EC0F}"/>
              </a:ext>
            </a:extLst>
          </p:cNvPr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>
                <a:ln>
                  <a:noFill/>
                </a:ln>
                <a:solidFill>
                  <a:srgbClr val="5A6E96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24</a:t>
            </a:r>
            <a:endParaRPr kumimoji="0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6">
            <a:extLst>
              <a:ext uri="{FF2B5EF4-FFF2-40B4-BE49-F238E27FC236}">
                <a16:creationId xmlns:a16="http://schemas.microsoft.com/office/drawing/2014/main" id="{55B576DB-6710-A6B1-D62F-DB143E3F047F}"/>
              </a:ext>
            </a:extLst>
          </p:cNvPr>
          <p:cNvSpPr txBox="1"/>
          <p:nvPr/>
        </p:nvSpPr>
        <p:spPr>
          <a:xfrm>
            <a:off x="548639" y="1046336"/>
            <a:ext cx="10749099" cy="1058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>
                <a:ln>
                  <a:noFill/>
                </a:ln>
                <a:solidFill>
                  <a:srgbClr val="EAF0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What is an LLM?</a:t>
            </a: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6">
            <a:extLst>
              <a:ext uri="{FF2B5EF4-FFF2-40B4-BE49-F238E27FC236}">
                <a16:creationId xmlns:a16="http://schemas.microsoft.com/office/drawing/2014/main" id="{DBE9E824-805C-8DF8-5654-697833ED54E9}"/>
              </a:ext>
            </a:extLst>
          </p:cNvPr>
          <p:cNvSpPr txBox="1"/>
          <p:nvPr/>
        </p:nvSpPr>
        <p:spPr>
          <a:xfrm>
            <a:off x="548639" y="1764791"/>
            <a:ext cx="10007781" cy="47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300"/>
              <a:buFont typeface="Calibri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8492B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Large Language Model — the “brain” behind ChatGPT and the Groq-hosted models we'll use today.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6">
            <a:extLst>
              <a:ext uri="{FF2B5EF4-FFF2-40B4-BE49-F238E27FC236}">
                <a16:creationId xmlns:a16="http://schemas.microsoft.com/office/drawing/2014/main" id="{20F0B9C3-8191-08CE-0440-F5F70B547523}"/>
              </a:ext>
            </a:extLst>
          </p:cNvPr>
          <p:cNvSpPr/>
          <p:nvPr/>
        </p:nvSpPr>
        <p:spPr>
          <a:xfrm>
            <a:off x="548639" y="2377440"/>
            <a:ext cx="3567589" cy="2052174"/>
          </a:xfrm>
          <a:prstGeom prst="roundRect">
            <a:avLst>
              <a:gd name="adj" fmla="val 5000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6">
            <a:extLst>
              <a:ext uri="{FF2B5EF4-FFF2-40B4-BE49-F238E27FC236}">
                <a16:creationId xmlns:a16="http://schemas.microsoft.com/office/drawing/2014/main" id="{DE4F5DC5-CDA2-5C5D-59EA-E8216C4674E6}"/>
              </a:ext>
            </a:extLst>
          </p:cNvPr>
          <p:cNvSpPr/>
          <p:nvPr/>
        </p:nvSpPr>
        <p:spPr>
          <a:xfrm>
            <a:off x="804671" y="2606039"/>
            <a:ext cx="148263" cy="188105"/>
          </a:xfrm>
          <a:prstGeom prst="star4">
            <a:avLst>
              <a:gd name="adj" fmla="val 12500"/>
            </a:avLst>
          </a:prstGeom>
          <a:solidFill>
            <a:srgbClr val="3FD0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6">
            <a:extLst>
              <a:ext uri="{FF2B5EF4-FFF2-40B4-BE49-F238E27FC236}">
                <a16:creationId xmlns:a16="http://schemas.microsoft.com/office/drawing/2014/main" id="{2E591016-6288-9A87-888C-C121F6274496}"/>
              </a:ext>
            </a:extLst>
          </p:cNvPr>
          <p:cNvSpPr txBox="1"/>
          <p:nvPr/>
        </p:nvSpPr>
        <p:spPr>
          <a:xfrm>
            <a:off x="804672" y="2834639"/>
            <a:ext cx="3104266" cy="47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  <a:tabLst/>
              <a:defRPr/>
            </a:pPr>
            <a:r>
              <a:rPr kumimoji="0" lang="en-US" sz="1450" b="1" i="0" u="none" strike="noStrike" kern="0" cap="none" spc="0" normalizeH="0" baseline="0" noProof="0">
                <a:ln>
                  <a:noFill/>
                </a:ln>
                <a:solidFill>
                  <a:srgbClr val="EAF0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Trained on text</a:t>
            </a:r>
            <a:endParaRPr kumimoji="0" sz="14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6">
            <a:extLst>
              <a:ext uri="{FF2B5EF4-FFF2-40B4-BE49-F238E27FC236}">
                <a16:creationId xmlns:a16="http://schemas.microsoft.com/office/drawing/2014/main" id="{A7817449-EF0A-FB34-2B6B-8B232DBC3660}"/>
              </a:ext>
            </a:extLst>
          </p:cNvPr>
          <p:cNvSpPr txBox="1"/>
          <p:nvPr/>
        </p:nvSpPr>
        <p:spPr>
          <a:xfrm>
            <a:off x="804672" y="3200400"/>
            <a:ext cx="3104266" cy="111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>
                <a:ln>
                  <a:noFill/>
                </a:ln>
                <a:solidFill>
                  <a:srgbClr val="8492B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Books, articles, code, conversations — a huge slice of the written internet.</a:t>
            </a:r>
            <a:endParaRPr kumimoji="0" sz="11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6">
            <a:extLst>
              <a:ext uri="{FF2B5EF4-FFF2-40B4-BE49-F238E27FC236}">
                <a16:creationId xmlns:a16="http://schemas.microsoft.com/office/drawing/2014/main" id="{5BD72F14-F149-DF80-D521-B4D9530D0AD7}"/>
              </a:ext>
            </a:extLst>
          </p:cNvPr>
          <p:cNvSpPr/>
          <p:nvPr/>
        </p:nvSpPr>
        <p:spPr>
          <a:xfrm>
            <a:off x="4270247" y="2377440"/>
            <a:ext cx="3567589" cy="2052174"/>
          </a:xfrm>
          <a:prstGeom prst="roundRect">
            <a:avLst>
              <a:gd name="adj" fmla="val 5000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6">
            <a:extLst>
              <a:ext uri="{FF2B5EF4-FFF2-40B4-BE49-F238E27FC236}">
                <a16:creationId xmlns:a16="http://schemas.microsoft.com/office/drawing/2014/main" id="{00E781ED-01A9-3674-80F8-EB0643F1FEEC}"/>
              </a:ext>
            </a:extLst>
          </p:cNvPr>
          <p:cNvSpPr/>
          <p:nvPr/>
        </p:nvSpPr>
        <p:spPr>
          <a:xfrm>
            <a:off x="4526279" y="2606039"/>
            <a:ext cx="148263" cy="188105"/>
          </a:xfrm>
          <a:prstGeom prst="star4">
            <a:avLst>
              <a:gd name="adj" fmla="val 12500"/>
            </a:avLst>
          </a:prstGeom>
          <a:solidFill>
            <a:srgbClr val="8B93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6">
            <a:extLst>
              <a:ext uri="{FF2B5EF4-FFF2-40B4-BE49-F238E27FC236}">
                <a16:creationId xmlns:a16="http://schemas.microsoft.com/office/drawing/2014/main" id="{2229806B-5172-3242-3347-73D803861D80}"/>
              </a:ext>
            </a:extLst>
          </p:cNvPr>
          <p:cNvSpPr txBox="1"/>
          <p:nvPr/>
        </p:nvSpPr>
        <p:spPr>
          <a:xfrm>
            <a:off x="4526280" y="2834639"/>
            <a:ext cx="3104266" cy="47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  <a:tabLst/>
              <a:defRPr/>
            </a:pPr>
            <a:r>
              <a:rPr kumimoji="0" lang="en-US" sz="1450" b="1" i="0" u="none" strike="noStrike" kern="0" cap="none" spc="0" normalizeH="0" baseline="0" noProof="0">
                <a:ln>
                  <a:noFill/>
                </a:ln>
                <a:solidFill>
                  <a:srgbClr val="EAF0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Learns patterns</a:t>
            </a:r>
            <a:endParaRPr kumimoji="0" sz="14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6">
            <a:extLst>
              <a:ext uri="{FF2B5EF4-FFF2-40B4-BE49-F238E27FC236}">
                <a16:creationId xmlns:a16="http://schemas.microsoft.com/office/drawing/2014/main" id="{A829FA4F-AB58-7B90-6B39-16320BE24A84}"/>
              </a:ext>
            </a:extLst>
          </p:cNvPr>
          <p:cNvSpPr txBox="1"/>
          <p:nvPr/>
        </p:nvSpPr>
        <p:spPr>
          <a:xfrm>
            <a:off x="4526280" y="3200400"/>
            <a:ext cx="3104266" cy="111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>
                <a:ln>
                  <a:noFill/>
                </a:ln>
                <a:solidFill>
                  <a:srgbClr val="8492B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Not facts filed away — statistical patterns in how language fits together.</a:t>
            </a:r>
            <a:endParaRPr kumimoji="0" sz="11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6">
            <a:extLst>
              <a:ext uri="{FF2B5EF4-FFF2-40B4-BE49-F238E27FC236}">
                <a16:creationId xmlns:a16="http://schemas.microsoft.com/office/drawing/2014/main" id="{F80C2437-56DE-2F29-076D-35D993B8CF99}"/>
              </a:ext>
            </a:extLst>
          </p:cNvPr>
          <p:cNvSpPr/>
          <p:nvPr/>
        </p:nvSpPr>
        <p:spPr>
          <a:xfrm>
            <a:off x="7991855" y="2377440"/>
            <a:ext cx="3567589" cy="2027251"/>
          </a:xfrm>
          <a:prstGeom prst="roundRect">
            <a:avLst>
              <a:gd name="adj" fmla="val 5000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6">
            <a:extLst>
              <a:ext uri="{FF2B5EF4-FFF2-40B4-BE49-F238E27FC236}">
                <a16:creationId xmlns:a16="http://schemas.microsoft.com/office/drawing/2014/main" id="{6AE9E43A-297F-D282-1E9F-21617B128CFA}"/>
              </a:ext>
            </a:extLst>
          </p:cNvPr>
          <p:cNvSpPr/>
          <p:nvPr/>
        </p:nvSpPr>
        <p:spPr>
          <a:xfrm>
            <a:off x="8247887" y="2606039"/>
            <a:ext cx="148263" cy="188105"/>
          </a:xfrm>
          <a:prstGeom prst="star4">
            <a:avLst>
              <a:gd name="adj" fmla="val 12500"/>
            </a:avLst>
          </a:prstGeom>
          <a:solidFill>
            <a:srgbClr val="FFC85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6">
            <a:extLst>
              <a:ext uri="{FF2B5EF4-FFF2-40B4-BE49-F238E27FC236}">
                <a16:creationId xmlns:a16="http://schemas.microsoft.com/office/drawing/2014/main" id="{AC5612CC-0180-EFC5-8916-5C13F9ADA2D6}"/>
              </a:ext>
            </a:extLst>
          </p:cNvPr>
          <p:cNvSpPr txBox="1"/>
          <p:nvPr/>
        </p:nvSpPr>
        <p:spPr>
          <a:xfrm>
            <a:off x="8247888" y="2834639"/>
            <a:ext cx="3104266" cy="47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  <a:tabLst/>
              <a:defRPr/>
            </a:pPr>
            <a:r>
              <a:rPr kumimoji="0" lang="en-US" sz="1450" b="1" i="0" u="none" strike="noStrike" kern="0" cap="none" spc="0" normalizeH="0" baseline="0" noProof="0">
                <a:ln>
                  <a:noFill/>
                </a:ln>
                <a:solidFill>
                  <a:srgbClr val="EAF0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Predicts, doesn't fetch</a:t>
            </a:r>
            <a:endParaRPr kumimoji="0" sz="14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6">
            <a:extLst>
              <a:ext uri="{FF2B5EF4-FFF2-40B4-BE49-F238E27FC236}">
                <a16:creationId xmlns:a16="http://schemas.microsoft.com/office/drawing/2014/main" id="{2001BF0C-17FD-F60B-4BAE-213D8519FC5C}"/>
              </a:ext>
            </a:extLst>
          </p:cNvPr>
          <p:cNvSpPr txBox="1"/>
          <p:nvPr/>
        </p:nvSpPr>
        <p:spPr>
          <a:xfrm>
            <a:off x="8247888" y="3200400"/>
            <a:ext cx="3104266" cy="111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>
                <a:ln>
                  <a:noFill/>
                </a:ln>
                <a:solidFill>
                  <a:srgbClr val="8492B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Every reply is generated fresh, one likely word at a time.</a:t>
            </a:r>
            <a:endParaRPr kumimoji="0" sz="11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6">
            <a:extLst>
              <a:ext uri="{FF2B5EF4-FFF2-40B4-BE49-F238E27FC236}">
                <a16:creationId xmlns:a16="http://schemas.microsoft.com/office/drawing/2014/main" id="{587F8F5D-9842-6B3C-6031-43C2085C4B4E}"/>
              </a:ext>
            </a:extLst>
          </p:cNvPr>
          <p:cNvSpPr txBox="1"/>
          <p:nvPr/>
        </p:nvSpPr>
        <p:spPr>
          <a:xfrm>
            <a:off x="548640" y="4572000"/>
            <a:ext cx="10378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EAF0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On its own, an LLM only replies to text. 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600"/>
              <a:buFont typeface="Calibri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8492B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It needs a goal, tools, and memory to become an agent — the four blocks you'll meet in a few slides.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6">
            <a:extLst>
              <a:ext uri="{FF2B5EF4-FFF2-40B4-BE49-F238E27FC236}">
                <a16:creationId xmlns:a16="http://schemas.microsoft.com/office/drawing/2014/main" id="{8CEE5D74-01FA-0780-B86A-EED6D21227D9}"/>
              </a:ext>
            </a:extLst>
          </p:cNvPr>
          <p:cNvSpPr/>
          <p:nvPr/>
        </p:nvSpPr>
        <p:spPr>
          <a:xfrm>
            <a:off x="548640" y="5538754"/>
            <a:ext cx="4262574" cy="587829"/>
          </a:xfrm>
          <a:prstGeom prst="roundRect">
            <a:avLst>
              <a:gd name="adj" fmla="val 16000"/>
            </a:avLst>
          </a:prstGeom>
          <a:solidFill>
            <a:srgbClr val="0E1730"/>
          </a:solidFill>
          <a:ln w="1270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6">
            <a:extLst>
              <a:ext uri="{FF2B5EF4-FFF2-40B4-BE49-F238E27FC236}">
                <a16:creationId xmlns:a16="http://schemas.microsoft.com/office/drawing/2014/main" id="{E1C542FF-C0C8-E448-1F6A-09078B33EAE9}"/>
              </a:ext>
            </a:extLst>
          </p:cNvPr>
          <p:cNvSpPr txBox="1"/>
          <p:nvPr/>
        </p:nvSpPr>
        <p:spPr>
          <a:xfrm>
            <a:off x="640080" y="5538754"/>
            <a:ext cx="4077244" cy="587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>
                <a:ln>
                  <a:noFill/>
                </a:ln>
                <a:solidFill>
                  <a:srgbClr val="3FD0E6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GPT, Claude, Llama, Gemini — all LLMs</a:t>
            </a:r>
            <a:endParaRPr kumimoji="0" sz="11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27A5CE44-A6FC-2BFE-42A0-B8DD75A7B02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0B9987F4-3D45-8B5A-6D1E-D32E14D0135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0209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1"/>
          <p:cNvSpPr txBox="1"/>
          <p:nvPr/>
        </p:nvSpPr>
        <p:spPr>
          <a:xfrm>
            <a:off x="548640" y="94640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ADAPTING A MODEL  ·  1 OF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1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1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1"/>
          <p:cNvSpPr txBox="1"/>
          <p:nvPr/>
        </p:nvSpPr>
        <p:spPr>
          <a:xfrm>
            <a:off x="548640" y="1261872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RAG — retrieval augmented generation.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1"/>
          <p:cNvSpPr/>
          <p:nvPr/>
        </p:nvSpPr>
        <p:spPr>
          <a:xfrm>
            <a:off x="548640" y="2240280"/>
            <a:ext cx="7635240" cy="594360"/>
          </a:xfrm>
          <a:prstGeom prst="roundRect">
            <a:avLst>
              <a:gd name="adj" fmla="val 1230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1"/>
          <p:cNvSpPr txBox="1"/>
          <p:nvPr/>
        </p:nvSpPr>
        <p:spPr>
          <a:xfrm>
            <a:off x="731520" y="2240280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3FD0E6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1"/>
          <p:cNvSpPr txBox="1"/>
          <p:nvPr/>
        </p:nvSpPr>
        <p:spPr>
          <a:xfrm>
            <a:off x="1417320" y="2267712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The problem it solves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1"/>
          <p:cNvSpPr txBox="1"/>
          <p:nvPr/>
        </p:nvSpPr>
        <p:spPr>
          <a:xfrm>
            <a:off x="3589867" y="2267712"/>
            <a:ext cx="4502573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50"/>
              <a:buFont typeface="Calibri"/>
              <a:buNone/>
            </a:pPr>
            <a:r>
              <a:rPr lang="en-US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An LLM only knows its training data. RAG retrieves relevant information.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1"/>
          <p:cNvSpPr/>
          <p:nvPr/>
        </p:nvSpPr>
        <p:spPr>
          <a:xfrm>
            <a:off x="548640" y="2953512"/>
            <a:ext cx="7635240" cy="594360"/>
          </a:xfrm>
          <a:prstGeom prst="roundRect">
            <a:avLst>
              <a:gd name="adj" fmla="val 1230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1"/>
          <p:cNvSpPr txBox="1"/>
          <p:nvPr/>
        </p:nvSpPr>
        <p:spPr>
          <a:xfrm>
            <a:off x="731520" y="2953512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3FD0E6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1"/>
          <p:cNvSpPr txBox="1"/>
          <p:nvPr/>
        </p:nvSpPr>
        <p:spPr>
          <a:xfrm>
            <a:off x="1417320" y="2980944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Index your documents once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1"/>
          <p:cNvSpPr txBox="1"/>
          <p:nvPr/>
        </p:nvSpPr>
        <p:spPr>
          <a:xfrm>
            <a:off x="3589867" y="2980944"/>
            <a:ext cx="4502573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50"/>
              <a:buFont typeface="Calibri"/>
              <a:buNone/>
            </a:pPr>
            <a:r>
              <a:rPr lang="en-US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Split them into chunks, convert each to an embedding vector and store it in a vector database.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1"/>
          <p:cNvSpPr/>
          <p:nvPr/>
        </p:nvSpPr>
        <p:spPr>
          <a:xfrm>
            <a:off x="548640" y="3666744"/>
            <a:ext cx="7635240" cy="594360"/>
          </a:xfrm>
          <a:prstGeom prst="roundRect">
            <a:avLst>
              <a:gd name="adj" fmla="val 1230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1"/>
          <p:cNvSpPr txBox="1"/>
          <p:nvPr/>
        </p:nvSpPr>
        <p:spPr>
          <a:xfrm>
            <a:off x="731520" y="3666744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3FD0E6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1"/>
          <p:cNvSpPr txBox="1"/>
          <p:nvPr/>
        </p:nvSpPr>
        <p:spPr>
          <a:xfrm>
            <a:off x="1417320" y="3694176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Retrieve at question time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1"/>
          <p:cNvSpPr txBox="1"/>
          <p:nvPr/>
        </p:nvSpPr>
        <p:spPr>
          <a:xfrm>
            <a:off x="3589867" y="3694176"/>
            <a:ext cx="4502573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50"/>
              <a:buFont typeface="Calibri"/>
              <a:buNone/>
            </a:pPr>
            <a:r>
              <a:rPr lang="en-US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Embed the user’s question and pull back the handful of chunks closest to it in meaning.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1"/>
          <p:cNvSpPr/>
          <p:nvPr/>
        </p:nvSpPr>
        <p:spPr>
          <a:xfrm>
            <a:off x="548640" y="4379976"/>
            <a:ext cx="7635240" cy="594360"/>
          </a:xfrm>
          <a:prstGeom prst="roundRect">
            <a:avLst>
              <a:gd name="adj" fmla="val 1230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1"/>
          <p:cNvSpPr txBox="1"/>
          <p:nvPr/>
        </p:nvSpPr>
        <p:spPr>
          <a:xfrm>
            <a:off x="731520" y="4379976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3FD0E6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1"/>
          <p:cNvSpPr txBox="1"/>
          <p:nvPr/>
        </p:nvSpPr>
        <p:spPr>
          <a:xfrm>
            <a:off x="1417320" y="4407408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Augment the prompt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1"/>
          <p:cNvSpPr txBox="1"/>
          <p:nvPr/>
        </p:nvSpPr>
        <p:spPr>
          <a:xfrm>
            <a:off x="3589867" y="4407408"/>
            <a:ext cx="4502573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50"/>
              <a:buFont typeface="Calibri"/>
              <a:buNone/>
            </a:pPr>
            <a:r>
              <a:rPr lang="en-US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Paste those retrieved chunks into the prompt as context, alongside the original question.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1"/>
          <p:cNvSpPr/>
          <p:nvPr/>
        </p:nvSpPr>
        <p:spPr>
          <a:xfrm>
            <a:off x="548640" y="5093208"/>
            <a:ext cx="7635240" cy="594360"/>
          </a:xfrm>
          <a:prstGeom prst="roundRect">
            <a:avLst>
              <a:gd name="adj" fmla="val 1230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1"/>
          <p:cNvSpPr txBox="1"/>
          <p:nvPr/>
        </p:nvSpPr>
        <p:spPr>
          <a:xfrm>
            <a:off x="731520" y="5093208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3FD0E6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1"/>
          <p:cNvSpPr txBox="1"/>
          <p:nvPr/>
        </p:nvSpPr>
        <p:spPr>
          <a:xfrm>
            <a:off x="1417320" y="512064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Generate a grounded answer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1"/>
          <p:cNvSpPr txBox="1"/>
          <p:nvPr/>
        </p:nvSpPr>
        <p:spPr>
          <a:xfrm>
            <a:off x="3589867" y="5120640"/>
            <a:ext cx="4502573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50"/>
              <a:buFont typeface="Calibri"/>
              <a:buNone/>
            </a:pPr>
            <a:r>
              <a:rPr lang="en-US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The model now answers from supplied text rather than memory — and can cite where each claim came from.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1"/>
          <p:cNvSpPr/>
          <p:nvPr/>
        </p:nvSpPr>
        <p:spPr>
          <a:xfrm>
            <a:off x="8412480" y="2240280"/>
            <a:ext cx="3246120" cy="3566160"/>
          </a:xfrm>
          <a:prstGeom prst="roundRect">
            <a:avLst>
              <a:gd name="adj" fmla="val 2817"/>
            </a:avLst>
          </a:prstGeom>
          <a:solidFill>
            <a:srgbClr val="0E1730"/>
          </a:solidFill>
          <a:ln w="15875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1"/>
          <p:cNvSpPr txBox="1"/>
          <p:nvPr/>
        </p:nvSpPr>
        <p:spPr>
          <a:xfrm>
            <a:off x="8641080" y="2423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1"/>
          <p:cNvSpPr txBox="1"/>
          <p:nvPr/>
        </p:nvSpPr>
        <p:spPr>
          <a:xfrm>
            <a:off x="8641080" y="2788920"/>
            <a:ext cx="27889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•  Cuts hallucination — the facts are in the prompt, not recalled from weights.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1"/>
          <p:cNvSpPr txBox="1"/>
          <p:nvPr/>
        </p:nvSpPr>
        <p:spPr>
          <a:xfrm>
            <a:off x="8641080" y="3749040"/>
            <a:ext cx="27889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•  Your data stays yours; nothing is baked into the model.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1"/>
          <p:cNvSpPr txBox="1"/>
          <p:nvPr/>
        </p:nvSpPr>
        <p:spPr>
          <a:xfrm>
            <a:off x="8641080" y="4709160"/>
            <a:ext cx="27889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•  Update knowledge by re-indexing a file, not retraining a model.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612D09BA-4BA2-3928-0E50-CBAE1D9C32B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4D363457-2975-3558-0EA3-8E4FC8CF11E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2"/>
          <p:cNvSpPr txBox="1"/>
          <p:nvPr/>
        </p:nvSpPr>
        <p:spPr>
          <a:xfrm>
            <a:off x="548640" y="739985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ADAPTING A MODEL  ·  2 OF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2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2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2"/>
          <p:cNvSpPr txBox="1"/>
          <p:nvPr/>
        </p:nvSpPr>
        <p:spPr>
          <a:xfrm>
            <a:off x="539496" y="953384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Fine-tuning.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2"/>
          <p:cNvSpPr txBox="1"/>
          <p:nvPr/>
        </p:nvSpPr>
        <p:spPr>
          <a:xfrm>
            <a:off x="533400" y="1648327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Keep training a pretrained model on your own examples until it adopts your task.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2"/>
          <p:cNvSpPr/>
          <p:nvPr/>
        </p:nvSpPr>
        <p:spPr>
          <a:xfrm>
            <a:off x="533400" y="2196967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2"/>
          <p:cNvSpPr txBox="1"/>
          <p:nvPr/>
        </p:nvSpPr>
        <p:spPr>
          <a:xfrm>
            <a:off x="533400" y="2196967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2"/>
          <p:cNvSpPr txBox="1"/>
          <p:nvPr/>
        </p:nvSpPr>
        <p:spPr>
          <a:xfrm>
            <a:off x="1155192" y="2142103"/>
            <a:ext cx="577900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You change the weights</a:t>
            </a:r>
            <a:br>
              <a:rPr lang="en-US" sz="145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Start from a foundation model and continue training on a few hundred to a few thousand of your own input-output pairs.</a:t>
            </a: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2"/>
          <p:cNvSpPr/>
          <p:nvPr/>
        </p:nvSpPr>
        <p:spPr>
          <a:xfrm>
            <a:off x="533400" y="3431407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2"/>
          <p:cNvSpPr txBox="1"/>
          <p:nvPr/>
        </p:nvSpPr>
        <p:spPr>
          <a:xfrm>
            <a:off x="533400" y="3431407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2"/>
          <p:cNvSpPr txBox="1"/>
          <p:nvPr/>
        </p:nvSpPr>
        <p:spPr>
          <a:xfrm>
            <a:off x="1155192" y="3376543"/>
            <a:ext cx="577900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</a:pPr>
            <a:r>
              <a:rPr lang="en-US" sz="18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Best for behaviour, not facts</a:t>
            </a:r>
            <a:br>
              <a:rPr lang="en-US" sz="145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Fine-tuning teaches format, tone, and domain vocabulary reliably. For changing facts, retrieval is usually the better tool.</a:t>
            </a: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2"/>
          <p:cNvSpPr/>
          <p:nvPr/>
        </p:nvSpPr>
        <p:spPr>
          <a:xfrm>
            <a:off x="7345680" y="2196967"/>
            <a:ext cx="4297680" cy="4160520"/>
          </a:xfrm>
          <a:prstGeom prst="roundRect">
            <a:avLst>
              <a:gd name="adj" fmla="val 219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2"/>
          <p:cNvSpPr txBox="1"/>
          <p:nvPr/>
        </p:nvSpPr>
        <p:spPr>
          <a:xfrm>
            <a:off x="7620000" y="2425567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RAG  vs  FINE-TUNING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2"/>
          <p:cNvSpPr txBox="1"/>
          <p:nvPr/>
        </p:nvSpPr>
        <p:spPr>
          <a:xfrm>
            <a:off x="7620000" y="288276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Teaches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2"/>
          <p:cNvSpPr txBox="1"/>
          <p:nvPr/>
        </p:nvSpPr>
        <p:spPr>
          <a:xfrm>
            <a:off x="8900160" y="288276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New facts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2"/>
          <p:cNvSpPr txBox="1"/>
          <p:nvPr/>
        </p:nvSpPr>
        <p:spPr>
          <a:xfrm>
            <a:off x="10134600" y="288276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 dirty="0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New behaviour</a:t>
            </a: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8" name="Google Shape;638;p22"/>
          <p:cNvCxnSpPr/>
          <p:nvPr/>
        </p:nvCxnSpPr>
        <p:spPr>
          <a:xfrm>
            <a:off x="7620000" y="3294247"/>
            <a:ext cx="374904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9" name="Google Shape;639;p22"/>
          <p:cNvSpPr txBox="1"/>
          <p:nvPr/>
        </p:nvSpPr>
        <p:spPr>
          <a:xfrm>
            <a:off x="7620000" y="366000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Update cost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2"/>
          <p:cNvSpPr txBox="1"/>
          <p:nvPr/>
        </p:nvSpPr>
        <p:spPr>
          <a:xfrm>
            <a:off x="8900160" y="366000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Re-index a file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2"/>
          <p:cNvSpPr txBox="1"/>
          <p:nvPr/>
        </p:nvSpPr>
        <p:spPr>
          <a:xfrm>
            <a:off x="10134600" y="366000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Retrain the adapter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2" name="Google Shape;642;p22"/>
          <p:cNvCxnSpPr/>
          <p:nvPr/>
        </p:nvCxnSpPr>
        <p:spPr>
          <a:xfrm>
            <a:off x="7620000" y="4071487"/>
            <a:ext cx="374904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3" name="Google Shape;643;p22"/>
          <p:cNvSpPr txBox="1"/>
          <p:nvPr/>
        </p:nvSpPr>
        <p:spPr>
          <a:xfrm>
            <a:off x="7620000" y="443724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Traceable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2"/>
          <p:cNvSpPr txBox="1"/>
          <p:nvPr/>
        </p:nvSpPr>
        <p:spPr>
          <a:xfrm>
            <a:off x="8900160" y="443724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Yes, cite sources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2"/>
          <p:cNvSpPr txBox="1"/>
          <p:nvPr/>
        </p:nvSpPr>
        <p:spPr>
          <a:xfrm>
            <a:off x="10134600" y="443724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6" name="Google Shape;646;p22"/>
          <p:cNvCxnSpPr/>
          <p:nvPr/>
        </p:nvCxnSpPr>
        <p:spPr>
          <a:xfrm>
            <a:off x="7620000" y="4848727"/>
            <a:ext cx="374904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7" name="Google Shape;647;p22"/>
          <p:cNvSpPr txBox="1"/>
          <p:nvPr/>
        </p:nvSpPr>
        <p:spPr>
          <a:xfrm>
            <a:off x="7620000" y="521448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Best when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2"/>
          <p:cNvSpPr txBox="1"/>
          <p:nvPr/>
        </p:nvSpPr>
        <p:spPr>
          <a:xfrm>
            <a:off x="8900160" y="521448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Knowledge changes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2"/>
          <p:cNvSpPr txBox="1"/>
          <p:nvPr/>
        </p:nvSpPr>
        <p:spPr>
          <a:xfrm>
            <a:off x="10134600" y="521448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Style must be fixed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7BC7FB42-95AB-597D-45FD-81D532CDCE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0">
          <a:extLst>
            <a:ext uri="{FF2B5EF4-FFF2-40B4-BE49-F238E27FC236}">
              <a16:creationId xmlns:a16="http://schemas.microsoft.com/office/drawing/2014/main" id="{2509EA65-7B1C-81E8-5681-466093FB1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>
            <a:extLst>
              <a:ext uri="{FF2B5EF4-FFF2-40B4-BE49-F238E27FC236}">
                <a16:creationId xmlns:a16="http://schemas.microsoft.com/office/drawing/2014/main" id="{456912E7-97AD-CF08-E28D-74BDA6CE86F5}"/>
              </a:ext>
            </a:extLst>
          </p:cNvPr>
          <p:cNvSpPr txBox="1"/>
          <p:nvPr/>
        </p:nvSpPr>
        <p:spPr>
          <a:xfrm>
            <a:off x="489372" y="84141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3FD0E6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WHY NOW: Chatbots and AI Agents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>
            <a:extLst>
              <a:ext uri="{FF2B5EF4-FFF2-40B4-BE49-F238E27FC236}">
                <a16:creationId xmlns:a16="http://schemas.microsoft.com/office/drawing/2014/main" id="{78C93891-1B50-BCBE-90EA-97559A05ED29}"/>
              </a:ext>
            </a:extLst>
          </p:cNvPr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>
                <a:ln>
                  <a:noFill/>
                </a:ln>
                <a:solidFill>
                  <a:srgbClr val="5A6E96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kumimoji="0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>
            <a:extLst>
              <a:ext uri="{FF2B5EF4-FFF2-40B4-BE49-F238E27FC236}">
                <a16:creationId xmlns:a16="http://schemas.microsoft.com/office/drawing/2014/main" id="{B6B9D2DF-4303-9CAE-42DA-6078D010531F}"/>
              </a:ext>
            </a:extLst>
          </p:cNvPr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>
                <a:ln>
                  <a:noFill/>
                </a:ln>
                <a:solidFill>
                  <a:srgbClr val="5A6E96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04</a:t>
            </a:r>
            <a:endParaRPr kumimoji="0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>
            <a:extLst>
              <a:ext uri="{FF2B5EF4-FFF2-40B4-BE49-F238E27FC236}">
                <a16:creationId xmlns:a16="http://schemas.microsoft.com/office/drawing/2014/main" id="{43D98723-DAFD-CCF2-AD2C-B2250058F87E}"/>
              </a:ext>
            </a:extLst>
          </p:cNvPr>
          <p:cNvSpPr txBox="1"/>
          <p:nvPr/>
        </p:nvSpPr>
        <p:spPr>
          <a:xfrm>
            <a:off x="556260" y="1042416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EAF0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Why everyone's talking about this.</a:t>
            </a:r>
            <a:endParaRPr kumimoji="0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>
            <a:extLst>
              <a:ext uri="{FF2B5EF4-FFF2-40B4-BE49-F238E27FC236}">
                <a16:creationId xmlns:a16="http://schemas.microsoft.com/office/drawing/2014/main" id="{4322A3C1-B112-99F9-AE32-0114CEA508EA}"/>
              </a:ext>
            </a:extLst>
          </p:cNvPr>
          <p:cNvSpPr/>
          <p:nvPr/>
        </p:nvSpPr>
        <p:spPr>
          <a:xfrm>
            <a:off x="548640" y="190195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>
            <a:extLst>
              <a:ext uri="{FF2B5EF4-FFF2-40B4-BE49-F238E27FC236}">
                <a16:creationId xmlns:a16="http://schemas.microsoft.com/office/drawing/2014/main" id="{929806F8-DA69-B104-7205-EE20AE489FC9}"/>
              </a:ext>
            </a:extLst>
          </p:cNvPr>
          <p:cNvSpPr txBox="1"/>
          <p:nvPr/>
        </p:nvSpPr>
        <p:spPr>
          <a:xfrm>
            <a:off x="548640" y="190195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3FD0E6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1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>
            <a:extLst>
              <a:ext uri="{FF2B5EF4-FFF2-40B4-BE49-F238E27FC236}">
                <a16:creationId xmlns:a16="http://schemas.microsoft.com/office/drawing/2014/main" id="{6E07D168-D233-81FB-926A-736EDAAA17D1}"/>
              </a:ext>
            </a:extLst>
          </p:cNvPr>
          <p:cNvSpPr txBox="1"/>
          <p:nvPr/>
        </p:nvSpPr>
        <p:spPr>
          <a:xfrm>
            <a:off x="1170432" y="1847088"/>
            <a:ext cx="541324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  <a:tabLst/>
              <a:defRPr/>
            </a:pPr>
            <a:r>
              <a:rPr kumimoji="0" lang="en-US" sz="1450" b="1" i="0" u="none" strike="noStrike" kern="0" cap="none" spc="0" normalizeH="0" baseline="0" noProof="0">
                <a:ln>
                  <a:noFill/>
                </a:ln>
                <a:solidFill>
                  <a:srgbClr val="EAF0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Chatbots have been around for years</a:t>
            </a:r>
            <a:br>
              <a:rPr kumimoji="0" lang="en-US" sz="1450" b="1" i="0" u="none" strike="noStrike" kern="0" cap="none" spc="0" normalizeH="0" baseline="0" noProof="0">
                <a:ln>
                  <a:noFill/>
                </a:ln>
                <a:solidFill>
                  <a:srgbClr val="EAF0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8492B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What changed is that models finally got good enough to be trusted with actions, not just answers.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>
            <a:extLst>
              <a:ext uri="{FF2B5EF4-FFF2-40B4-BE49-F238E27FC236}">
                <a16:creationId xmlns:a16="http://schemas.microsoft.com/office/drawing/2014/main" id="{B033280C-1DD0-87CD-96F8-0DF1251EAF14}"/>
              </a:ext>
            </a:extLst>
          </p:cNvPr>
          <p:cNvSpPr/>
          <p:nvPr/>
        </p:nvSpPr>
        <p:spPr>
          <a:xfrm>
            <a:off x="548640" y="307238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>
            <a:extLst>
              <a:ext uri="{FF2B5EF4-FFF2-40B4-BE49-F238E27FC236}">
                <a16:creationId xmlns:a16="http://schemas.microsoft.com/office/drawing/2014/main" id="{9B50BCFA-3711-BF61-6ABB-6F5E4CF0CBEE}"/>
              </a:ext>
            </a:extLst>
          </p:cNvPr>
          <p:cNvSpPr txBox="1"/>
          <p:nvPr/>
        </p:nvSpPr>
        <p:spPr>
          <a:xfrm>
            <a:off x="548640" y="307238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3FD0E6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2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>
            <a:extLst>
              <a:ext uri="{FF2B5EF4-FFF2-40B4-BE49-F238E27FC236}">
                <a16:creationId xmlns:a16="http://schemas.microsoft.com/office/drawing/2014/main" id="{965B049A-EA26-162E-1C7A-D79C52EF5763}"/>
              </a:ext>
            </a:extLst>
          </p:cNvPr>
          <p:cNvSpPr txBox="1"/>
          <p:nvPr/>
        </p:nvSpPr>
        <p:spPr>
          <a:xfrm>
            <a:off x="1170432" y="3017520"/>
            <a:ext cx="541324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  <a:tabLst/>
              <a:defRPr/>
            </a:pPr>
            <a:r>
              <a:rPr kumimoji="0" lang="en-US" sz="1450" b="1" i="0" u="none" strike="noStrike" kern="0" cap="none" spc="0" normalizeH="0" baseline="0" noProof="0">
                <a:ln>
                  <a:noFill/>
                </a:ln>
                <a:solidFill>
                  <a:srgbClr val="EAF0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Tool use + self-checking = a job finisher</a:t>
            </a:r>
            <a:br>
              <a:rPr kumimoji="0" lang="en-US" sz="1450" b="1" i="0" u="none" strike="noStrike" kern="0" cap="none" spc="0" normalizeH="0" baseline="0" noProof="0">
                <a:ln>
                  <a:noFill/>
                </a:ln>
                <a:solidFill>
                  <a:srgbClr val="EAF0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8492B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Once a model can use tools and check its own work, it stops being a search box and starts finishing jobs.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>
            <a:extLst>
              <a:ext uri="{FF2B5EF4-FFF2-40B4-BE49-F238E27FC236}">
                <a16:creationId xmlns:a16="http://schemas.microsoft.com/office/drawing/2014/main" id="{1FD88222-14F3-2DA5-F8F6-98901C43FE9B}"/>
              </a:ext>
            </a:extLst>
          </p:cNvPr>
          <p:cNvSpPr/>
          <p:nvPr/>
        </p:nvSpPr>
        <p:spPr>
          <a:xfrm>
            <a:off x="548640" y="424281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>
            <a:extLst>
              <a:ext uri="{FF2B5EF4-FFF2-40B4-BE49-F238E27FC236}">
                <a16:creationId xmlns:a16="http://schemas.microsoft.com/office/drawing/2014/main" id="{9F9B55DF-DB8E-1F44-CE68-EB25AC86FFF4}"/>
              </a:ext>
            </a:extLst>
          </p:cNvPr>
          <p:cNvSpPr txBox="1"/>
          <p:nvPr/>
        </p:nvSpPr>
        <p:spPr>
          <a:xfrm>
            <a:off x="548640" y="42428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3FD0E6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3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>
            <a:extLst>
              <a:ext uri="{FF2B5EF4-FFF2-40B4-BE49-F238E27FC236}">
                <a16:creationId xmlns:a16="http://schemas.microsoft.com/office/drawing/2014/main" id="{3EF5410E-F900-2ED1-DEE4-B962196B25D1}"/>
              </a:ext>
            </a:extLst>
          </p:cNvPr>
          <p:cNvSpPr txBox="1"/>
          <p:nvPr/>
        </p:nvSpPr>
        <p:spPr>
          <a:xfrm>
            <a:off x="1170432" y="4187952"/>
            <a:ext cx="541324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  <a:tabLst/>
              <a:defRPr/>
            </a:pPr>
            <a:r>
              <a:rPr kumimoji="0" lang="en-US" sz="1450" b="1" i="0" u="none" strike="noStrike" kern="0" cap="none" spc="0" normalizeH="0" baseline="0" noProof="0">
                <a:ln>
                  <a:noFill/>
                </a:ln>
                <a:solidFill>
                  <a:srgbClr val="EAF0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It's happening right now</a:t>
            </a:r>
            <a:br>
              <a:rPr kumimoji="0" lang="en-US" sz="1450" b="1" i="0" u="none" strike="noStrike" kern="0" cap="none" spc="0" normalizeH="0" baseline="0" noProof="0">
                <a:ln>
                  <a:noFill/>
                </a:ln>
                <a:solidFill>
                  <a:srgbClr val="EAF0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endParaRPr kumimoji="0" sz="14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8492B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That shift is why “agents” is on every product launch and job posting this year — including the one you'll apply to.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>
            <a:extLst>
              <a:ext uri="{FF2B5EF4-FFF2-40B4-BE49-F238E27FC236}">
                <a16:creationId xmlns:a16="http://schemas.microsoft.com/office/drawing/2014/main" id="{F3BAA5BB-676B-FFC1-D7FD-EC3F1F8FC507}"/>
              </a:ext>
            </a:extLst>
          </p:cNvPr>
          <p:cNvSpPr/>
          <p:nvPr/>
        </p:nvSpPr>
        <p:spPr>
          <a:xfrm>
            <a:off x="7040880" y="1901952"/>
            <a:ext cx="4617720" cy="4480560"/>
          </a:xfrm>
          <a:prstGeom prst="roundRect">
            <a:avLst>
              <a:gd name="adj" fmla="val 2041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>
            <a:extLst>
              <a:ext uri="{FF2B5EF4-FFF2-40B4-BE49-F238E27FC236}">
                <a16:creationId xmlns:a16="http://schemas.microsoft.com/office/drawing/2014/main" id="{E525E945-015F-F5F0-30BB-BAD3E280223C}"/>
              </a:ext>
            </a:extLst>
          </p:cNvPr>
          <p:cNvSpPr txBox="1"/>
          <p:nvPr/>
        </p:nvSpPr>
        <p:spPr>
          <a:xfrm>
            <a:off x="7315200" y="213055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00"/>
              <a:buFont typeface="Calibri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3FD0E6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HOW WE GOT HERE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>
            <a:extLst>
              <a:ext uri="{FF2B5EF4-FFF2-40B4-BE49-F238E27FC236}">
                <a16:creationId xmlns:a16="http://schemas.microsoft.com/office/drawing/2014/main" id="{D0D099DB-460E-6762-E5E7-616A6BC990B8}"/>
              </a:ext>
            </a:extLst>
          </p:cNvPr>
          <p:cNvSpPr/>
          <p:nvPr/>
        </p:nvSpPr>
        <p:spPr>
          <a:xfrm>
            <a:off x="7360920" y="2596896"/>
            <a:ext cx="128016" cy="128016"/>
          </a:xfrm>
          <a:prstGeom prst="ellipse">
            <a:avLst/>
          </a:prstGeom>
          <a:solidFill>
            <a:srgbClr val="5A6E9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5">
            <a:extLst>
              <a:ext uri="{FF2B5EF4-FFF2-40B4-BE49-F238E27FC236}">
                <a16:creationId xmlns:a16="http://schemas.microsoft.com/office/drawing/2014/main" id="{3D9DBC3F-F0FB-3C91-1373-D46B822C3AB7}"/>
              </a:ext>
            </a:extLst>
          </p:cNvPr>
          <p:cNvCxnSpPr/>
          <p:nvPr/>
        </p:nvCxnSpPr>
        <p:spPr>
          <a:xfrm>
            <a:off x="7420356" y="2743200"/>
            <a:ext cx="0" cy="694944"/>
          </a:xfrm>
          <a:prstGeom prst="straightConnector1">
            <a:avLst/>
          </a:prstGeom>
          <a:noFill/>
          <a:ln w="1587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" name="Google Shape;79;p5">
            <a:extLst>
              <a:ext uri="{FF2B5EF4-FFF2-40B4-BE49-F238E27FC236}">
                <a16:creationId xmlns:a16="http://schemas.microsoft.com/office/drawing/2014/main" id="{6836F86F-B7CA-2A27-042D-B3DE65530477}"/>
              </a:ext>
            </a:extLst>
          </p:cNvPr>
          <p:cNvSpPr txBox="1"/>
          <p:nvPr/>
        </p:nvSpPr>
        <p:spPr>
          <a:xfrm>
            <a:off x="7635240" y="246888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300"/>
              <a:buFont typeface="Calibri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5A6E96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2020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>
            <a:extLst>
              <a:ext uri="{FF2B5EF4-FFF2-40B4-BE49-F238E27FC236}">
                <a16:creationId xmlns:a16="http://schemas.microsoft.com/office/drawing/2014/main" id="{607DD14D-631D-29E7-8F6C-F4945AF3F903}"/>
              </a:ext>
            </a:extLst>
          </p:cNvPr>
          <p:cNvSpPr txBox="1"/>
          <p:nvPr/>
        </p:nvSpPr>
        <p:spPr>
          <a:xfrm>
            <a:off x="7635240" y="2743200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80"/>
              <a:buFont typeface="Calibri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8492B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Chatbots answer questions well, but one-shot only.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>
            <a:extLst>
              <a:ext uri="{FF2B5EF4-FFF2-40B4-BE49-F238E27FC236}">
                <a16:creationId xmlns:a16="http://schemas.microsoft.com/office/drawing/2014/main" id="{E8DC05C4-7605-0388-54BF-199B6AB7999D}"/>
              </a:ext>
            </a:extLst>
          </p:cNvPr>
          <p:cNvSpPr/>
          <p:nvPr/>
        </p:nvSpPr>
        <p:spPr>
          <a:xfrm>
            <a:off x="7360920" y="3493008"/>
            <a:ext cx="128016" cy="128016"/>
          </a:xfrm>
          <a:prstGeom prst="ellipse">
            <a:avLst/>
          </a:prstGeom>
          <a:solidFill>
            <a:srgbClr val="8B93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5">
            <a:extLst>
              <a:ext uri="{FF2B5EF4-FFF2-40B4-BE49-F238E27FC236}">
                <a16:creationId xmlns:a16="http://schemas.microsoft.com/office/drawing/2014/main" id="{0D20FA7E-B0DB-AB65-2E4C-CF5A76D646B8}"/>
              </a:ext>
            </a:extLst>
          </p:cNvPr>
          <p:cNvCxnSpPr/>
          <p:nvPr/>
        </p:nvCxnSpPr>
        <p:spPr>
          <a:xfrm>
            <a:off x="7420356" y="3639312"/>
            <a:ext cx="0" cy="694944"/>
          </a:xfrm>
          <a:prstGeom prst="straightConnector1">
            <a:avLst/>
          </a:prstGeom>
          <a:noFill/>
          <a:ln w="1587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" name="Google Shape;83;p5">
            <a:extLst>
              <a:ext uri="{FF2B5EF4-FFF2-40B4-BE49-F238E27FC236}">
                <a16:creationId xmlns:a16="http://schemas.microsoft.com/office/drawing/2014/main" id="{81BA2429-B3DE-8F9A-08B6-CFFBBDBF6D80}"/>
              </a:ext>
            </a:extLst>
          </p:cNvPr>
          <p:cNvSpPr txBox="1"/>
          <p:nvPr/>
        </p:nvSpPr>
        <p:spPr>
          <a:xfrm>
            <a:off x="7635240" y="3364992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3FF"/>
              </a:buClr>
              <a:buSzPts val="1300"/>
              <a:buFont typeface="Calibri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8B93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2023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>
            <a:extLst>
              <a:ext uri="{FF2B5EF4-FFF2-40B4-BE49-F238E27FC236}">
                <a16:creationId xmlns:a16="http://schemas.microsoft.com/office/drawing/2014/main" id="{95FD1EFA-D905-4537-696A-B99322223DBC}"/>
              </a:ext>
            </a:extLst>
          </p:cNvPr>
          <p:cNvSpPr txBox="1"/>
          <p:nvPr/>
        </p:nvSpPr>
        <p:spPr>
          <a:xfrm>
            <a:off x="7635240" y="3639312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80"/>
              <a:buFont typeface="Calibri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8492B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Models start reliably calling tools and functions.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>
            <a:extLst>
              <a:ext uri="{FF2B5EF4-FFF2-40B4-BE49-F238E27FC236}">
                <a16:creationId xmlns:a16="http://schemas.microsoft.com/office/drawing/2014/main" id="{1B1CB6B1-47C6-5C5B-1D79-9919A96ED65F}"/>
              </a:ext>
            </a:extLst>
          </p:cNvPr>
          <p:cNvSpPr/>
          <p:nvPr/>
        </p:nvSpPr>
        <p:spPr>
          <a:xfrm>
            <a:off x="7360920" y="4389120"/>
            <a:ext cx="128016" cy="128016"/>
          </a:xfrm>
          <a:prstGeom prst="ellipse">
            <a:avLst/>
          </a:prstGeom>
          <a:solidFill>
            <a:srgbClr val="3FD0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5">
            <a:extLst>
              <a:ext uri="{FF2B5EF4-FFF2-40B4-BE49-F238E27FC236}">
                <a16:creationId xmlns:a16="http://schemas.microsoft.com/office/drawing/2014/main" id="{5F0CACF7-54D5-5CBB-FEE7-58AB96267E35}"/>
              </a:ext>
            </a:extLst>
          </p:cNvPr>
          <p:cNvCxnSpPr/>
          <p:nvPr/>
        </p:nvCxnSpPr>
        <p:spPr>
          <a:xfrm>
            <a:off x="7420356" y="4535424"/>
            <a:ext cx="0" cy="694944"/>
          </a:xfrm>
          <a:prstGeom prst="straightConnector1">
            <a:avLst/>
          </a:prstGeom>
          <a:noFill/>
          <a:ln w="1587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p5">
            <a:extLst>
              <a:ext uri="{FF2B5EF4-FFF2-40B4-BE49-F238E27FC236}">
                <a16:creationId xmlns:a16="http://schemas.microsoft.com/office/drawing/2014/main" id="{9E4DCA9C-2A6A-A17B-B97A-85085920D105}"/>
              </a:ext>
            </a:extLst>
          </p:cNvPr>
          <p:cNvSpPr txBox="1"/>
          <p:nvPr/>
        </p:nvSpPr>
        <p:spPr>
          <a:xfrm>
            <a:off x="7635240" y="4261104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300"/>
              <a:buFont typeface="Calibri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3FD0E6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2025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>
            <a:extLst>
              <a:ext uri="{FF2B5EF4-FFF2-40B4-BE49-F238E27FC236}">
                <a16:creationId xmlns:a16="http://schemas.microsoft.com/office/drawing/2014/main" id="{8B907C68-49A6-DA7A-4AF4-9954992E4470}"/>
              </a:ext>
            </a:extLst>
          </p:cNvPr>
          <p:cNvSpPr txBox="1"/>
          <p:nvPr/>
        </p:nvSpPr>
        <p:spPr>
          <a:xfrm>
            <a:off x="7635240" y="4535424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80"/>
              <a:buFont typeface="Calibri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8492B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Agents ship in products — coding, support, research.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>
            <a:extLst>
              <a:ext uri="{FF2B5EF4-FFF2-40B4-BE49-F238E27FC236}">
                <a16:creationId xmlns:a16="http://schemas.microsoft.com/office/drawing/2014/main" id="{03D54B3D-5234-AE93-D629-459836CB0A69}"/>
              </a:ext>
            </a:extLst>
          </p:cNvPr>
          <p:cNvSpPr/>
          <p:nvPr/>
        </p:nvSpPr>
        <p:spPr>
          <a:xfrm>
            <a:off x="7360920" y="5285232"/>
            <a:ext cx="128016" cy="128016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>
            <a:extLst>
              <a:ext uri="{FF2B5EF4-FFF2-40B4-BE49-F238E27FC236}">
                <a16:creationId xmlns:a16="http://schemas.microsoft.com/office/drawing/2014/main" id="{4D2D629E-623E-1A0B-38BC-88A2DA7EC457}"/>
              </a:ext>
            </a:extLst>
          </p:cNvPr>
          <p:cNvSpPr txBox="1"/>
          <p:nvPr/>
        </p:nvSpPr>
        <p:spPr>
          <a:xfrm>
            <a:off x="7635240" y="515721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300"/>
              <a:buFont typeface="Calibri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FFC857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Now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9065AD7D-8E1F-99EC-6B85-B7BA60C108BD}"/>
              </a:ext>
            </a:extLst>
          </p:cNvPr>
          <p:cNvSpPr txBox="1"/>
          <p:nvPr/>
        </p:nvSpPr>
        <p:spPr>
          <a:xfrm>
            <a:off x="7635240" y="5431536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80"/>
              <a:buFont typeface="Calibri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8492B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You build the same loop, by hand, in this room.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4FCEE7A9-F603-8249-87DE-6485714BE1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12023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A522EDF0-3759-842A-A459-CDAEAF4AD8D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26353" cy="910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613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5"/>
          <p:cNvSpPr txBox="1"/>
          <p:nvPr/>
        </p:nvSpPr>
        <p:spPr>
          <a:xfrm>
            <a:off x="548640" y="685318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WARM-UP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5"/>
          <p:cNvSpPr txBox="1"/>
          <p:nvPr/>
        </p:nvSpPr>
        <p:spPr>
          <a:xfrm>
            <a:off x="548640" y="6528816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5"/>
          <p:cNvSpPr txBox="1"/>
          <p:nvPr/>
        </p:nvSpPr>
        <p:spPr>
          <a:xfrm>
            <a:off x="11247120" y="6528816"/>
            <a:ext cx="41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5"/>
          <p:cNvSpPr txBox="1"/>
          <p:nvPr/>
        </p:nvSpPr>
        <p:spPr>
          <a:xfrm>
            <a:off x="548640" y="868038"/>
            <a:ext cx="106071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You already use AI.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5"/>
          <p:cNvSpPr txBox="1"/>
          <p:nvPr/>
        </p:nvSpPr>
        <p:spPr>
          <a:xfrm>
            <a:off x="548640" y="1575976"/>
            <a:ext cx="9601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Watch what happens when you ask a chatbot something you'd want handled, not just answered.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5"/>
          <p:cNvSpPr/>
          <p:nvPr/>
        </p:nvSpPr>
        <p:spPr>
          <a:xfrm>
            <a:off x="548640" y="2216056"/>
            <a:ext cx="5120700" cy="685800"/>
          </a:xfrm>
          <a:prstGeom prst="roundRect">
            <a:avLst>
              <a:gd name="adj" fmla="val 10667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5"/>
          <p:cNvSpPr txBox="1"/>
          <p:nvPr/>
        </p:nvSpPr>
        <p:spPr>
          <a:xfrm>
            <a:off x="640080" y="2216056"/>
            <a:ext cx="4937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“How do I plan my exam week?”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5"/>
          <p:cNvSpPr/>
          <p:nvPr/>
        </p:nvSpPr>
        <p:spPr>
          <a:xfrm>
            <a:off x="1280160" y="3039016"/>
            <a:ext cx="5120700" cy="1051500"/>
          </a:xfrm>
          <a:prstGeom prst="roundRect">
            <a:avLst>
              <a:gd name="adj" fmla="val 6957"/>
            </a:avLst>
          </a:prstGeom>
          <a:solidFill>
            <a:srgbClr val="0E1730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5"/>
          <p:cNvSpPr txBox="1"/>
          <p:nvPr/>
        </p:nvSpPr>
        <p:spPr>
          <a:xfrm>
            <a:off x="1371600" y="3039016"/>
            <a:ext cx="4937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Here are a few general tips for studying — make a schedule,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take breaks, and stay hydrated.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5"/>
          <p:cNvSpPr txBox="1"/>
          <p:nvPr/>
        </p:nvSpPr>
        <p:spPr>
          <a:xfrm>
            <a:off x="548640" y="4319176"/>
            <a:ext cx="58521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Every time you ask a chatbot a question, you're already talking to a model.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It reads your words, predicts a helpful reply, and stops — it never checks if the plan actually worked.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5"/>
          <p:cNvSpPr/>
          <p:nvPr/>
        </p:nvSpPr>
        <p:spPr>
          <a:xfrm>
            <a:off x="548640" y="5416456"/>
            <a:ext cx="3383400" cy="457200"/>
          </a:xfrm>
          <a:prstGeom prst="roundRect">
            <a:avLst>
              <a:gd name="adj" fmla="val 16000"/>
            </a:avLst>
          </a:prstGeom>
          <a:solidFill>
            <a:srgbClr val="1A2A1A"/>
          </a:solidFill>
          <a:ln w="12700" cap="flat" cmpd="sng">
            <a:solidFill>
              <a:srgbClr val="FF8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5"/>
          <p:cNvSpPr txBox="1"/>
          <p:nvPr/>
        </p:nvSpPr>
        <p:spPr>
          <a:xfrm>
            <a:off x="640080" y="5416456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8A80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FF8A80"/>
                </a:solidFill>
                <a:latin typeface="Calibri"/>
                <a:ea typeface="Calibri"/>
                <a:cs typeface="Calibri"/>
                <a:sym typeface="Calibri"/>
              </a:rPr>
              <a:t>ONE ANSWER. NO ACTION.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5"/>
          <p:cNvSpPr/>
          <p:nvPr/>
        </p:nvSpPr>
        <p:spPr>
          <a:xfrm>
            <a:off x="6858000" y="2216056"/>
            <a:ext cx="4800600" cy="3657600"/>
          </a:xfrm>
          <a:prstGeom prst="roundRect">
            <a:avLst>
              <a:gd name="adj" fmla="val 2500"/>
            </a:avLst>
          </a:prstGeom>
          <a:solidFill>
            <a:srgbClr val="121A33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5"/>
          <p:cNvSpPr txBox="1"/>
          <p:nvPr/>
        </p:nvSpPr>
        <p:spPr>
          <a:xfrm>
            <a:off x="7132320" y="2426368"/>
            <a:ext cx="4297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WHAT AN AGENT DOES INSTEAD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5"/>
          <p:cNvSpPr txBox="1"/>
          <p:nvPr/>
        </p:nvSpPr>
        <p:spPr>
          <a:xfrm>
            <a:off x="7132320" y="2856136"/>
            <a:ext cx="329100" cy="329100"/>
          </a:xfrm>
          <a:prstGeom prst="rect">
            <a:avLst/>
          </a:prstGeom>
          <a:solidFill>
            <a:srgbClr val="3FD0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0F1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A0F1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5"/>
          <p:cNvSpPr txBox="1"/>
          <p:nvPr/>
        </p:nvSpPr>
        <p:spPr>
          <a:xfrm>
            <a:off x="7589520" y="2828704"/>
            <a:ext cx="3931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Reads your syllabus and exam dates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5"/>
          <p:cNvSpPr txBox="1"/>
          <p:nvPr/>
        </p:nvSpPr>
        <p:spPr>
          <a:xfrm>
            <a:off x="7132320" y="3569368"/>
            <a:ext cx="329100" cy="329100"/>
          </a:xfrm>
          <a:prstGeom prst="rect">
            <a:avLst/>
          </a:prstGeom>
          <a:solidFill>
            <a:srgbClr val="3FD0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0F1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A0F1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5"/>
          <p:cNvSpPr txBox="1"/>
          <p:nvPr/>
        </p:nvSpPr>
        <p:spPr>
          <a:xfrm>
            <a:off x="7589520" y="3541936"/>
            <a:ext cx="3931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Checks your calendar for free slots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5"/>
          <p:cNvSpPr txBox="1"/>
          <p:nvPr/>
        </p:nvSpPr>
        <p:spPr>
          <a:xfrm>
            <a:off x="7132320" y="4282600"/>
            <a:ext cx="329100" cy="329100"/>
          </a:xfrm>
          <a:prstGeom prst="rect">
            <a:avLst/>
          </a:prstGeom>
          <a:solidFill>
            <a:srgbClr val="3FD0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0F1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A0F1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5"/>
          <p:cNvSpPr txBox="1"/>
          <p:nvPr/>
        </p:nvSpPr>
        <p:spPr>
          <a:xfrm>
            <a:off x="7589520" y="4255168"/>
            <a:ext cx="3931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Builds a real day-by-day schedule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5"/>
          <p:cNvSpPr txBox="1"/>
          <p:nvPr/>
        </p:nvSpPr>
        <p:spPr>
          <a:xfrm>
            <a:off x="7132320" y="4995832"/>
            <a:ext cx="329100" cy="329100"/>
          </a:xfrm>
          <a:prstGeom prst="rect">
            <a:avLst/>
          </a:prstGeom>
          <a:solidFill>
            <a:srgbClr val="3FD0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0F1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A0F1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5"/>
          <p:cNvSpPr txBox="1"/>
          <p:nvPr/>
        </p:nvSpPr>
        <p:spPr>
          <a:xfrm>
            <a:off x="7589520" y="4968400"/>
            <a:ext cx="3931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Sets reminders — and adjusts if you fall behind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5"/>
          <p:cNvSpPr txBox="1"/>
          <p:nvPr/>
        </p:nvSpPr>
        <p:spPr>
          <a:xfrm>
            <a:off x="7132320" y="5507896"/>
            <a:ext cx="4297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50"/>
              <a:buFont typeface="Calibri"/>
              <a:buNone/>
            </a:pPr>
            <a:r>
              <a:rPr lang="en-US" sz="1050" i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That's the whole shift, in one example — coming up next.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EDD934A1-3FFA-5BEE-F855-483FB8C255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E162CE70-D0F4-1B9A-4FD4-69E905516B0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27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7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7"/>
          <p:cNvSpPr txBox="1"/>
          <p:nvPr/>
        </p:nvSpPr>
        <p:spPr>
          <a:xfrm>
            <a:off x="548640" y="995573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What's actually answering you?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7"/>
          <p:cNvSpPr txBox="1"/>
          <p:nvPr/>
        </p:nvSpPr>
        <p:spPr>
          <a:xfrm>
            <a:off x="548640" y="1737360"/>
            <a:ext cx="594360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Char char="▪"/>
            </a:pPr>
            <a:r>
              <a:rPr lang="en-US" sz="14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A Large Language Model (LLM) is a program trained on huge amounts of text — books, articles, code, conversations.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Char char="▪"/>
            </a:pPr>
            <a:r>
              <a:rPr lang="en-US" sz="14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It doesn't “know” facts the way you do — it predicts the most statistically likely next word, over and over.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Char char="▪"/>
            </a:pPr>
            <a:r>
              <a:rPr lang="en-US" sz="14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Every reply is a one-shot prediction: no memory of intent, no plan, and no ability to act on the world.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7"/>
          <p:cNvSpPr/>
          <p:nvPr/>
        </p:nvSpPr>
        <p:spPr>
          <a:xfrm>
            <a:off x="548640" y="4251960"/>
            <a:ext cx="5943600" cy="1417320"/>
          </a:xfrm>
          <a:prstGeom prst="roundRect">
            <a:avLst>
              <a:gd name="adj" fmla="val 6452"/>
            </a:avLst>
          </a:prstGeom>
          <a:solidFill>
            <a:srgbClr val="0E1730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7"/>
          <p:cNvSpPr txBox="1"/>
          <p:nvPr/>
        </p:nvSpPr>
        <p:spPr>
          <a:xfrm>
            <a:off x="822960" y="4434840"/>
            <a:ext cx="539496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So a hallucination isn't a lie — it's a confident guess with nothing underneath it.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7"/>
          <p:cNvSpPr/>
          <p:nvPr/>
        </p:nvSpPr>
        <p:spPr>
          <a:xfrm>
            <a:off x="7040880" y="1737360"/>
            <a:ext cx="4617720" cy="4663440"/>
          </a:xfrm>
          <a:prstGeom prst="roundRect">
            <a:avLst>
              <a:gd name="adj" fmla="val 1980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7"/>
          <p:cNvSpPr txBox="1"/>
          <p:nvPr/>
        </p:nvSpPr>
        <p:spPr>
          <a:xfrm>
            <a:off x="7315200" y="196596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PREDICTION, ONE TOKEN AT A TIME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7"/>
          <p:cNvSpPr txBox="1"/>
          <p:nvPr/>
        </p:nvSpPr>
        <p:spPr>
          <a:xfrm>
            <a:off x="7315200" y="22860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i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Prompt: “Plan your exam ___”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7"/>
          <p:cNvSpPr txBox="1"/>
          <p:nvPr/>
        </p:nvSpPr>
        <p:spPr>
          <a:xfrm>
            <a:off x="7315200" y="27432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week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7"/>
          <p:cNvSpPr/>
          <p:nvPr/>
        </p:nvSpPr>
        <p:spPr>
          <a:xfrm>
            <a:off x="8595360" y="2770632"/>
            <a:ext cx="2377440" cy="201168"/>
          </a:xfrm>
          <a:prstGeom prst="roundRect">
            <a:avLst>
              <a:gd name="adj" fmla="val 18182"/>
            </a:avLst>
          </a:prstGeom>
          <a:solidFill>
            <a:srgbClr val="0E17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7"/>
          <p:cNvSpPr/>
          <p:nvPr/>
        </p:nvSpPr>
        <p:spPr>
          <a:xfrm>
            <a:off x="8595360" y="2770632"/>
            <a:ext cx="2377440" cy="201168"/>
          </a:xfrm>
          <a:prstGeom prst="roundRect">
            <a:avLst>
              <a:gd name="adj" fmla="val 18182"/>
            </a:avLst>
          </a:prstGeom>
          <a:solidFill>
            <a:srgbClr val="3FD0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7"/>
          <p:cNvSpPr txBox="1"/>
          <p:nvPr/>
        </p:nvSpPr>
        <p:spPr>
          <a:xfrm>
            <a:off x="11018520" y="27432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61%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7"/>
          <p:cNvSpPr txBox="1"/>
          <p:nvPr/>
        </p:nvSpPr>
        <p:spPr>
          <a:xfrm>
            <a:off x="7315200" y="33375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7"/>
          <p:cNvSpPr/>
          <p:nvPr/>
        </p:nvSpPr>
        <p:spPr>
          <a:xfrm>
            <a:off x="8595360" y="3364992"/>
            <a:ext cx="2377440" cy="201168"/>
          </a:xfrm>
          <a:prstGeom prst="roundRect">
            <a:avLst>
              <a:gd name="adj" fmla="val 18182"/>
            </a:avLst>
          </a:prstGeom>
          <a:solidFill>
            <a:srgbClr val="0E17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7"/>
          <p:cNvSpPr/>
          <p:nvPr/>
        </p:nvSpPr>
        <p:spPr>
          <a:xfrm>
            <a:off x="8595360" y="3364992"/>
            <a:ext cx="935386" cy="201168"/>
          </a:xfrm>
          <a:prstGeom prst="roundRect">
            <a:avLst>
              <a:gd name="adj" fmla="val 18182"/>
            </a:avLst>
          </a:prstGeom>
          <a:solidFill>
            <a:srgbClr val="5A6E9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7"/>
          <p:cNvSpPr txBox="1"/>
          <p:nvPr/>
        </p:nvSpPr>
        <p:spPr>
          <a:xfrm>
            <a:off x="11018520" y="333756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24%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7"/>
          <p:cNvSpPr txBox="1"/>
          <p:nvPr/>
        </p:nvSpPr>
        <p:spPr>
          <a:xfrm>
            <a:off x="7315200" y="39319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today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7"/>
          <p:cNvSpPr/>
          <p:nvPr/>
        </p:nvSpPr>
        <p:spPr>
          <a:xfrm>
            <a:off x="8595360" y="3959352"/>
            <a:ext cx="2377440" cy="201168"/>
          </a:xfrm>
          <a:prstGeom prst="roundRect">
            <a:avLst>
              <a:gd name="adj" fmla="val 18182"/>
            </a:avLst>
          </a:prstGeom>
          <a:solidFill>
            <a:srgbClr val="0E17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7"/>
          <p:cNvSpPr/>
          <p:nvPr/>
        </p:nvSpPr>
        <p:spPr>
          <a:xfrm>
            <a:off x="8595360" y="3959352"/>
            <a:ext cx="350770" cy="201168"/>
          </a:xfrm>
          <a:prstGeom prst="roundRect">
            <a:avLst>
              <a:gd name="adj" fmla="val 18182"/>
            </a:avLst>
          </a:prstGeom>
          <a:solidFill>
            <a:srgbClr val="5A6E9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7"/>
          <p:cNvSpPr txBox="1"/>
          <p:nvPr/>
        </p:nvSpPr>
        <p:spPr>
          <a:xfrm>
            <a:off x="11018520" y="393192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9%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7"/>
          <p:cNvSpPr txBox="1"/>
          <p:nvPr/>
        </p:nvSpPr>
        <p:spPr>
          <a:xfrm>
            <a:off x="7315200" y="45262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prep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7"/>
          <p:cNvSpPr/>
          <p:nvPr/>
        </p:nvSpPr>
        <p:spPr>
          <a:xfrm>
            <a:off x="8595360" y="4553712"/>
            <a:ext cx="2377440" cy="201168"/>
          </a:xfrm>
          <a:prstGeom prst="roundRect">
            <a:avLst>
              <a:gd name="adj" fmla="val 18182"/>
            </a:avLst>
          </a:prstGeom>
          <a:solidFill>
            <a:srgbClr val="0E17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7"/>
          <p:cNvSpPr/>
          <p:nvPr/>
        </p:nvSpPr>
        <p:spPr>
          <a:xfrm>
            <a:off x="8595360" y="4553712"/>
            <a:ext cx="233847" cy="201168"/>
          </a:xfrm>
          <a:prstGeom prst="roundRect">
            <a:avLst>
              <a:gd name="adj" fmla="val 18182"/>
            </a:avLst>
          </a:prstGeom>
          <a:solidFill>
            <a:srgbClr val="5A6E9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7"/>
          <p:cNvSpPr txBox="1"/>
          <p:nvPr/>
        </p:nvSpPr>
        <p:spPr>
          <a:xfrm>
            <a:off x="11018520" y="452628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6%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7"/>
          <p:cNvSpPr txBox="1"/>
          <p:nvPr/>
        </p:nvSpPr>
        <p:spPr>
          <a:xfrm>
            <a:off x="7315200" y="534924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50"/>
              <a:buFont typeface="Calibri"/>
              <a:buNone/>
            </a:pPr>
            <a:r>
              <a:rPr lang="en-US" sz="1050" i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Highest odds wins — but odds aren't facts.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D46E5AFB-FBC5-56D2-7543-65BA4FEEFC5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263A451A-D6C2-B99A-7137-EBBB44ED3A5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28"/>
          <p:cNvSpPr txBox="1"/>
          <p:nvPr/>
        </p:nvSpPr>
        <p:spPr>
          <a:xfrm>
            <a:off x="548640" y="78638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YOUR TURN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8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8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8"/>
          <p:cNvSpPr txBox="1"/>
          <p:nvPr/>
        </p:nvSpPr>
        <p:spPr>
          <a:xfrm>
            <a:off x="548640" y="859536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Guess the next word.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8"/>
          <p:cNvSpPr txBox="1"/>
          <p:nvPr/>
        </p:nvSpPr>
        <p:spPr>
          <a:xfrm>
            <a:off x="548640" y="1508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Three prompts. Shout your answer before you read the next line.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8"/>
          <p:cNvSpPr/>
          <p:nvPr/>
        </p:nvSpPr>
        <p:spPr>
          <a:xfrm>
            <a:off x="548640" y="2075688"/>
            <a:ext cx="7863840" cy="1051560"/>
          </a:xfrm>
          <a:prstGeom prst="roundRect">
            <a:avLst>
              <a:gd name="adj" fmla="val 8696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8"/>
          <p:cNvSpPr txBox="1"/>
          <p:nvPr/>
        </p:nvSpPr>
        <p:spPr>
          <a:xfrm>
            <a:off x="822960" y="2185416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“The capital of France is ___”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8"/>
          <p:cNvSpPr txBox="1"/>
          <p:nvPr/>
        </p:nvSpPr>
        <p:spPr>
          <a:xfrm>
            <a:off x="822960" y="2578608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One dominant answer — nearly everyone shouts the same word.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8"/>
          <p:cNvSpPr/>
          <p:nvPr/>
        </p:nvSpPr>
        <p:spPr>
          <a:xfrm>
            <a:off x="6995160" y="2642616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0E1730"/>
          </a:solidFill>
          <a:ln w="1270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8"/>
          <p:cNvSpPr txBox="1"/>
          <p:nvPr/>
        </p:nvSpPr>
        <p:spPr>
          <a:xfrm>
            <a:off x="7086600" y="2642616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Low ambiguity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8"/>
          <p:cNvSpPr/>
          <p:nvPr/>
        </p:nvSpPr>
        <p:spPr>
          <a:xfrm>
            <a:off x="548640" y="3310128"/>
            <a:ext cx="7863840" cy="1051560"/>
          </a:xfrm>
          <a:prstGeom prst="roundRect">
            <a:avLst>
              <a:gd name="adj" fmla="val 8696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8"/>
          <p:cNvSpPr txBox="1"/>
          <p:nvPr/>
        </p:nvSpPr>
        <p:spPr>
          <a:xfrm>
            <a:off x="822960" y="3419856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“I left my keys on the ___”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8"/>
          <p:cNvSpPr txBox="1"/>
          <p:nvPr/>
        </p:nvSpPr>
        <p:spPr>
          <a:xfrm>
            <a:off x="822960" y="3813048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Suddenly ten reasonable answers instead of one — table, counter, bus...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8"/>
          <p:cNvSpPr/>
          <p:nvPr/>
        </p:nvSpPr>
        <p:spPr>
          <a:xfrm>
            <a:off x="6995160" y="3877056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0E1730"/>
          </a:solidFill>
          <a:ln w="1270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8"/>
          <p:cNvSpPr txBox="1"/>
          <p:nvPr/>
        </p:nvSpPr>
        <p:spPr>
          <a:xfrm>
            <a:off x="7086600" y="3877056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High ambiguity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8"/>
          <p:cNvSpPr/>
          <p:nvPr/>
        </p:nvSpPr>
        <p:spPr>
          <a:xfrm>
            <a:off x="548640" y="4544568"/>
            <a:ext cx="7863840" cy="1051560"/>
          </a:xfrm>
          <a:prstGeom prst="roundRect">
            <a:avLst>
              <a:gd name="adj" fmla="val 8696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8"/>
          <p:cNvSpPr txBox="1"/>
          <p:nvPr/>
        </p:nvSpPr>
        <p:spPr>
          <a:xfrm>
            <a:off x="822960" y="4654296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“My favorite way to unwind is ___”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8"/>
          <p:cNvSpPr txBox="1"/>
          <p:nvPr/>
        </p:nvSpPr>
        <p:spPr>
          <a:xfrm>
            <a:off x="822960" y="5047488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No wrong answers at all — the model just picks something plausible.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8"/>
          <p:cNvSpPr/>
          <p:nvPr/>
        </p:nvSpPr>
        <p:spPr>
          <a:xfrm>
            <a:off x="6995160" y="5111496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0E1730"/>
          </a:solidFill>
          <a:ln w="1270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8"/>
          <p:cNvSpPr txBox="1"/>
          <p:nvPr/>
        </p:nvSpPr>
        <p:spPr>
          <a:xfrm>
            <a:off x="7086600" y="5111496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Wide open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8"/>
          <p:cNvSpPr/>
          <p:nvPr/>
        </p:nvSpPr>
        <p:spPr>
          <a:xfrm>
            <a:off x="8686800" y="2075688"/>
            <a:ext cx="2971800" cy="4160520"/>
          </a:xfrm>
          <a:prstGeom prst="roundRect">
            <a:avLst>
              <a:gd name="adj" fmla="val 3077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8"/>
          <p:cNvSpPr txBox="1"/>
          <p:nvPr/>
        </p:nvSpPr>
        <p:spPr>
          <a:xfrm>
            <a:off x="8915400" y="230428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THE WHOLE TRICK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8"/>
          <p:cNvSpPr txBox="1"/>
          <p:nvPr/>
        </p:nvSpPr>
        <p:spPr>
          <a:xfrm>
            <a:off x="8915400" y="2670048"/>
            <a:ext cx="25603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The model is picking from those same odds for every single word it writes — one token, then the next, then the next.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8"/>
          <p:cNvSpPr txBox="1"/>
          <p:nvPr/>
        </p:nvSpPr>
        <p:spPr>
          <a:xfrm>
            <a:off x="8915400" y="4453128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i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That's the loop you'll build later today — just at the level of a whole task, not a single word.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93D35972-943D-B46C-FA0A-D916023481B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EA234C32-0E7D-308B-A30E-8247402889D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9"/>
          <p:cNvSpPr txBox="1"/>
          <p:nvPr/>
        </p:nvSpPr>
        <p:spPr>
          <a:xfrm>
            <a:off x="574949" y="961805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FOUNDATION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9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9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9"/>
          <p:cNvSpPr txBox="1"/>
          <p:nvPr/>
        </p:nvSpPr>
        <p:spPr>
          <a:xfrm>
            <a:off x="574949" y="1146369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Talking to a model.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9"/>
          <p:cNvSpPr/>
          <p:nvPr/>
        </p:nvSpPr>
        <p:spPr>
          <a:xfrm>
            <a:off x="574949" y="2033337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9"/>
          <p:cNvSpPr/>
          <p:nvPr/>
        </p:nvSpPr>
        <p:spPr>
          <a:xfrm>
            <a:off x="830981" y="2261937"/>
            <a:ext cx="457200" cy="457200"/>
          </a:xfrm>
          <a:prstGeom prst="ellipse">
            <a:avLst/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9"/>
          <p:cNvSpPr txBox="1"/>
          <p:nvPr/>
        </p:nvSpPr>
        <p:spPr>
          <a:xfrm>
            <a:off x="830981" y="2261937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9"/>
          <p:cNvSpPr txBox="1"/>
          <p:nvPr/>
        </p:nvSpPr>
        <p:spPr>
          <a:xfrm>
            <a:off x="830981" y="2828865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550"/>
              <a:buFont typeface="Calibri"/>
              <a:buNone/>
            </a:pPr>
            <a:r>
              <a:rPr lang="en-US" sz="15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9"/>
          <p:cNvSpPr txBox="1"/>
          <p:nvPr/>
        </p:nvSpPr>
        <p:spPr>
          <a:xfrm>
            <a:off x="830981" y="3158049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The text you send in — a question, an instruction, a bit of context.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9"/>
          <p:cNvSpPr/>
          <p:nvPr/>
        </p:nvSpPr>
        <p:spPr>
          <a:xfrm>
            <a:off x="830981" y="4136457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0E17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9"/>
          <p:cNvSpPr txBox="1"/>
          <p:nvPr/>
        </p:nvSpPr>
        <p:spPr>
          <a:xfrm>
            <a:off x="958997" y="4136457"/>
            <a:ext cx="27614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“Plan my exam week in 5 days.”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9"/>
          <p:cNvSpPr/>
          <p:nvPr/>
        </p:nvSpPr>
        <p:spPr>
          <a:xfrm>
            <a:off x="4296557" y="2033337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9"/>
          <p:cNvSpPr/>
          <p:nvPr/>
        </p:nvSpPr>
        <p:spPr>
          <a:xfrm>
            <a:off x="4552589" y="2261937"/>
            <a:ext cx="457200" cy="457200"/>
          </a:xfrm>
          <a:prstGeom prst="ellipse">
            <a:avLst/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9"/>
          <p:cNvSpPr txBox="1"/>
          <p:nvPr/>
        </p:nvSpPr>
        <p:spPr>
          <a:xfrm>
            <a:off x="4552589" y="2261937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9"/>
          <p:cNvSpPr txBox="1"/>
          <p:nvPr/>
        </p:nvSpPr>
        <p:spPr>
          <a:xfrm>
            <a:off x="4552589" y="2828865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550"/>
              <a:buFont typeface="Calibri"/>
              <a:buNone/>
            </a:pPr>
            <a:r>
              <a:rPr lang="en-US" sz="15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Tokens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9"/>
          <p:cNvSpPr txBox="1"/>
          <p:nvPr/>
        </p:nvSpPr>
        <p:spPr>
          <a:xfrm>
            <a:off x="4552589" y="3158049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Your words get split into small chunks called tokens before the model reads them.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9"/>
          <p:cNvSpPr/>
          <p:nvPr/>
        </p:nvSpPr>
        <p:spPr>
          <a:xfrm>
            <a:off x="4552589" y="4136457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0E17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9"/>
          <p:cNvSpPr txBox="1"/>
          <p:nvPr/>
        </p:nvSpPr>
        <p:spPr>
          <a:xfrm>
            <a:off x="4680605" y="4136457"/>
            <a:ext cx="27614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Plan | my | exam | week | in | 5 | days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9"/>
          <p:cNvSpPr/>
          <p:nvPr/>
        </p:nvSpPr>
        <p:spPr>
          <a:xfrm>
            <a:off x="8018165" y="2033337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9"/>
          <p:cNvSpPr/>
          <p:nvPr/>
        </p:nvSpPr>
        <p:spPr>
          <a:xfrm>
            <a:off x="8274197" y="2261937"/>
            <a:ext cx="457200" cy="457200"/>
          </a:xfrm>
          <a:prstGeom prst="ellipse">
            <a:avLst/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9"/>
          <p:cNvSpPr txBox="1"/>
          <p:nvPr/>
        </p:nvSpPr>
        <p:spPr>
          <a:xfrm>
            <a:off x="8274197" y="2261937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9"/>
          <p:cNvSpPr txBox="1"/>
          <p:nvPr/>
        </p:nvSpPr>
        <p:spPr>
          <a:xfrm>
            <a:off x="8274197" y="2828865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550"/>
              <a:buFont typeface="Calibri"/>
              <a:buNone/>
            </a:pPr>
            <a:r>
              <a:rPr lang="en-US" sz="15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9"/>
          <p:cNvSpPr txBox="1"/>
          <p:nvPr/>
        </p:nvSpPr>
        <p:spPr>
          <a:xfrm>
            <a:off x="8274197" y="3158049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The text you get back — itself built one token at a time, predicted in sequence.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9"/>
          <p:cNvSpPr/>
          <p:nvPr/>
        </p:nvSpPr>
        <p:spPr>
          <a:xfrm>
            <a:off x="8274197" y="4136457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0E17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9"/>
          <p:cNvSpPr txBox="1"/>
          <p:nvPr/>
        </p:nvSpPr>
        <p:spPr>
          <a:xfrm>
            <a:off x="8402213" y="4136457"/>
            <a:ext cx="27614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“Day 1: review notes...”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9"/>
          <p:cNvSpPr txBox="1"/>
          <p:nvPr/>
        </p:nvSpPr>
        <p:spPr>
          <a:xfrm>
            <a:off x="574949" y="5233737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More context in the prompt = a more relevant answer — not a more “correct” one.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9"/>
          <p:cNvSpPr txBox="1"/>
          <p:nvPr/>
        </p:nvSpPr>
        <p:spPr>
          <a:xfrm>
            <a:off x="574949" y="5690937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Rule of thumb: roughly 4 characters of English ≈ 1 token — so that 6-word prompt above is about 8 tokens.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3F2755CE-F58A-1B46-F542-A4A1D11A1AB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35603FFB-264F-FF1A-50BB-9CD2482357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30"/>
          <p:cNvSpPr txBox="1"/>
          <p:nvPr/>
        </p:nvSpPr>
        <p:spPr>
          <a:xfrm>
            <a:off x="548640" y="66294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FOUNDATION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0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0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0"/>
          <p:cNvSpPr txBox="1"/>
          <p:nvPr/>
        </p:nvSpPr>
        <p:spPr>
          <a:xfrm>
            <a:off x="548640" y="832104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Why it sometimes makes things up.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0"/>
          <p:cNvSpPr/>
          <p:nvPr/>
        </p:nvSpPr>
        <p:spPr>
          <a:xfrm>
            <a:off x="548640" y="1719072"/>
            <a:ext cx="3291840" cy="4434840"/>
          </a:xfrm>
          <a:prstGeom prst="roundRect">
            <a:avLst>
              <a:gd name="adj" fmla="val 2778"/>
            </a:avLst>
          </a:prstGeom>
          <a:solidFill>
            <a:srgbClr val="121A33"/>
          </a:solidFill>
          <a:ln w="15875" cap="flat" cmpd="sng">
            <a:solidFill>
              <a:srgbClr val="FF8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0"/>
          <p:cNvSpPr txBox="1"/>
          <p:nvPr/>
        </p:nvSpPr>
        <p:spPr>
          <a:xfrm>
            <a:off x="548640" y="2084832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8A80"/>
              </a:buClr>
              <a:buSzPts val="6600"/>
              <a:buFont typeface="Calibri"/>
              <a:buNone/>
            </a:pPr>
            <a:r>
              <a:rPr lang="en-US" sz="6600" b="1">
                <a:solidFill>
                  <a:srgbClr val="FF8A8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6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0"/>
          <p:cNvSpPr txBox="1"/>
          <p:nvPr/>
        </p:nvSpPr>
        <p:spPr>
          <a:xfrm>
            <a:off x="548640" y="2999232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built-in fact-checkers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0"/>
          <p:cNvSpPr txBox="1"/>
          <p:nvPr/>
        </p:nvSpPr>
        <p:spPr>
          <a:xfrm>
            <a:off x="822960" y="3502152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A model has no internal “is this true?” switch — it only ever asks “what's the likely next word.”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0"/>
          <p:cNvSpPr/>
          <p:nvPr/>
        </p:nvSpPr>
        <p:spPr>
          <a:xfrm>
            <a:off x="822960" y="4782312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0E17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0"/>
          <p:cNvSpPr txBox="1"/>
          <p:nvPr/>
        </p:nvSpPr>
        <p:spPr>
          <a:xfrm>
            <a:off x="1005840" y="4873752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“According to a 2023 study by Dr. Rivera at MIT...” — sounds real. Never happened.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0"/>
          <p:cNvSpPr/>
          <p:nvPr/>
        </p:nvSpPr>
        <p:spPr>
          <a:xfrm>
            <a:off x="4160520" y="181051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0"/>
          <p:cNvSpPr txBox="1"/>
          <p:nvPr/>
        </p:nvSpPr>
        <p:spPr>
          <a:xfrm>
            <a:off x="4160520" y="181051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0"/>
          <p:cNvSpPr txBox="1"/>
          <p:nvPr/>
        </p:nvSpPr>
        <p:spPr>
          <a:xfrm>
            <a:off x="4782312" y="1778909"/>
            <a:ext cx="67848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Prediction ≠ truth</a:t>
            </a:r>
            <a:br>
              <a:rPr lang="en-US" sz="16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Predicting the next likely word is not the same as knowing whether something is true.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0"/>
          <p:cNvSpPr/>
          <p:nvPr/>
        </p:nvSpPr>
        <p:spPr>
          <a:xfrm>
            <a:off x="4160520" y="290779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0"/>
          <p:cNvSpPr txBox="1"/>
          <p:nvPr/>
        </p:nvSpPr>
        <p:spPr>
          <a:xfrm>
            <a:off x="4160520" y="290779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0"/>
          <p:cNvSpPr txBox="1"/>
          <p:nvPr/>
        </p:nvSpPr>
        <p:spPr>
          <a:xfrm>
            <a:off x="4782312" y="2884932"/>
            <a:ext cx="67848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This is a hallucination</a:t>
            </a:r>
            <a:br>
              <a:rPr lang="en-US" sz="16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 confident, wrong, well-written answer — it's pattern-completing, not lying.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0"/>
          <p:cNvSpPr/>
          <p:nvPr/>
        </p:nvSpPr>
        <p:spPr>
          <a:xfrm>
            <a:off x="4160520" y="400507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0"/>
          <p:cNvSpPr txBox="1"/>
          <p:nvPr/>
        </p:nvSpPr>
        <p:spPr>
          <a:xfrm>
            <a:off x="4160520" y="400507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0"/>
          <p:cNvSpPr txBox="1"/>
          <p:nvPr/>
        </p:nvSpPr>
        <p:spPr>
          <a:xfrm>
            <a:off x="4782312" y="4014858"/>
            <a:ext cx="67848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This is exactly why agents need tools</a:t>
            </a:r>
            <a:br>
              <a:rPr lang="en-US" sz="16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So they can go and check a source instead of guessing from memory.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30"/>
          <p:cNvSpPr/>
          <p:nvPr/>
        </p:nvSpPr>
        <p:spPr>
          <a:xfrm>
            <a:off x="4160520" y="510235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0"/>
          <p:cNvSpPr txBox="1"/>
          <p:nvPr/>
        </p:nvSpPr>
        <p:spPr>
          <a:xfrm>
            <a:off x="4160520" y="510235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0"/>
          <p:cNvSpPr txBox="1"/>
          <p:nvPr/>
        </p:nvSpPr>
        <p:spPr>
          <a:xfrm>
            <a:off x="4782312" y="5106924"/>
            <a:ext cx="67848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It gets worse with obscure topics</a:t>
            </a:r>
            <a:br>
              <a:rPr lang="en-US" sz="16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The rarer the fact, the thinner the training signal, the more likely the model fills the gap.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C3406E14-B089-7785-D6DE-8D5E7C3646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930FD5ED-E05D-8872-244B-9997B73DF05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31"/>
          <p:cNvSpPr txBox="1"/>
          <p:nvPr/>
        </p:nvSpPr>
        <p:spPr>
          <a:xfrm>
            <a:off x="548640" y="739985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FOUNDATION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1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1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1"/>
          <p:cNvSpPr txBox="1"/>
          <p:nvPr/>
        </p:nvSpPr>
        <p:spPr>
          <a:xfrm>
            <a:off x="539496" y="953384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What is an AI agent?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1"/>
          <p:cNvSpPr txBox="1"/>
          <p:nvPr/>
        </p:nvSpPr>
        <p:spPr>
          <a:xfrm>
            <a:off x="533400" y="1648327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Think “a chatbot with a job to finish.”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1"/>
          <p:cNvSpPr/>
          <p:nvPr/>
        </p:nvSpPr>
        <p:spPr>
          <a:xfrm>
            <a:off x="533400" y="2196967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1"/>
          <p:cNvSpPr txBox="1"/>
          <p:nvPr/>
        </p:nvSpPr>
        <p:spPr>
          <a:xfrm>
            <a:off x="533400" y="2196967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1"/>
          <p:cNvSpPr txBox="1"/>
          <p:nvPr/>
        </p:nvSpPr>
        <p:spPr>
          <a:xfrm>
            <a:off x="1155192" y="2142103"/>
            <a:ext cx="577900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Pursues a goal, not just one answer</a:t>
            </a:r>
            <a:br>
              <a:rPr lang="en-US" sz="14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 program that uses an LLM to keep working until the goal is actually done.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1"/>
          <p:cNvSpPr/>
          <p:nvPr/>
        </p:nvSpPr>
        <p:spPr>
          <a:xfrm>
            <a:off x="533400" y="3431407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1"/>
          <p:cNvSpPr txBox="1"/>
          <p:nvPr/>
        </p:nvSpPr>
        <p:spPr>
          <a:xfrm>
            <a:off x="533400" y="3431407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1"/>
          <p:cNvSpPr txBox="1"/>
          <p:nvPr/>
        </p:nvSpPr>
        <p:spPr>
          <a:xfrm>
            <a:off x="1155192" y="3376543"/>
            <a:ext cx="577900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Plans, uses tools, checks progress</a:t>
            </a:r>
            <a:br>
              <a:rPr lang="en-US" sz="14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It pairs the model with the ability to act on the world and evaluate its own output.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1"/>
          <p:cNvSpPr/>
          <p:nvPr/>
        </p:nvSpPr>
        <p:spPr>
          <a:xfrm>
            <a:off x="533400" y="4665847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1"/>
          <p:cNvSpPr txBox="1"/>
          <p:nvPr/>
        </p:nvSpPr>
        <p:spPr>
          <a:xfrm>
            <a:off x="533400" y="4665847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1"/>
          <p:cNvSpPr txBox="1"/>
          <p:nvPr/>
        </p:nvSpPr>
        <p:spPr>
          <a:xfrm>
            <a:off x="1155192" y="4610983"/>
            <a:ext cx="577900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Built from four blocks</a:t>
            </a:r>
            <a:br>
              <a:rPr lang="en-US" sz="14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Model, Goal, Tools, and Memory — each one covered across this workshop series.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1"/>
          <p:cNvSpPr/>
          <p:nvPr/>
        </p:nvSpPr>
        <p:spPr>
          <a:xfrm>
            <a:off x="7345680" y="2196967"/>
            <a:ext cx="4297680" cy="4160520"/>
          </a:xfrm>
          <a:prstGeom prst="roundRect">
            <a:avLst>
              <a:gd name="adj" fmla="val 219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1"/>
          <p:cNvSpPr txBox="1"/>
          <p:nvPr/>
        </p:nvSpPr>
        <p:spPr>
          <a:xfrm>
            <a:off x="7620000" y="2425567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CHATBOT  vs  AGENT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1"/>
          <p:cNvSpPr txBox="1"/>
          <p:nvPr/>
        </p:nvSpPr>
        <p:spPr>
          <a:xfrm>
            <a:off x="7620000" y="288276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1"/>
          <p:cNvSpPr txBox="1"/>
          <p:nvPr/>
        </p:nvSpPr>
        <p:spPr>
          <a:xfrm>
            <a:off x="8900160" y="288276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One reply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1"/>
          <p:cNvSpPr txBox="1"/>
          <p:nvPr/>
        </p:nvSpPr>
        <p:spPr>
          <a:xfrm>
            <a:off x="10134600" y="288276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A finished task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4" name="Google Shape;924;p31"/>
          <p:cNvCxnSpPr/>
          <p:nvPr/>
        </p:nvCxnSpPr>
        <p:spPr>
          <a:xfrm>
            <a:off x="7620000" y="3294247"/>
            <a:ext cx="374904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5" name="Google Shape;925;p31"/>
          <p:cNvSpPr txBox="1"/>
          <p:nvPr/>
        </p:nvSpPr>
        <p:spPr>
          <a:xfrm>
            <a:off x="7620000" y="366000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1"/>
          <p:cNvSpPr txBox="1"/>
          <p:nvPr/>
        </p:nvSpPr>
        <p:spPr>
          <a:xfrm>
            <a:off x="8900160" y="366000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1"/>
          <p:cNvSpPr txBox="1"/>
          <p:nvPr/>
        </p:nvSpPr>
        <p:spPr>
          <a:xfrm>
            <a:off x="10134600" y="366000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Tracks progress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8" name="Google Shape;928;p31"/>
          <p:cNvCxnSpPr/>
          <p:nvPr/>
        </p:nvCxnSpPr>
        <p:spPr>
          <a:xfrm>
            <a:off x="7620000" y="4071487"/>
            <a:ext cx="374904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9" name="Google Shape;929;p31"/>
          <p:cNvSpPr txBox="1"/>
          <p:nvPr/>
        </p:nvSpPr>
        <p:spPr>
          <a:xfrm>
            <a:off x="7620000" y="443724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Checks itself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1"/>
          <p:cNvSpPr txBox="1"/>
          <p:nvPr/>
        </p:nvSpPr>
        <p:spPr>
          <a:xfrm>
            <a:off x="8900160" y="443724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1"/>
          <p:cNvSpPr txBox="1"/>
          <p:nvPr/>
        </p:nvSpPr>
        <p:spPr>
          <a:xfrm>
            <a:off x="10134600" y="443724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Yes, every step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2" name="Google Shape;932;p31"/>
          <p:cNvCxnSpPr/>
          <p:nvPr/>
        </p:nvCxnSpPr>
        <p:spPr>
          <a:xfrm>
            <a:off x="7620000" y="4848727"/>
            <a:ext cx="374904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3" name="Google Shape;933;p31"/>
          <p:cNvSpPr txBox="1"/>
          <p:nvPr/>
        </p:nvSpPr>
        <p:spPr>
          <a:xfrm>
            <a:off x="7620000" y="521448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Uses tools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1"/>
          <p:cNvSpPr txBox="1"/>
          <p:nvPr/>
        </p:nvSpPr>
        <p:spPr>
          <a:xfrm>
            <a:off x="8900160" y="5214487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Rarely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1"/>
          <p:cNvSpPr txBox="1"/>
          <p:nvPr/>
        </p:nvSpPr>
        <p:spPr>
          <a:xfrm>
            <a:off x="10134600" y="5214487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By design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8E2971B0-744E-2682-EE6B-A1B6D5EE6C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E9CC6C42-4B7F-1868-5434-5900506E30B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32"/>
          <p:cNvSpPr txBox="1"/>
          <p:nvPr/>
        </p:nvSpPr>
        <p:spPr>
          <a:xfrm>
            <a:off x="548640" y="79552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SAME PROMPT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2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2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2"/>
          <p:cNvSpPr txBox="1"/>
          <p:nvPr/>
        </p:nvSpPr>
        <p:spPr>
          <a:xfrm>
            <a:off x="548640" y="941832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“Plan my exam week.”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2"/>
          <p:cNvSpPr/>
          <p:nvPr/>
        </p:nvSpPr>
        <p:spPr>
          <a:xfrm>
            <a:off x="548640" y="1783080"/>
            <a:ext cx="5212080" cy="4434840"/>
          </a:xfrm>
          <a:prstGeom prst="roundRect">
            <a:avLst>
              <a:gd name="adj" fmla="val 2062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2"/>
          <p:cNvSpPr txBox="1"/>
          <p:nvPr/>
        </p:nvSpPr>
        <p:spPr>
          <a:xfrm>
            <a:off x="822960" y="20116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CHATBOT ANSWER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2"/>
          <p:cNvSpPr/>
          <p:nvPr/>
        </p:nvSpPr>
        <p:spPr>
          <a:xfrm>
            <a:off x="822960" y="2423160"/>
            <a:ext cx="4663440" cy="1463040"/>
          </a:xfrm>
          <a:prstGeom prst="roundRect">
            <a:avLst>
              <a:gd name="adj" fmla="val 5000"/>
            </a:avLst>
          </a:prstGeom>
          <a:solidFill>
            <a:srgbClr val="0E17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2"/>
          <p:cNvSpPr txBox="1"/>
          <p:nvPr/>
        </p:nvSpPr>
        <p:spPr>
          <a:xfrm>
            <a:off x="1005840" y="2514600"/>
            <a:ext cx="429768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“Sure! Make a study schedule, prioritize weak subjects, take breaks, and review past papers. Good luck!”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32"/>
          <p:cNvSpPr txBox="1"/>
          <p:nvPr/>
        </p:nvSpPr>
        <p:spPr>
          <a:xfrm>
            <a:off x="822960" y="4069080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Generic. Static. You still do all the work — figuring out dates, slots, and what actually needs review.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2"/>
          <p:cNvSpPr/>
          <p:nvPr/>
        </p:nvSpPr>
        <p:spPr>
          <a:xfrm>
            <a:off x="822960" y="544068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241417"/>
          </a:solidFill>
          <a:ln w="12700" cap="flat" cmpd="sng">
            <a:solidFill>
              <a:srgbClr val="FF8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2"/>
          <p:cNvSpPr txBox="1"/>
          <p:nvPr/>
        </p:nvSpPr>
        <p:spPr>
          <a:xfrm>
            <a:off x="914400" y="54406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8A80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F8A80"/>
                </a:solidFill>
                <a:latin typeface="Calibri"/>
                <a:ea typeface="Calibri"/>
                <a:cs typeface="Calibri"/>
                <a:sym typeface="Calibri"/>
              </a:rPr>
              <a:t>0 OF 4 STEPS DONE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2"/>
          <p:cNvSpPr/>
          <p:nvPr/>
        </p:nvSpPr>
        <p:spPr>
          <a:xfrm>
            <a:off x="6035040" y="1783080"/>
            <a:ext cx="5577840" cy="4434840"/>
          </a:xfrm>
          <a:prstGeom prst="roundRect">
            <a:avLst>
              <a:gd name="adj" fmla="val 2062"/>
            </a:avLst>
          </a:prstGeom>
          <a:solidFill>
            <a:srgbClr val="0E1730"/>
          </a:solidFill>
          <a:ln w="1905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2"/>
          <p:cNvSpPr txBox="1"/>
          <p:nvPr/>
        </p:nvSpPr>
        <p:spPr>
          <a:xfrm>
            <a:off x="6309360" y="20116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AGENT CHECKLIST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2"/>
          <p:cNvSpPr/>
          <p:nvPr/>
        </p:nvSpPr>
        <p:spPr>
          <a:xfrm>
            <a:off x="6309360" y="2423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FD0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2"/>
          <p:cNvSpPr txBox="1"/>
          <p:nvPr/>
        </p:nvSpPr>
        <p:spPr>
          <a:xfrm>
            <a:off x="6309360" y="242316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0F1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A0F1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2"/>
          <p:cNvSpPr txBox="1"/>
          <p:nvPr/>
        </p:nvSpPr>
        <p:spPr>
          <a:xfrm>
            <a:off x="6720840" y="2377440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Reads your syllabus &amp; exam dates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2"/>
          <p:cNvSpPr/>
          <p:nvPr/>
        </p:nvSpPr>
        <p:spPr>
          <a:xfrm>
            <a:off x="6309360" y="30449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FD0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2"/>
          <p:cNvSpPr txBox="1"/>
          <p:nvPr/>
        </p:nvSpPr>
        <p:spPr>
          <a:xfrm>
            <a:off x="6309360" y="30449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0F1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A0F1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2"/>
          <p:cNvSpPr txBox="1"/>
          <p:nvPr/>
        </p:nvSpPr>
        <p:spPr>
          <a:xfrm>
            <a:off x="6720840" y="2999232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Checks your calendar for free slots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32"/>
          <p:cNvSpPr/>
          <p:nvPr/>
        </p:nvSpPr>
        <p:spPr>
          <a:xfrm>
            <a:off x="6309360" y="36667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FD0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2"/>
          <p:cNvSpPr txBox="1"/>
          <p:nvPr/>
        </p:nvSpPr>
        <p:spPr>
          <a:xfrm>
            <a:off x="6309360" y="36667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0F1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A0F1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2"/>
          <p:cNvSpPr txBox="1"/>
          <p:nvPr/>
        </p:nvSpPr>
        <p:spPr>
          <a:xfrm>
            <a:off x="6720840" y="3621024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Builds a day-by-day schedule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2"/>
          <p:cNvSpPr/>
          <p:nvPr/>
        </p:nvSpPr>
        <p:spPr>
          <a:xfrm>
            <a:off x="6309360" y="42885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FD0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2"/>
          <p:cNvSpPr txBox="1"/>
          <p:nvPr/>
        </p:nvSpPr>
        <p:spPr>
          <a:xfrm>
            <a:off x="6309360" y="428853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0F1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A0F1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2"/>
          <p:cNvSpPr txBox="1"/>
          <p:nvPr/>
        </p:nvSpPr>
        <p:spPr>
          <a:xfrm>
            <a:off x="6720840" y="4242816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Sets reminders automatically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2"/>
          <p:cNvSpPr txBox="1"/>
          <p:nvPr/>
        </p:nvSpPr>
        <p:spPr>
          <a:xfrm>
            <a:off x="6309360" y="493776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Takes the goal. Does the work. No back-and-forth required.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2"/>
          <p:cNvSpPr/>
          <p:nvPr/>
        </p:nvSpPr>
        <p:spPr>
          <a:xfrm>
            <a:off x="6309360" y="548640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0C2A2E"/>
          </a:solidFill>
          <a:ln w="1270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2"/>
          <p:cNvSpPr txBox="1"/>
          <p:nvPr/>
        </p:nvSpPr>
        <p:spPr>
          <a:xfrm>
            <a:off x="6400800" y="548640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4 OF 4 STEPS DONE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923EBA71-3D0B-CF5D-D1D6-A9A01529943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5;p3" descr="/home/claude/build/assets/tam_logo.png">
            <a:extLst>
              <a:ext uri="{FF2B5EF4-FFF2-40B4-BE49-F238E27FC236}">
                <a16:creationId xmlns:a16="http://schemas.microsoft.com/office/drawing/2014/main" id="{A594AADC-709D-2D09-B1ED-D05C989FB6E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33"/>
          <p:cNvSpPr txBox="1"/>
          <p:nvPr/>
        </p:nvSpPr>
        <p:spPr>
          <a:xfrm>
            <a:off x="548640" y="72726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THE ONE IDEA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3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3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33"/>
          <p:cNvSpPr txBox="1"/>
          <p:nvPr/>
        </p:nvSpPr>
        <p:spPr>
          <a:xfrm>
            <a:off x="548640" y="917608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Chatbot vs. Agent.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3"/>
          <p:cNvSpPr/>
          <p:nvPr/>
        </p:nvSpPr>
        <p:spPr>
          <a:xfrm>
            <a:off x="548640" y="1750835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3"/>
          <p:cNvSpPr txBox="1"/>
          <p:nvPr/>
        </p:nvSpPr>
        <p:spPr>
          <a:xfrm>
            <a:off x="822960" y="1979435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CHATBOT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3"/>
          <p:cNvSpPr/>
          <p:nvPr/>
        </p:nvSpPr>
        <p:spPr>
          <a:xfrm>
            <a:off x="914400" y="2482355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E1730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3"/>
          <p:cNvSpPr txBox="1"/>
          <p:nvPr/>
        </p:nvSpPr>
        <p:spPr>
          <a:xfrm>
            <a:off x="1005840" y="2482355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6" name="Google Shape;986;p33"/>
          <p:cNvCxnSpPr/>
          <p:nvPr/>
        </p:nvCxnSpPr>
        <p:spPr>
          <a:xfrm>
            <a:off x="2377440" y="2729243"/>
            <a:ext cx="914400" cy="0"/>
          </a:xfrm>
          <a:prstGeom prst="straightConnector1">
            <a:avLst/>
          </a:prstGeom>
          <a:noFill/>
          <a:ln w="19050" cap="flat" cmpd="sng">
            <a:solidFill>
              <a:srgbClr val="5A6E9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87" name="Google Shape;987;p33"/>
          <p:cNvSpPr/>
          <p:nvPr/>
        </p:nvSpPr>
        <p:spPr>
          <a:xfrm>
            <a:off x="3291840" y="2482355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E1730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3"/>
          <p:cNvSpPr txBox="1"/>
          <p:nvPr/>
        </p:nvSpPr>
        <p:spPr>
          <a:xfrm>
            <a:off x="3383280" y="2482355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3"/>
          <p:cNvSpPr txBox="1"/>
          <p:nvPr/>
        </p:nvSpPr>
        <p:spPr>
          <a:xfrm>
            <a:off x="822960" y="3259595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Responds in one exchange — no persistent goal, no follow-through.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3"/>
          <p:cNvSpPr txBox="1"/>
          <p:nvPr/>
        </p:nvSpPr>
        <p:spPr>
          <a:xfrm>
            <a:off x="822960" y="4036835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Every reply starts from zero: it can't check its own work or come back later to finish the job.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3"/>
          <p:cNvSpPr/>
          <p:nvPr/>
        </p:nvSpPr>
        <p:spPr>
          <a:xfrm>
            <a:off x="822960" y="4905515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241417"/>
          </a:solidFill>
          <a:ln w="12700" cap="flat" cmpd="sng">
            <a:solidFill>
              <a:srgbClr val="FF8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33"/>
          <p:cNvSpPr txBox="1"/>
          <p:nvPr/>
        </p:nvSpPr>
        <p:spPr>
          <a:xfrm>
            <a:off x="914400" y="4905515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8A80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8A80"/>
                </a:solidFill>
                <a:latin typeface="Calibri"/>
                <a:ea typeface="Calibri"/>
                <a:cs typeface="Calibri"/>
                <a:sym typeface="Calibri"/>
              </a:rPr>
              <a:t>ONE SHOT. DONE.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3"/>
          <p:cNvSpPr/>
          <p:nvPr/>
        </p:nvSpPr>
        <p:spPr>
          <a:xfrm>
            <a:off x="6035040" y="1750835"/>
            <a:ext cx="5577840" cy="4480560"/>
          </a:xfrm>
          <a:prstGeom prst="roundRect">
            <a:avLst>
              <a:gd name="adj" fmla="val 2449"/>
            </a:avLst>
          </a:prstGeom>
          <a:solidFill>
            <a:srgbClr val="0E1730"/>
          </a:solidFill>
          <a:ln w="1905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3"/>
          <p:cNvSpPr txBox="1"/>
          <p:nvPr/>
        </p:nvSpPr>
        <p:spPr>
          <a:xfrm>
            <a:off x="6309360" y="1979435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33"/>
          <p:cNvSpPr/>
          <p:nvPr/>
        </p:nvSpPr>
        <p:spPr>
          <a:xfrm>
            <a:off x="6309360" y="2482355"/>
            <a:ext cx="777240" cy="777240"/>
          </a:xfrm>
          <a:prstGeom prst="ellipse">
            <a:avLst/>
          </a:prstGeom>
          <a:solidFill>
            <a:srgbClr val="0A0F1F"/>
          </a:solidFill>
          <a:ln w="1905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3"/>
          <p:cNvSpPr txBox="1"/>
          <p:nvPr/>
        </p:nvSpPr>
        <p:spPr>
          <a:xfrm>
            <a:off x="6126480" y="2482355"/>
            <a:ext cx="1143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Reason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7" name="Google Shape;997;p33"/>
          <p:cNvCxnSpPr/>
          <p:nvPr/>
        </p:nvCxnSpPr>
        <p:spPr>
          <a:xfrm>
            <a:off x="7086600" y="2866403"/>
            <a:ext cx="822960" cy="0"/>
          </a:xfrm>
          <a:prstGeom prst="straightConnector1">
            <a:avLst/>
          </a:prstGeom>
          <a:noFill/>
          <a:ln w="19050" cap="flat" cmpd="sng">
            <a:solidFill>
              <a:srgbClr val="3FD0E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98" name="Google Shape;998;p33"/>
          <p:cNvSpPr/>
          <p:nvPr/>
        </p:nvSpPr>
        <p:spPr>
          <a:xfrm>
            <a:off x="7909560" y="2482355"/>
            <a:ext cx="777240" cy="777240"/>
          </a:xfrm>
          <a:prstGeom prst="ellipse">
            <a:avLst/>
          </a:prstGeom>
          <a:solidFill>
            <a:srgbClr val="0A0F1F"/>
          </a:solidFill>
          <a:ln w="1905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33"/>
          <p:cNvSpPr txBox="1"/>
          <p:nvPr/>
        </p:nvSpPr>
        <p:spPr>
          <a:xfrm>
            <a:off x="7726680" y="2482355"/>
            <a:ext cx="1143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Act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0" name="Google Shape;1000;p33"/>
          <p:cNvCxnSpPr/>
          <p:nvPr/>
        </p:nvCxnSpPr>
        <p:spPr>
          <a:xfrm>
            <a:off x="8686800" y="2866403"/>
            <a:ext cx="822960" cy="0"/>
          </a:xfrm>
          <a:prstGeom prst="straightConnector1">
            <a:avLst/>
          </a:prstGeom>
          <a:noFill/>
          <a:ln w="19050" cap="flat" cmpd="sng">
            <a:solidFill>
              <a:srgbClr val="3FD0E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01" name="Google Shape;1001;p33"/>
          <p:cNvSpPr/>
          <p:nvPr/>
        </p:nvSpPr>
        <p:spPr>
          <a:xfrm>
            <a:off x="9509760" y="2482355"/>
            <a:ext cx="777240" cy="777240"/>
          </a:xfrm>
          <a:prstGeom prst="ellipse">
            <a:avLst/>
          </a:prstGeom>
          <a:solidFill>
            <a:srgbClr val="0A0F1F"/>
          </a:solidFill>
          <a:ln w="1905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3"/>
          <p:cNvSpPr txBox="1"/>
          <p:nvPr/>
        </p:nvSpPr>
        <p:spPr>
          <a:xfrm>
            <a:off x="9326880" y="2482355"/>
            <a:ext cx="1143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Observe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3"/>
          <p:cNvSpPr txBox="1"/>
          <p:nvPr/>
        </p:nvSpPr>
        <p:spPr>
          <a:xfrm>
            <a:off x="8686800" y="3076715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950"/>
              <a:buFont typeface="Calibri"/>
              <a:buNone/>
            </a:pPr>
            <a:r>
              <a:rPr lang="en-US" sz="950" i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↻ loops back to Reason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3"/>
          <p:cNvSpPr txBox="1"/>
          <p:nvPr/>
        </p:nvSpPr>
        <p:spPr>
          <a:xfrm>
            <a:off x="6309360" y="3671075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Loops until the goal is done — checking its own work at every step, and returning to “Reason” if something's off.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33"/>
          <p:cNvSpPr txBox="1"/>
          <p:nvPr/>
        </p:nvSpPr>
        <p:spPr>
          <a:xfrm>
            <a:off x="6309360" y="4448315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The loop can run for seconds or for dozens of steps — it keeps going until the goal check passes.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33"/>
          <p:cNvSpPr/>
          <p:nvPr/>
        </p:nvSpPr>
        <p:spPr>
          <a:xfrm>
            <a:off x="6309360" y="5315389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0C2A2E"/>
          </a:solidFill>
          <a:ln w="1270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33"/>
          <p:cNvSpPr txBox="1"/>
          <p:nvPr/>
        </p:nvSpPr>
        <p:spPr>
          <a:xfrm>
            <a:off x="6400800" y="5315389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LOOPS UNTIL THE GOAL IS DONE.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4;p3" descr="/home/claude/build/assets/vit_logo.png">
            <a:extLst>
              <a:ext uri="{FF2B5EF4-FFF2-40B4-BE49-F238E27FC236}">
                <a16:creationId xmlns:a16="http://schemas.microsoft.com/office/drawing/2014/main" id="{E6153329-1C0E-4740-2017-0D55A262BDC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CEBAB56F-8972-4AAA-76D4-74261EA304B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34"/>
          <p:cNvSpPr txBox="1"/>
          <p:nvPr/>
        </p:nvSpPr>
        <p:spPr>
          <a:xfrm>
            <a:off x="612808" y="99364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FOUNDATION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4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34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4"/>
          <p:cNvSpPr txBox="1"/>
          <p:nvPr/>
        </p:nvSpPr>
        <p:spPr>
          <a:xfrm>
            <a:off x="612808" y="1228344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Why does an agent “loop”?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34"/>
          <p:cNvSpPr/>
          <p:nvPr/>
        </p:nvSpPr>
        <p:spPr>
          <a:xfrm>
            <a:off x="1984408" y="2209800"/>
            <a:ext cx="777240" cy="777240"/>
          </a:xfrm>
          <a:prstGeom prst="ellipse">
            <a:avLst/>
          </a:prstGeom>
          <a:solidFill>
            <a:srgbClr val="0E1730"/>
          </a:solidFill>
          <a:ln w="1905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4"/>
          <p:cNvSpPr txBox="1"/>
          <p:nvPr/>
        </p:nvSpPr>
        <p:spPr>
          <a:xfrm>
            <a:off x="1984408" y="22098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1" name="Google Shape;1021;p34"/>
          <p:cNvCxnSpPr/>
          <p:nvPr/>
        </p:nvCxnSpPr>
        <p:spPr>
          <a:xfrm>
            <a:off x="3813208" y="2593848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3FD0E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22" name="Google Shape;1022;p34"/>
          <p:cNvSpPr txBox="1"/>
          <p:nvPr/>
        </p:nvSpPr>
        <p:spPr>
          <a:xfrm>
            <a:off x="612808" y="312420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700"/>
              <a:buFont typeface="Calibri"/>
              <a:buNone/>
            </a:pPr>
            <a:r>
              <a:rPr lang="en-US" sz="17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Reason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4"/>
          <p:cNvSpPr txBox="1"/>
          <p:nvPr/>
        </p:nvSpPr>
        <p:spPr>
          <a:xfrm>
            <a:off x="795688" y="353568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The model looks at the goal and decides what to do next.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34"/>
          <p:cNvSpPr/>
          <p:nvPr/>
        </p:nvSpPr>
        <p:spPr>
          <a:xfrm>
            <a:off x="749968" y="4358640"/>
            <a:ext cx="3246120" cy="685800"/>
          </a:xfrm>
          <a:prstGeom prst="roundRect">
            <a:avLst>
              <a:gd name="adj" fmla="val 8000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34"/>
          <p:cNvSpPr txBox="1"/>
          <p:nvPr/>
        </p:nvSpPr>
        <p:spPr>
          <a:xfrm>
            <a:off x="887128" y="435864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“I should check the calendar for free slots.”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34"/>
          <p:cNvSpPr/>
          <p:nvPr/>
        </p:nvSpPr>
        <p:spPr>
          <a:xfrm>
            <a:off x="5706016" y="2209800"/>
            <a:ext cx="777240" cy="777240"/>
          </a:xfrm>
          <a:prstGeom prst="ellipse">
            <a:avLst/>
          </a:prstGeom>
          <a:solidFill>
            <a:srgbClr val="0E1730"/>
          </a:solidFill>
          <a:ln w="1905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4"/>
          <p:cNvSpPr txBox="1"/>
          <p:nvPr/>
        </p:nvSpPr>
        <p:spPr>
          <a:xfrm>
            <a:off x="5706016" y="22098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8" name="Google Shape;1028;p34"/>
          <p:cNvCxnSpPr/>
          <p:nvPr/>
        </p:nvCxnSpPr>
        <p:spPr>
          <a:xfrm>
            <a:off x="7534816" y="2593848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3FD0E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29" name="Google Shape;1029;p34"/>
          <p:cNvSpPr txBox="1"/>
          <p:nvPr/>
        </p:nvSpPr>
        <p:spPr>
          <a:xfrm>
            <a:off x="4334416" y="312420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700"/>
              <a:buFont typeface="Calibri"/>
              <a:buNone/>
            </a:pPr>
            <a:r>
              <a:rPr lang="en-US" sz="17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Act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34"/>
          <p:cNvSpPr txBox="1"/>
          <p:nvPr/>
        </p:nvSpPr>
        <p:spPr>
          <a:xfrm>
            <a:off x="4517296" y="353568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It takes that action — calls a tool, runs code, fetches data.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34"/>
          <p:cNvSpPr/>
          <p:nvPr/>
        </p:nvSpPr>
        <p:spPr>
          <a:xfrm>
            <a:off x="4471576" y="4358640"/>
            <a:ext cx="3246120" cy="685800"/>
          </a:xfrm>
          <a:prstGeom prst="roundRect">
            <a:avLst>
              <a:gd name="adj" fmla="val 8000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34"/>
          <p:cNvSpPr txBox="1"/>
          <p:nvPr/>
        </p:nvSpPr>
        <p:spPr>
          <a:xfrm>
            <a:off x="4608736" y="435864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Calls calendar.get_free_slots(this_week)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34"/>
          <p:cNvSpPr/>
          <p:nvPr/>
        </p:nvSpPr>
        <p:spPr>
          <a:xfrm>
            <a:off x="9427624" y="2209800"/>
            <a:ext cx="777240" cy="777240"/>
          </a:xfrm>
          <a:prstGeom prst="ellipse">
            <a:avLst/>
          </a:prstGeom>
          <a:solidFill>
            <a:srgbClr val="0E1730"/>
          </a:solidFill>
          <a:ln w="1905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34"/>
          <p:cNvSpPr txBox="1"/>
          <p:nvPr/>
        </p:nvSpPr>
        <p:spPr>
          <a:xfrm>
            <a:off x="9427624" y="22098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34"/>
          <p:cNvSpPr txBox="1"/>
          <p:nvPr/>
        </p:nvSpPr>
        <p:spPr>
          <a:xfrm>
            <a:off x="8056024" y="312420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700"/>
              <a:buFont typeface="Calibri"/>
              <a:buNone/>
            </a:pPr>
            <a:r>
              <a:rPr lang="en-US" sz="17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Observe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34"/>
          <p:cNvSpPr txBox="1"/>
          <p:nvPr/>
        </p:nvSpPr>
        <p:spPr>
          <a:xfrm>
            <a:off x="8238904" y="353568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It looks at the result and checks progress against the goal.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34"/>
          <p:cNvSpPr/>
          <p:nvPr/>
        </p:nvSpPr>
        <p:spPr>
          <a:xfrm>
            <a:off x="8193184" y="4358640"/>
            <a:ext cx="3246120" cy="685800"/>
          </a:xfrm>
          <a:prstGeom prst="roundRect">
            <a:avLst>
              <a:gd name="adj" fmla="val 8000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34"/>
          <p:cNvSpPr txBox="1"/>
          <p:nvPr/>
        </p:nvSpPr>
        <p:spPr>
          <a:xfrm>
            <a:off x="8330344" y="435864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“Found 3 free slots — 2 more needed.”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34"/>
          <p:cNvSpPr txBox="1"/>
          <p:nvPr/>
        </p:nvSpPr>
        <p:spPr>
          <a:xfrm>
            <a:off x="612808" y="5364480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Repeat until the goal is marked done — that repetition is the “loop.” Most real tasks take 3-10 loops before Atlas calls it finished.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4;p3" descr="/home/claude/build/assets/vit_logo.png">
            <a:extLst>
              <a:ext uri="{FF2B5EF4-FFF2-40B4-BE49-F238E27FC236}">
                <a16:creationId xmlns:a16="http://schemas.microsoft.com/office/drawing/2014/main" id="{99DF7F64-AAB9-9C17-CCC9-A7F79185BCF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1DEB9946-3768-DF2E-493B-331A6BBF644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35"/>
          <p:cNvSpPr txBox="1"/>
          <p:nvPr/>
        </p:nvSpPr>
        <p:spPr>
          <a:xfrm>
            <a:off x="548640" y="67890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THE CORE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35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35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35"/>
          <p:cNvSpPr txBox="1"/>
          <p:nvPr/>
        </p:nvSpPr>
        <p:spPr>
          <a:xfrm>
            <a:off x="548640" y="861782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The four building blocks.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35"/>
          <p:cNvSpPr txBox="1"/>
          <p:nvPr/>
        </p:nvSpPr>
        <p:spPr>
          <a:xfrm>
            <a:off x="548640" y="1460714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Every agent — no matter how advanced — is built from just four parts.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35"/>
          <p:cNvSpPr/>
          <p:nvPr/>
        </p:nvSpPr>
        <p:spPr>
          <a:xfrm>
            <a:off x="548640" y="197735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121A33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35"/>
          <p:cNvSpPr/>
          <p:nvPr/>
        </p:nvSpPr>
        <p:spPr>
          <a:xfrm>
            <a:off x="777240" y="2233382"/>
            <a:ext cx="457200" cy="457200"/>
          </a:xfrm>
          <a:prstGeom prst="ellipse">
            <a:avLst/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35"/>
          <p:cNvSpPr txBox="1"/>
          <p:nvPr/>
        </p:nvSpPr>
        <p:spPr>
          <a:xfrm>
            <a:off x="777240" y="223338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35"/>
          <p:cNvSpPr txBox="1"/>
          <p:nvPr/>
        </p:nvSpPr>
        <p:spPr>
          <a:xfrm>
            <a:off x="777240" y="284603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900"/>
              <a:buFont typeface="Calibri"/>
              <a:buNone/>
            </a:pPr>
            <a:r>
              <a:rPr lang="en-US" sz="19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35"/>
          <p:cNvSpPr txBox="1"/>
          <p:nvPr/>
        </p:nvSpPr>
        <p:spPr>
          <a:xfrm>
            <a:off x="777240" y="321179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The reasoning engine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35"/>
          <p:cNvSpPr txBox="1"/>
          <p:nvPr/>
        </p:nvSpPr>
        <p:spPr>
          <a:xfrm>
            <a:off x="777240" y="3604982"/>
            <a:ext cx="21488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The LLM that reads context and decides what happens next.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35"/>
          <p:cNvSpPr/>
          <p:nvPr/>
        </p:nvSpPr>
        <p:spPr>
          <a:xfrm>
            <a:off x="777240" y="5360630"/>
            <a:ext cx="2148840" cy="365760"/>
          </a:xfrm>
          <a:prstGeom prst="roundRect">
            <a:avLst>
              <a:gd name="adj" fmla="val 20000"/>
            </a:avLst>
          </a:prstGeom>
          <a:solidFill>
            <a:srgbClr val="0E1730"/>
          </a:solidFill>
          <a:ln w="1270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35"/>
          <p:cNvSpPr txBox="1"/>
          <p:nvPr/>
        </p:nvSpPr>
        <p:spPr>
          <a:xfrm>
            <a:off x="868680" y="536063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35"/>
          <p:cNvSpPr/>
          <p:nvPr/>
        </p:nvSpPr>
        <p:spPr>
          <a:xfrm>
            <a:off x="3246120" y="197735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121A33"/>
          </a:solidFill>
          <a:ln w="15875" cap="flat" cmpd="sng">
            <a:solidFill>
              <a:srgbClr val="8B9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35"/>
          <p:cNvSpPr/>
          <p:nvPr/>
        </p:nvSpPr>
        <p:spPr>
          <a:xfrm>
            <a:off x="3474720" y="2233382"/>
            <a:ext cx="457200" cy="457200"/>
          </a:xfrm>
          <a:prstGeom prst="ellipse">
            <a:avLst/>
          </a:prstGeom>
          <a:solidFill>
            <a:srgbClr val="0E1730"/>
          </a:solidFill>
          <a:ln w="15875" cap="flat" cmpd="sng">
            <a:solidFill>
              <a:srgbClr val="8B9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35"/>
          <p:cNvSpPr txBox="1"/>
          <p:nvPr/>
        </p:nvSpPr>
        <p:spPr>
          <a:xfrm>
            <a:off x="3474720" y="223338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3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8B93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35"/>
          <p:cNvSpPr txBox="1"/>
          <p:nvPr/>
        </p:nvSpPr>
        <p:spPr>
          <a:xfrm>
            <a:off x="3474720" y="284603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900"/>
              <a:buFont typeface="Calibri"/>
              <a:buNone/>
            </a:pPr>
            <a:r>
              <a:rPr lang="en-US" sz="19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35"/>
          <p:cNvSpPr txBox="1"/>
          <p:nvPr/>
        </p:nvSpPr>
        <p:spPr>
          <a:xfrm>
            <a:off x="3474720" y="321179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3FF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8B93FF"/>
                </a:solidFill>
                <a:latin typeface="Calibri"/>
                <a:ea typeface="Calibri"/>
                <a:cs typeface="Calibri"/>
                <a:sym typeface="Calibri"/>
              </a:rPr>
              <a:t>What it's working toward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35"/>
          <p:cNvSpPr txBox="1"/>
          <p:nvPr/>
        </p:nvSpPr>
        <p:spPr>
          <a:xfrm>
            <a:off x="3474720" y="3604982"/>
            <a:ext cx="21488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 clear objective the agent checks its progress against.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35"/>
          <p:cNvSpPr/>
          <p:nvPr/>
        </p:nvSpPr>
        <p:spPr>
          <a:xfrm>
            <a:off x="3474720" y="5360630"/>
            <a:ext cx="2148840" cy="365760"/>
          </a:xfrm>
          <a:prstGeom prst="roundRect">
            <a:avLst>
              <a:gd name="adj" fmla="val 20000"/>
            </a:avLst>
          </a:prstGeom>
          <a:solidFill>
            <a:srgbClr val="0E1730"/>
          </a:solidFill>
          <a:ln w="12700" cap="flat" cmpd="sng">
            <a:solidFill>
              <a:srgbClr val="8B9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35"/>
          <p:cNvSpPr txBox="1"/>
          <p:nvPr/>
        </p:nvSpPr>
        <p:spPr>
          <a:xfrm>
            <a:off x="3566160" y="536063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3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8B93FF"/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35"/>
          <p:cNvSpPr/>
          <p:nvPr/>
        </p:nvSpPr>
        <p:spPr>
          <a:xfrm>
            <a:off x="5943600" y="197735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121A33"/>
          </a:solidFill>
          <a:ln w="15875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35"/>
          <p:cNvSpPr/>
          <p:nvPr/>
        </p:nvSpPr>
        <p:spPr>
          <a:xfrm>
            <a:off x="6172200" y="2233382"/>
            <a:ext cx="457200" cy="457200"/>
          </a:xfrm>
          <a:prstGeom prst="ellipse">
            <a:avLst/>
          </a:prstGeom>
          <a:solidFill>
            <a:srgbClr val="0E1730"/>
          </a:solidFill>
          <a:ln w="15875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35"/>
          <p:cNvSpPr txBox="1"/>
          <p:nvPr/>
        </p:nvSpPr>
        <p:spPr>
          <a:xfrm>
            <a:off x="6172200" y="223338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35"/>
          <p:cNvSpPr txBox="1"/>
          <p:nvPr/>
        </p:nvSpPr>
        <p:spPr>
          <a:xfrm>
            <a:off x="6172200" y="284603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900"/>
              <a:buFont typeface="Calibri"/>
              <a:buNone/>
            </a:pPr>
            <a:r>
              <a:rPr lang="en-US" sz="19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35"/>
          <p:cNvSpPr txBox="1"/>
          <p:nvPr/>
        </p:nvSpPr>
        <p:spPr>
          <a:xfrm>
            <a:off x="6172200" y="321179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How it reaches the world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35"/>
          <p:cNvSpPr txBox="1"/>
          <p:nvPr/>
        </p:nvSpPr>
        <p:spPr>
          <a:xfrm>
            <a:off x="6172200" y="3604982"/>
            <a:ext cx="21488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Functions it's allowed to call — search, calendar, code.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35"/>
          <p:cNvSpPr/>
          <p:nvPr/>
        </p:nvSpPr>
        <p:spPr>
          <a:xfrm>
            <a:off x="6172200" y="5360630"/>
            <a:ext cx="2148840" cy="365760"/>
          </a:xfrm>
          <a:prstGeom prst="roundRect">
            <a:avLst>
              <a:gd name="adj" fmla="val 20000"/>
            </a:avLst>
          </a:prstGeom>
          <a:solidFill>
            <a:srgbClr val="0E1730"/>
          </a:solidFill>
          <a:ln w="12700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35"/>
          <p:cNvSpPr txBox="1"/>
          <p:nvPr/>
        </p:nvSpPr>
        <p:spPr>
          <a:xfrm>
            <a:off x="6263640" y="536063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35"/>
          <p:cNvSpPr/>
          <p:nvPr/>
        </p:nvSpPr>
        <p:spPr>
          <a:xfrm>
            <a:off x="8641080" y="197735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121A33"/>
          </a:solidFill>
          <a:ln w="15875" cap="flat" cmpd="sng">
            <a:solidFill>
              <a:srgbClr val="5FD9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35"/>
          <p:cNvSpPr/>
          <p:nvPr/>
        </p:nvSpPr>
        <p:spPr>
          <a:xfrm>
            <a:off x="8869680" y="2233382"/>
            <a:ext cx="457200" cy="457200"/>
          </a:xfrm>
          <a:prstGeom prst="ellipse">
            <a:avLst/>
          </a:prstGeom>
          <a:solidFill>
            <a:srgbClr val="0E1730"/>
          </a:solidFill>
          <a:ln w="15875" cap="flat" cmpd="sng">
            <a:solidFill>
              <a:srgbClr val="5FD9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5"/>
          <p:cNvSpPr txBox="1"/>
          <p:nvPr/>
        </p:nvSpPr>
        <p:spPr>
          <a:xfrm>
            <a:off x="8869680" y="223338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5FD9A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35"/>
          <p:cNvSpPr txBox="1"/>
          <p:nvPr/>
        </p:nvSpPr>
        <p:spPr>
          <a:xfrm>
            <a:off x="8869680" y="284603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900"/>
              <a:buFont typeface="Calibri"/>
              <a:buNone/>
            </a:pPr>
            <a:r>
              <a:rPr lang="en-US" sz="19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35"/>
          <p:cNvSpPr txBox="1"/>
          <p:nvPr/>
        </p:nvSpPr>
        <p:spPr>
          <a:xfrm>
            <a:off x="8869680" y="321179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5FD9A4"/>
                </a:solidFill>
                <a:latin typeface="Calibri"/>
                <a:ea typeface="Calibri"/>
                <a:cs typeface="Calibri"/>
                <a:sym typeface="Calibri"/>
              </a:rPr>
              <a:t>What it remembers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35"/>
          <p:cNvSpPr txBox="1"/>
          <p:nvPr/>
        </p:nvSpPr>
        <p:spPr>
          <a:xfrm>
            <a:off x="8869680" y="3604982"/>
            <a:ext cx="21488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Short-term context and long-term facts across sessions.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35"/>
          <p:cNvSpPr/>
          <p:nvPr/>
        </p:nvSpPr>
        <p:spPr>
          <a:xfrm>
            <a:off x="8869680" y="5360630"/>
            <a:ext cx="2148840" cy="365760"/>
          </a:xfrm>
          <a:prstGeom prst="roundRect">
            <a:avLst>
              <a:gd name="adj" fmla="val 20000"/>
            </a:avLst>
          </a:prstGeom>
          <a:solidFill>
            <a:srgbClr val="0E1730"/>
          </a:solidFill>
          <a:ln w="12700" cap="flat" cmpd="sng">
            <a:solidFill>
              <a:srgbClr val="5FD9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35"/>
          <p:cNvSpPr txBox="1"/>
          <p:nvPr/>
        </p:nvSpPr>
        <p:spPr>
          <a:xfrm>
            <a:off x="8961120" y="536063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5FD9A4"/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35"/>
          <p:cNvSpPr txBox="1"/>
          <p:nvPr/>
        </p:nvSpPr>
        <p:spPr>
          <a:xfrm>
            <a:off x="548640" y="6092150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Today, you'll build the first two — Model and Goal — by hand, in Python.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4;p3" descr="/home/claude/build/assets/vit_logo.png">
            <a:extLst>
              <a:ext uri="{FF2B5EF4-FFF2-40B4-BE49-F238E27FC236}">
                <a16:creationId xmlns:a16="http://schemas.microsoft.com/office/drawing/2014/main" id="{BA937D12-BCEA-AF07-2BED-E01281D77E6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A61E9BA2-6B0F-B0FD-5B86-DD7A2608BA4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36"/>
          <p:cNvSpPr txBox="1"/>
          <p:nvPr/>
        </p:nvSpPr>
        <p:spPr>
          <a:xfrm>
            <a:off x="548640" y="78197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BUILDING BLOCK 1 OF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36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36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36"/>
          <p:cNvSpPr txBox="1"/>
          <p:nvPr/>
        </p:nvSpPr>
        <p:spPr>
          <a:xfrm>
            <a:off x="548640" y="941832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Model — the reasoning engine.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36"/>
          <p:cNvSpPr/>
          <p:nvPr/>
        </p:nvSpPr>
        <p:spPr>
          <a:xfrm>
            <a:off x="548640" y="192024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36"/>
          <p:cNvSpPr txBox="1"/>
          <p:nvPr/>
        </p:nvSpPr>
        <p:spPr>
          <a:xfrm>
            <a:off x="548640" y="19202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36"/>
          <p:cNvSpPr txBox="1"/>
          <p:nvPr/>
        </p:nvSpPr>
        <p:spPr>
          <a:xfrm>
            <a:off x="1170432" y="1865376"/>
            <a:ext cx="58704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Text in, text out</a:t>
            </a:r>
            <a:b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The LLM itself takes text in and predicts text out — nothing more, nothing less.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36"/>
          <p:cNvSpPr/>
          <p:nvPr/>
        </p:nvSpPr>
        <p:spPr>
          <a:xfrm>
            <a:off x="548640" y="299923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36"/>
          <p:cNvSpPr txBox="1"/>
          <p:nvPr/>
        </p:nvSpPr>
        <p:spPr>
          <a:xfrm>
            <a:off x="548640" y="299923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36"/>
          <p:cNvSpPr txBox="1"/>
          <p:nvPr/>
        </p:nvSpPr>
        <p:spPr>
          <a:xfrm>
            <a:off x="1170432" y="2944368"/>
            <a:ext cx="58704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No memory by default</a:t>
            </a:r>
            <a:b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It doesn't remember previous conversations by default; each call starts fresh.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36"/>
          <p:cNvSpPr/>
          <p:nvPr/>
        </p:nvSpPr>
        <p:spPr>
          <a:xfrm>
            <a:off x="548640" y="40782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36"/>
          <p:cNvSpPr txBox="1"/>
          <p:nvPr/>
        </p:nvSpPr>
        <p:spPr>
          <a:xfrm>
            <a:off x="548640" y="407822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36"/>
          <p:cNvSpPr txBox="1"/>
          <p:nvPr/>
        </p:nvSpPr>
        <p:spPr>
          <a:xfrm>
            <a:off x="1170432" y="4023360"/>
            <a:ext cx="58704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Runs on Groq today</a:t>
            </a:r>
            <a:b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You'll call it directly from Python code — the same shape as any chat-completions API.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36"/>
          <p:cNvSpPr/>
          <p:nvPr/>
        </p:nvSpPr>
        <p:spPr>
          <a:xfrm>
            <a:off x="548640" y="515721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36"/>
          <p:cNvSpPr txBox="1"/>
          <p:nvPr/>
        </p:nvSpPr>
        <p:spPr>
          <a:xfrm>
            <a:off x="548640" y="51572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36"/>
          <p:cNvSpPr txBox="1"/>
          <p:nvPr/>
        </p:nvSpPr>
        <p:spPr>
          <a:xfrm>
            <a:off x="1170432" y="5102352"/>
            <a:ext cx="58704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Swappable later</a:t>
            </a:r>
            <a:b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The same agent loop works with a different model behind it — Model is a pluggable block.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36"/>
          <p:cNvSpPr/>
          <p:nvPr/>
        </p:nvSpPr>
        <p:spPr>
          <a:xfrm>
            <a:off x="7360920" y="1920240"/>
            <a:ext cx="4297680" cy="4343400"/>
          </a:xfrm>
          <a:prstGeom prst="roundRect">
            <a:avLst>
              <a:gd name="adj" fmla="val 2128"/>
            </a:avLst>
          </a:prstGeom>
          <a:solidFill>
            <a:srgbClr val="121A33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36"/>
          <p:cNvSpPr txBox="1"/>
          <p:nvPr/>
        </p:nvSpPr>
        <p:spPr>
          <a:xfrm>
            <a:off x="7635240" y="21488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A SINGLE MODEL CALL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36"/>
          <p:cNvSpPr/>
          <p:nvPr/>
        </p:nvSpPr>
        <p:spPr>
          <a:xfrm>
            <a:off x="7635240" y="2514600"/>
            <a:ext cx="3749040" cy="1920240"/>
          </a:xfrm>
          <a:prstGeom prst="roundRect">
            <a:avLst>
              <a:gd name="adj" fmla="val 2857"/>
            </a:avLst>
          </a:prstGeom>
          <a:solidFill>
            <a:srgbClr val="0E17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36"/>
          <p:cNvSpPr txBox="1"/>
          <p:nvPr/>
        </p:nvSpPr>
        <p:spPr>
          <a:xfrm>
            <a:off x="7818120" y="2606040"/>
            <a:ext cx="33832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client.chat.completions.create(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model="openai/gpt-oss-120b",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messages=[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  {"role":"user",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   "content":"Plan my exam week"}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]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36"/>
          <p:cNvSpPr txBox="1"/>
          <p:nvPr/>
        </p:nvSpPr>
        <p:spPr>
          <a:xfrm>
            <a:off x="7635240" y="4663440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In, then out — no state kept between calls unless you pass the history back in yourself.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36"/>
          <p:cNvSpPr txBox="1"/>
          <p:nvPr/>
        </p:nvSpPr>
        <p:spPr>
          <a:xfrm>
            <a:off x="7635240" y="539496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That's exactly why Memory (Session 3) has to exist as its own block.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4;p3" descr="/home/claude/build/assets/vit_logo.png">
            <a:extLst>
              <a:ext uri="{FF2B5EF4-FFF2-40B4-BE49-F238E27FC236}">
                <a16:creationId xmlns:a16="http://schemas.microsoft.com/office/drawing/2014/main" id="{3986EA5D-4378-A343-6D67-A5545DF2D6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96E6A13A-B38E-8C20-6A94-6C5237F5130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37"/>
          <p:cNvSpPr txBox="1"/>
          <p:nvPr/>
        </p:nvSpPr>
        <p:spPr>
          <a:xfrm>
            <a:off x="550244" y="74828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BUILDING BLOCK 2 OF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37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37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37"/>
          <p:cNvSpPr txBox="1"/>
          <p:nvPr/>
        </p:nvSpPr>
        <p:spPr>
          <a:xfrm>
            <a:off x="550244" y="941832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Goal — what it's working toward.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37"/>
          <p:cNvSpPr/>
          <p:nvPr/>
        </p:nvSpPr>
        <p:spPr>
          <a:xfrm>
            <a:off x="550244" y="196596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8B9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37"/>
          <p:cNvSpPr txBox="1"/>
          <p:nvPr/>
        </p:nvSpPr>
        <p:spPr>
          <a:xfrm>
            <a:off x="550244" y="196596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3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8B93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37"/>
          <p:cNvSpPr txBox="1"/>
          <p:nvPr/>
        </p:nvSpPr>
        <p:spPr>
          <a:xfrm>
            <a:off x="1172036" y="1911096"/>
            <a:ext cx="568756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A clear objective</a:t>
            </a:r>
            <a:b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e.g. “Plan a full exam-week study schedule” — specific enough to check progress against.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37"/>
          <p:cNvSpPr/>
          <p:nvPr/>
        </p:nvSpPr>
        <p:spPr>
          <a:xfrm>
            <a:off x="550244" y="320040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8B9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37"/>
          <p:cNvSpPr txBox="1"/>
          <p:nvPr/>
        </p:nvSpPr>
        <p:spPr>
          <a:xfrm>
            <a:off x="550244" y="32004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3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8B93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37"/>
          <p:cNvSpPr txBox="1"/>
          <p:nvPr/>
        </p:nvSpPr>
        <p:spPr>
          <a:xfrm>
            <a:off x="1172036" y="3145536"/>
            <a:ext cx="568756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No goal, no action</a:t>
            </a:r>
            <a:b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Without a goal, a model can only chat — it has nothing to act toward or finish.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37"/>
          <p:cNvSpPr/>
          <p:nvPr/>
        </p:nvSpPr>
        <p:spPr>
          <a:xfrm>
            <a:off x="550244" y="443484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8B9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37"/>
          <p:cNvSpPr txBox="1"/>
          <p:nvPr/>
        </p:nvSpPr>
        <p:spPr>
          <a:xfrm>
            <a:off x="550244" y="44348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3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8B93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37"/>
          <p:cNvSpPr txBox="1"/>
          <p:nvPr/>
        </p:nvSpPr>
        <p:spPr>
          <a:xfrm>
            <a:off x="1172036" y="4379976"/>
            <a:ext cx="568756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Checked at every step</a:t>
            </a:r>
            <a:b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The agent compares its progress against the goal at every pass through the loop.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37"/>
          <p:cNvSpPr/>
          <p:nvPr/>
        </p:nvSpPr>
        <p:spPr>
          <a:xfrm>
            <a:off x="7225364" y="1965960"/>
            <a:ext cx="4434840" cy="4297680"/>
          </a:xfrm>
          <a:prstGeom prst="roundRect">
            <a:avLst>
              <a:gd name="adj" fmla="val 212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37"/>
          <p:cNvSpPr txBox="1"/>
          <p:nvPr/>
        </p:nvSpPr>
        <p:spPr>
          <a:xfrm>
            <a:off x="7499684" y="21945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3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8B93FF"/>
                </a:solidFill>
                <a:latin typeface="Calibri"/>
                <a:ea typeface="Calibri"/>
                <a:cs typeface="Calibri"/>
                <a:sym typeface="Calibri"/>
              </a:rPr>
              <a:t>VAGUE  vs.  CLEAR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37"/>
          <p:cNvSpPr/>
          <p:nvPr/>
        </p:nvSpPr>
        <p:spPr>
          <a:xfrm>
            <a:off x="7499684" y="256032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241417"/>
          </a:solidFill>
          <a:ln w="12700" cap="flat" cmpd="sng">
            <a:solidFill>
              <a:srgbClr val="FF8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37"/>
          <p:cNvSpPr txBox="1"/>
          <p:nvPr/>
        </p:nvSpPr>
        <p:spPr>
          <a:xfrm>
            <a:off x="7682564" y="265176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8A80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FF8A80"/>
                </a:solidFill>
                <a:latin typeface="Calibri"/>
                <a:ea typeface="Calibri"/>
                <a:cs typeface="Calibri"/>
                <a:sym typeface="Calibri"/>
              </a:rPr>
              <a:t>“Be helpful.”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37"/>
          <p:cNvSpPr txBox="1"/>
          <p:nvPr/>
        </p:nvSpPr>
        <p:spPr>
          <a:xfrm>
            <a:off x="7499684" y="356616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Can't tell when it's done. Nothing to check against.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37"/>
          <p:cNvSpPr/>
          <p:nvPr/>
        </p:nvSpPr>
        <p:spPr>
          <a:xfrm>
            <a:off x="7499684" y="4023360"/>
            <a:ext cx="3886200" cy="1188720"/>
          </a:xfrm>
          <a:prstGeom prst="roundRect">
            <a:avLst>
              <a:gd name="adj" fmla="val 6154"/>
            </a:avLst>
          </a:prstGeom>
          <a:solidFill>
            <a:srgbClr val="0C2A2E"/>
          </a:solidFill>
          <a:ln w="1270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37"/>
          <p:cNvSpPr txBox="1"/>
          <p:nvPr/>
        </p:nvSpPr>
        <p:spPr>
          <a:xfrm>
            <a:off x="7682564" y="411480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“Plan a 5-day revision schedule covering Physics and Chemistry, 2 hours/day.”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37"/>
          <p:cNvSpPr txBox="1"/>
          <p:nvPr/>
        </p:nvSpPr>
        <p:spPr>
          <a:xfrm>
            <a:off x="7499684" y="5303520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Measurable. The agent knows exactly what “done” looks like.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4;p3" descr="/home/claude/build/assets/vit_logo.png">
            <a:extLst>
              <a:ext uri="{FF2B5EF4-FFF2-40B4-BE49-F238E27FC236}">
                <a16:creationId xmlns:a16="http://schemas.microsoft.com/office/drawing/2014/main" id="{46F4C37E-4E61-B206-FD13-307F1B3CD9B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B16B37B5-5F35-B41B-1E51-3580F86DB83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38"/>
          <p:cNvSpPr txBox="1"/>
          <p:nvPr/>
        </p:nvSpPr>
        <p:spPr>
          <a:xfrm>
            <a:off x="548640" y="753979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BUILDING BLOCK 2 OF 4  ·  IN CODE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38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38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38"/>
          <p:cNvSpPr txBox="1"/>
          <p:nvPr/>
        </p:nvSpPr>
        <p:spPr>
          <a:xfrm>
            <a:off x="548640" y="905256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System prompt and your message.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38"/>
          <p:cNvSpPr/>
          <p:nvPr/>
        </p:nvSpPr>
        <p:spPr>
          <a:xfrm>
            <a:off x="548640" y="192938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38"/>
          <p:cNvSpPr txBox="1"/>
          <p:nvPr/>
        </p:nvSpPr>
        <p:spPr>
          <a:xfrm>
            <a:off x="548640" y="192938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38"/>
          <p:cNvSpPr txBox="1"/>
          <p:nvPr/>
        </p:nvSpPr>
        <p:spPr>
          <a:xfrm>
            <a:off x="1170432" y="1874520"/>
            <a:ext cx="568756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Two slots, every call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 system prompt (the standing rules) and your message (what you want right now).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38"/>
          <p:cNvSpPr/>
          <p:nvPr/>
        </p:nvSpPr>
        <p:spPr>
          <a:xfrm>
            <a:off x="548640" y="316382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38"/>
          <p:cNvSpPr txBox="1"/>
          <p:nvPr/>
        </p:nvSpPr>
        <p:spPr>
          <a:xfrm>
            <a:off x="548640" y="316382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38"/>
          <p:cNvSpPr txBox="1"/>
          <p:nvPr/>
        </p:nvSpPr>
        <p:spPr>
          <a:xfrm>
            <a:off x="1170432" y="3108960"/>
            <a:ext cx="568756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The goal lives in the system prompt</a:t>
            </a:r>
            <a:b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It stays fixed while questions come and go across the conversation.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38"/>
          <p:cNvSpPr/>
          <p:nvPr/>
        </p:nvSpPr>
        <p:spPr>
          <a:xfrm>
            <a:off x="548640" y="439826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38"/>
          <p:cNvSpPr txBox="1"/>
          <p:nvPr/>
        </p:nvSpPr>
        <p:spPr>
          <a:xfrm>
            <a:off x="548640" y="439826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38"/>
          <p:cNvSpPr txBox="1"/>
          <p:nvPr/>
        </p:nvSpPr>
        <p:spPr>
          <a:xfrm>
            <a:off x="1170432" y="4343400"/>
            <a:ext cx="568756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Change the rules, change the model</a:t>
            </a:r>
            <a:b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Edit the system prompt and you change who the model is — without touching a single question.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38"/>
          <p:cNvSpPr/>
          <p:nvPr/>
        </p:nvSpPr>
        <p:spPr>
          <a:xfrm>
            <a:off x="7178040" y="1929384"/>
            <a:ext cx="4480560" cy="4343400"/>
          </a:xfrm>
          <a:prstGeom prst="roundRect">
            <a:avLst>
              <a:gd name="adj" fmla="val 210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38"/>
          <p:cNvSpPr txBox="1"/>
          <p:nvPr/>
        </p:nvSpPr>
        <p:spPr>
          <a:xfrm>
            <a:off x="7406640" y="21305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IN CODE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38"/>
          <p:cNvSpPr txBox="1"/>
          <p:nvPr/>
        </p:nvSpPr>
        <p:spPr>
          <a:xfrm>
            <a:off x="7406640" y="2478024"/>
            <a:ext cx="402336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messages = [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{"role": "system",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 "content": "You are a strict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 but encouraging study coach."},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{"role": "user",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 "content": "Plan my exam week"}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3" name="Google Shape;1163;p38"/>
          <p:cNvCxnSpPr/>
          <p:nvPr/>
        </p:nvCxnSpPr>
        <p:spPr>
          <a:xfrm>
            <a:off x="7589520" y="4626864"/>
            <a:ext cx="3749040" cy="0"/>
          </a:xfrm>
          <a:prstGeom prst="straightConnector1">
            <a:avLst/>
          </a:prstGeom>
          <a:noFill/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4" name="Google Shape;1164;p38"/>
          <p:cNvSpPr txBox="1"/>
          <p:nvPr/>
        </p:nvSpPr>
        <p:spPr>
          <a:xfrm>
            <a:off x="7406640" y="4764024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system = the goal, fixed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38"/>
          <p:cNvSpPr txBox="1"/>
          <p:nvPr/>
        </p:nvSpPr>
        <p:spPr>
          <a:xfrm>
            <a:off x="7406640" y="5084064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user = the question, changes every turn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38"/>
          <p:cNvSpPr txBox="1"/>
          <p:nvPr/>
        </p:nvSpPr>
        <p:spPr>
          <a:xfrm>
            <a:off x="7406640" y="5586984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You'll edit only the system message in the next three demos.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4;p3" descr="/home/claude/build/assets/vit_logo.png">
            <a:extLst>
              <a:ext uri="{FF2B5EF4-FFF2-40B4-BE49-F238E27FC236}">
                <a16:creationId xmlns:a16="http://schemas.microsoft.com/office/drawing/2014/main" id="{0FC99022-33FC-4DD3-990B-9EB70204706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CABA7582-7EE4-1039-A7DD-0BA7D3A6514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39"/>
          <p:cNvSpPr txBox="1"/>
          <p:nvPr/>
        </p:nvSpPr>
        <p:spPr>
          <a:xfrm>
            <a:off x="548640" y="66590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TUNING THE GOAL  ·  1 OF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39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39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39"/>
          <p:cNvSpPr txBox="1"/>
          <p:nvPr/>
        </p:nvSpPr>
        <p:spPr>
          <a:xfrm>
            <a:off x="548640" y="858413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Wording — same goal, different words.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39"/>
          <p:cNvSpPr txBox="1"/>
          <p:nvPr/>
        </p:nvSpPr>
        <p:spPr>
          <a:xfrm>
            <a:off x="548640" y="1499616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Two system prompts below both mean roughly “be a helpful study buddy” — just worded differently.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39"/>
          <p:cNvSpPr/>
          <p:nvPr/>
        </p:nvSpPr>
        <p:spPr>
          <a:xfrm>
            <a:off x="548640" y="201168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121A33"/>
          </a:solidFill>
          <a:ln w="15875" cap="flat" cmpd="sng">
            <a:solidFill>
              <a:srgbClr val="8B9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39"/>
          <p:cNvSpPr txBox="1"/>
          <p:nvPr/>
        </p:nvSpPr>
        <p:spPr>
          <a:xfrm>
            <a:off x="822960" y="21945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3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8B93FF"/>
                </a:solidFill>
                <a:latin typeface="Calibri"/>
                <a:ea typeface="Calibri"/>
                <a:cs typeface="Calibri"/>
                <a:sym typeface="Calibri"/>
              </a:rPr>
              <a:t>VERSION 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39"/>
          <p:cNvSpPr txBox="1"/>
          <p:nvPr/>
        </p:nvSpPr>
        <p:spPr>
          <a:xfrm>
            <a:off x="822960" y="2514600"/>
            <a:ext cx="46634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“You are a supportive tutor who helps students plan their study time effectively.”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39"/>
          <p:cNvSpPr/>
          <p:nvPr/>
        </p:nvSpPr>
        <p:spPr>
          <a:xfrm>
            <a:off x="6035040" y="201168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121A33"/>
          </a:solidFill>
          <a:ln w="15875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39"/>
          <p:cNvSpPr txBox="1"/>
          <p:nvPr/>
        </p:nvSpPr>
        <p:spPr>
          <a:xfrm>
            <a:off x="6309360" y="21945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VERSION 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39"/>
          <p:cNvSpPr txBox="1"/>
          <p:nvPr/>
        </p:nvSpPr>
        <p:spPr>
          <a:xfrm>
            <a:off x="6309360" y="2514600"/>
            <a:ext cx="46634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“Be a no-nonsense accountability partner. Push the student to commit to a schedule now.”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39"/>
          <p:cNvSpPr/>
          <p:nvPr/>
        </p:nvSpPr>
        <p:spPr>
          <a:xfrm>
            <a:off x="548640" y="4297680"/>
            <a:ext cx="10698480" cy="1051560"/>
          </a:xfrm>
          <a:prstGeom prst="roundRect">
            <a:avLst>
              <a:gd name="adj" fmla="val 8696"/>
            </a:avLst>
          </a:prstGeom>
          <a:solidFill>
            <a:srgbClr val="0E1730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39"/>
          <p:cNvSpPr txBox="1"/>
          <p:nvPr/>
        </p:nvSpPr>
        <p:spPr>
          <a:xfrm>
            <a:off x="822960" y="4434840"/>
            <a:ext cx="10149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Run both on the exact same question — same model, same question.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Version A comes back gentle and exploratory; Version B comes back direct and time-boxed. Nothing changed but the wording.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39"/>
          <p:cNvSpPr/>
          <p:nvPr/>
        </p:nvSpPr>
        <p:spPr>
          <a:xfrm>
            <a:off x="548640" y="5577840"/>
            <a:ext cx="5669280" cy="457200"/>
          </a:xfrm>
          <a:prstGeom prst="roundRect">
            <a:avLst>
              <a:gd name="adj" fmla="val 16000"/>
            </a:avLst>
          </a:prstGeom>
          <a:solidFill>
            <a:srgbClr val="0E1730"/>
          </a:solidFill>
          <a:ln w="1270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39"/>
          <p:cNvSpPr txBox="1"/>
          <p:nvPr/>
        </p:nvSpPr>
        <p:spPr>
          <a:xfrm>
            <a:off x="640080" y="55778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PROMPT ENGINEERING IS A REAL SKILL — NOT JUST TYPING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4;p3" descr="/home/claude/build/assets/vit_logo.png">
            <a:extLst>
              <a:ext uri="{FF2B5EF4-FFF2-40B4-BE49-F238E27FC236}">
                <a16:creationId xmlns:a16="http://schemas.microsoft.com/office/drawing/2014/main" id="{54841BD6-6D17-6E5D-751B-749164F859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5054980F-0234-7B5A-3248-D31502AD979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40"/>
          <p:cNvSpPr txBox="1"/>
          <p:nvPr/>
        </p:nvSpPr>
        <p:spPr>
          <a:xfrm>
            <a:off x="548640" y="111564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TUNING THE GOAL  ·  2 OF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40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40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40"/>
          <p:cNvSpPr txBox="1"/>
          <p:nvPr/>
        </p:nvSpPr>
        <p:spPr>
          <a:xfrm>
            <a:off x="548640" y="1444832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Personality — same goal, different voice.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40"/>
          <p:cNvSpPr txBox="1"/>
          <p:nvPr/>
        </p:nvSpPr>
        <p:spPr>
          <a:xfrm>
            <a:off x="548640" y="20117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Same task — “help me plan my exam week” — three completely different voices delivering it.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40"/>
          <p:cNvSpPr/>
          <p:nvPr/>
        </p:nvSpPr>
        <p:spPr>
          <a:xfrm>
            <a:off x="548640" y="260612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121A33"/>
          </a:solidFill>
          <a:ln w="15875" cap="flat" cmpd="sng">
            <a:solidFill>
              <a:srgbClr val="FF8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40"/>
          <p:cNvSpPr/>
          <p:nvPr/>
        </p:nvSpPr>
        <p:spPr>
          <a:xfrm>
            <a:off x="1947672" y="2834720"/>
            <a:ext cx="731520" cy="731520"/>
          </a:xfrm>
          <a:prstGeom prst="ellipse">
            <a:avLst/>
          </a:prstGeom>
          <a:solidFill>
            <a:srgbClr val="0E1730"/>
          </a:solidFill>
          <a:ln w="19050" cap="flat" cmpd="sng">
            <a:solidFill>
              <a:srgbClr val="FF8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40"/>
          <p:cNvSpPr txBox="1"/>
          <p:nvPr/>
        </p:nvSpPr>
        <p:spPr>
          <a:xfrm>
            <a:off x="1947672" y="28347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8A80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8A8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40"/>
          <p:cNvSpPr txBox="1"/>
          <p:nvPr/>
        </p:nvSpPr>
        <p:spPr>
          <a:xfrm>
            <a:off x="777240" y="37034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The Strict Coach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40"/>
          <p:cNvSpPr txBox="1"/>
          <p:nvPr/>
        </p:nvSpPr>
        <p:spPr>
          <a:xfrm>
            <a:off x="822960" y="411488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“No excuses. Two hours, phone in the other room, starting now.”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40"/>
          <p:cNvSpPr/>
          <p:nvPr/>
        </p:nvSpPr>
        <p:spPr>
          <a:xfrm>
            <a:off x="4270248" y="260612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121A33"/>
          </a:solidFill>
          <a:ln w="15875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40"/>
          <p:cNvSpPr/>
          <p:nvPr/>
        </p:nvSpPr>
        <p:spPr>
          <a:xfrm>
            <a:off x="5669280" y="2834720"/>
            <a:ext cx="731520" cy="731520"/>
          </a:xfrm>
          <a:prstGeom prst="ellipse">
            <a:avLst/>
          </a:prstGeom>
          <a:solidFill>
            <a:srgbClr val="0E1730"/>
          </a:solidFill>
          <a:ln w="19050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40"/>
          <p:cNvSpPr txBox="1"/>
          <p:nvPr/>
        </p:nvSpPr>
        <p:spPr>
          <a:xfrm>
            <a:off x="5669280" y="28347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40"/>
          <p:cNvSpPr txBox="1"/>
          <p:nvPr/>
        </p:nvSpPr>
        <p:spPr>
          <a:xfrm>
            <a:off x="4498848" y="37034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The Comedian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40"/>
          <p:cNvSpPr txBox="1"/>
          <p:nvPr/>
        </p:nvSpPr>
        <p:spPr>
          <a:xfrm>
            <a:off x="4544568" y="411488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“Studying for finals is basically cardio for your brain — let's warm up.”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40"/>
          <p:cNvSpPr/>
          <p:nvPr/>
        </p:nvSpPr>
        <p:spPr>
          <a:xfrm>
            <a:off x="7991856" y="260612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121A33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40"/>
          <p:cNvSpPr/>
          <p:nvPr/>
        </p:nvSpPr>
        <p:spPr>
          <a:xfrm>
            <a:off x="9390888" y="2834720"/>
            <a:ext cx="731520" cy="731520"/>
          </a:xfrm>
          <a:prstGeom prst="ellipse">
            <a:avLst/>
          </a:prstGeom>
          <a:solidFill>
            <a:srgbClr val="0E1730"/>
          </a:solidFill>
          <a:ln w="1905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40"/>
          <p:cNvSpPr txBox="1"/>
          <p:nvPr/>
        </p:nvSpPr>
        <p:spPr>
          <a:xfrm>
            <a:off x="9390888" y="28347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40"/>
          <p:cNvSpPr txBox="1"/>
          <p:nvPr/>
        </p:nvSpPr>
        <p:spPr>
          <a:xfrm>
            <a:off x="8220456" y="37034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50"/>
              <a:buFont typeface="Calibri"/>
              <a:buNone/>
            </a:pPr>
            <a:r>
              <a:rPr lang="en-US" sz="14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The Pirate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40"/>
          <p:cNvSpPr txBox="1"/>
          <p:nvPr/>
        </p:nvSpPr>
        <p:spPr>
          <a:xfrm>
            <a:off x="8266176" y="411488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“Arrr, chart yer course through these seas of syllabi, matey.”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40"/>
          <p:cNvSpPr txBox="1"/>
          <p:nvPr/>
        </p:nvSpPr>
        <p:spPr>
          <a:xfrm>
            <a:off x="548640" y="5532200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Nothing about the model changed — only the instructions describing who it should be. Guess which one the room laughs at before you run it live.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4;p3" descr="/home/claude/build/assets/vit_logo.png">
            <a:extLst>
              <a:ext uri="{FF2B5EF4-FFF2-40B4-BE49-F238E27FC236}">
                <a16:creationId xmlns:a16="http://schemas.microsoft.com/office/drawing/2014/main" id="{DF34FACC-DDF7-FB83-E03E-E0683495BC3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F6C63203-F89F-82A2-9619-D44EF502ACD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41"/>
          <p:cNvSpPr txBox="1"/>
          <p:nvPr/>
        </p:nvSpPr>
        <p:spPr>
          <a:xfrm>
            <a:off x="548640" y="908625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TUNING THE GOAL  ·  3 OF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41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41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41"/>
          <p:cNvSpPr txBox="1"/>
          <p:nvPr/>
        </p:nvSpPr>
        <p:spPr>
          <a:xfrm>
            <a:off x="548640" y="1015786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Temperature — how much risk it takes.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41"/>
          <p:cNvSpPr txBox="1"/>
          <p:nvPr/>
        </p:nvSpPr>
        <p:spPr>
          <a:xfrm>
            <a:off x="603504" y="1719473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Temperature controls how “safe” vs. “adventurous” the model's word choices are.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41"/>
          <p:cNvSpPr/>
          <p:nvPr/>
        </p:nvSpPr>
        <p:spPr>
          <a:xfrm>
            <a:off x="914400" y="2377440"/>
            <a:ext cx="10058400" cy="128016"/>
          </a:xfrm>
          <a:prstGeom prst="roundRect">
            <a:avLst>
              <a:gd name="adj" fmla="val 50000"/>
            </a:avLst>
          </a:prstGeom>
          <a:solidFill>
            <a:srgbClr val="0E17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41"/>
          <p:cNvSpPr/>
          <p:nvPr/>
        </p:nvSpPr>
        <p:spPr>
          <a:xfrm>
            <a:off x="795528" y="2313432"/>
            <a:ext cx="256032" cy="256032"/>
          </a:xfrm>
          <a:prstGeom prst="ellipse">
            <a:avLst/>
          </a:prstGeom>
          <a:solidFill>
            <a:srgbClr val="3FD0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41"/>
          <p:cNvSpPr txBox="1"/>
          <p:nvPr/>
        </p:nvSpPr>
        <p:spPr>
          <a:xfrm>
            <a:off x="548640" y="26517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41"/>
          <p:cNvSpPr/>
          <p:nvPr/>
        </p:nvSpPr>
        <p:spPr>
          <a:xfrm>
            <a:off x="5138928" y="2313432"/>
            <a:ext cx="256032" cy="256032"/>
          </a:xfrm>
          <a:prstGeom prst="ellipse">
            <a:avLst/>
          </a:prstGeom>
          <a:solidFill>
            <a:srgbClr val="8B93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41"/>
          <p:cNvSpPr txBox="1"/>
          <p:nvPr/>
        </p:nvSpPr>
        <p:spPr>
          <a:xfrm>
            <a:off x="4892040" y="26517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3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8B93FF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41"/>
          <p:cNvSpPr/>
          <p:nvPr/>
        </p:nvSpPr>
        <p:spPr>
          <a:xfrm>
            <a:off x="10533888" y="2313432"/>
            <a:ext cx="256032" cy="256032"/>
          </a:xfrm>
          <a:prstGeom prst="ellipse">
            <a:avLst/>
          </a:prstGeom>
          <a:solidFill>
            <a:srgbClr val="FF8A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41"/>
          <p:cNvSpPr txBox="1"/>
          <p:nvPr/>
        </p:nvSpPr>
        <p:spPr>
          <a:xfrm>
            <a:off x="10287000" y="26517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8A80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8A8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41"/>
          <p:cNvSpPr/>
          <p:nvPr/>
        </p:nvSpPr>
        <p:spPr>
          <a:xfrm>
            <a:off x="548640" y="315468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121A33"/>
          </a:solidFill>
          <a:ln w="1270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41"/>
          <p:cNvSpPr txBox="1"/>
          <p:nvPr/>
        </p:nvSpPr>
        <p:spPr>
          <a:xfrm>
            <a:off x="777240" y="3246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Low (0)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41"/>
          <p:cNvSpPr txBox="1"/>
          <p:nvPr/>
        </p:nvSpPr>
        <p:spPr>
          <a:xfrm>
            <a:off x="2651760" y="3246120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Consistent, tends to repeat the same safe answer every run.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41"/>
          <p:cNvSpPr txBox="1"/>
          <p:nvPr/>
        </p:nvSpPr>
        <p:spPr>
          <a:xfrm>
            <a:off x="6675120" y="3246120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“Make a balanced schedule with breaks.” (same, every time)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41"/>
          <p:cNvSpPr/>
          <p:nvPr/>
        </p:nvSpPr>
        <p:spPr>
          <a:xfrm>
            <a:off x="548640" y="411480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121A33"/>
          </a:solidFill>
          <a:ln w="12700" cap="flat" cmpd="sng">
            <a:solidFill>
              <a:srgbClr val="8B9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41"/>
          <p:cNvSpPr txBox="1"/>
          <p:nvPr/>
        </p:nvSpPr>
        <p:spPr>
          <a:xfrm>
            <a:off x="777240" y="42062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3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8B93FF"/>
                </a:solidFill>
                <a:latin typeface="Calibri"/>
                <a:ea typeface="Calibri"/>
                <a:cs typeface="Calibri"/>
                <a:sym typeface="Calibri"/>
              </a:rPr>
              <a:t>Medium (0.5-0.7)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41"/>
          <p:cNvSpPr txBox="1"/>
          <p:nvPr/>
        </p:nvSpPr>
        <p:spPr>
          <a:xfrm>
            <a:off x="2651760" y="4206240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The everyday default — some variety, still on-topic and reliable.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41"/>
          <p:cNvSpPr txBox="1"/>
          <p:nvPr/>
        </p:nvSpPr>
        <p:spPr>
          <a:xfrm>
            <a:off x="6675120" y="4206240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Similar advice, different phrasing and emphasis each run.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41"/>
          <p:cNvSpPr/>
          <p:nvPr/>
        </p:nvSpPr>
        <p:spPr>
          <a:xfrm>
            <a:off x="548640" y="507492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121A33"/>
          </a:solidFill>
          <a:ln w="12700" cap="flat" cmpd="sng">
            <a:solidFill>
              <a:srgbClr val="FF8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41"/>
          <p:cNvSpPr txBox="1"/>
          <p:nvPr/>
        </p:nvSpPr>
        <p:spPr>
          <a:xfrm>
            <a:off x="777240" y="51663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8A80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8A80"/>
                </a:solidFill>
                <a:latin typeface="Calibri"/>
                <a:ea typeface="Calibri"/>
                <a:cs typeface="Calibri"/>
                <a:sym typeface="Calibri"/>
              </a:rPr>
              <a:t>High (1)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41"/>
          <p:cNvSpPr txBox="1"/>
          <p:nvPr/>
        </p:nvSpPr>
        <p:spPr>
          <a:xfrm>
            <a:off x="2651760" y="5166360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More varied — same prompt, a noticeably different answer each time.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41"/>
          <p:cNvSpPr txBox="1"/>
          <p:nvPr/>
        </p:nvSpPr>
        <p:spPr>
          <a:xfrm>
            <a:off x="6675120" y="5166360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Sometimes creative, occasionally rambles off the point.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4;p3" descr="/home/claude/build/assets/vit_logo.png">
            <a:extLst>
              <a:ext uri="{FF2B5EF4-FFF2-40B4-BE49-F238E27FC236}">
                <a16:creationId xmlns:a16="http://schemas.microsoft.com/office/drawing/2014/main" id="{6C2889FA-3FD1-2F03-9D08-FA848AE135D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435CC0BE-F670-CED5-BB6B-A3A8DD16780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42"/>
          <p:cNvSpPr txBox="1"/>
          <p:nvPr/>
        </p:nvSpPr>
        <p:spPr>
          <a:xfrm>
            <a:off x="601579" y="87389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BUILDING BLOCK 3 OF 4  ·  PREVIEW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42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42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42"/>
          <p:cNvSpPr txBox="1"/>
          <p:nvPr/>
        </p:nvSpPr>
        <p:spPr>
          <a:xfrm>
            <a:off x="548640" y="1073819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Tools — how it reaches the outside world.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42"/>
          <p:cNvSpPr txBox="1"/>
          <p:nvPr/>
        </p:nvSpPr>
        <p:spPr>
          <a:xfrm>
            <a:off x="594360" y="1823025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Functions the model is allowed to call: search, a calculator, a calendar, your own code.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42"/>
          <p:cNvSpPr/>
          <p:nvPr/>
        </p:nvSpPr>
        <p:spPr>
          <a:xfrm>
            <a:off x="594360" y="2508825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21A33"/>
          </a:solidFill>
          <a:ln w="12700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42"/>
          <p:cNvSpPr txBox="1"/>
          <p:nvPr/>
        </p:nvSpPr>
        <p:spPr>
          <a:xfrm>
            <a:off x="594360" y="2737425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42"/>
          <p:cNvSpPr txBox="1"/>
          <p:nvPr/>
        </p:nvSpPr>
        <p:spPr>
          <a:xfrm>
            <a:off x="731520" y="3423225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42"/>
          <p:cNvSpPr txBox="1"/>
          <p:nvPr/>
        </p:nvSpPr>
        <p:spPr>
          <a:xfrm>
            <a:off x="777240" y="3788985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Look something up instead of guessing from memory.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42"/>
          <p:cNvSpPr/>
          <p:nvPr/>
        </p:nvSpPr>
        <p:spPr>
          <a:xfrm>
            <a:off x="3383280" y="2508825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21A33"/>
          </a:solidFill>
          <a:ln w="12700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42"/>
          <p:cNvSpPr txBox="1"/>
          <p:nvPr/>
        </p:nvSpPr>
        <p:spPr>
          <a:xfrm>
            <a:off x="3383280" y="2737425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📅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42"/>
          <p:cNvSpPr txBox="1"/>
          <p:nvPr/>
        </p:nvSpPr>
        <p:spPr>
          <a:xfrm>
            <a:off x="3520440" y="3423225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Calendar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42"/>
          <p:cNvSpPr txBox="1"/>
          <p:nvPr/>
        </p:nvSpPr>
        <p:spPr>
          <a:xfrm>
            <a:off x="3566160" y="3788985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Turn “I should check the calendar” into an actual check.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42"/>
          <p:cNvSpPr/>
          <p:nvPr/>
        </p:nvSpPr>
        <p:spPr>
          <a:xfrm>
            <a:off x="6172200" y="2508825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21A33"/>
          </a:solidFill>
          <a:ln w="12700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42"/>
          <p:cNvSpPr txBox="1"/>
          <p:nvPr/>
        </p:nvSpPr>
        <p:spPr>
          <a:xfrm>
            <a:off x="6172200" y="2737425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🧮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42"/>
          <p:cNvSpPr txBox="1"/>
          <p:nvPr/>
        </p:nvSpPr>
        <p:spPr>
          <a:xfrm>
            <a:off x="6309360" y="3423225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Calculator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42"/>
          <p:cNvSpPr txBox="1"/>
          <p:nvPr/>
        </p:nvSpPr>
        <p:spPr>
          <a:xfrm>
            <a:off x="6355080" y="3788985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Get exact numbers instead of an approximated guess.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42"/>
          <p:cNvSpPr/>
          <p:nvPr/>
        </p:nvSpPr>
        <p:spPr>
          <a:xfrm>
            <a:off x="8961120" y="2508825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21A33"/>
          </a:solidFill>
          <a:ln w="12700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42"/>
          <p:cNvSpPr txBox="1"/>
          <p:nvPr/>
        </p:nvSpPr>
        <p:spPr>
          <a:xfrm>
            <a:off x="8961120" y="2737425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42"/>
          <p:cNvSpPr txBox="1"/>
          <p:nvPr/>
        </p:nvSpPr>
        <p:spPr>
          <a:xfrm>
            <a:off x="9098280" y="3423225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Your own code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42"/>
          <p:cNvSpPr txBox="1"/>
          <p:nvPr/>
        </p:nvSpPr>
        <p:spPr>
          <a:xfrm>
            <a:off x="9144000" y="3788985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Any function you write becomes something Atlas can call.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42"/>
          <p:cNvSpPr/>
          <p:nvPr/>
        </p:nvSpPr>
        <p:spPr>
          <a:xfrm>
            <a:off x="594360" y="5160585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0E1730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42"/>
          <p:cNvSpPr txBox="1"/>
          <p:nvPr/>
        </p:nvSpPr>
        <p:spPr>
          <a:xfrm>
            <a:off x="868680" y="5160585"/>
            <a:ext cx="10149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Covered in depth in Session 2, with Arnab — today you just need to know the block exists.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4;p3" descr="/home/claude/build/assets/vit_logo.png">
            <a:extLst>
              <a:ext uri="{FF2B5EF4-FFF2-40B4-BE49-F238E27FC236}">
                <a16:creationId xmlns:a16="http://schemas.microsoft.com/office/drawing/2014/main" id="{359CBE8A-78BC-75D8-A920-581AAC481FB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BD9AED78-CCFB-0FA4-6D3C-0715FA3959E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43"/>
          <p:cNvSpPr txBox="1"/>
          <p:nvPr/>
        </p:nvSpPr>
        <p:spPr>
          <a:xfrm>
            <a:off x="548640" y="806757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BUILDING BLOCK 4 OF 4  ·  PREVIEW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43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43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43"/>
          <p:cNvSpPr txBox="1"/>
          <p:nvPr/>
        </p:nvSpPr>
        <p:spPr>
          <a:xfrm>
            <a:off x="548640" y="1007925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Memory — how it remembers.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43"/>
          <p:cNvSpPr/>
          <p:nvPr/>
        </p:nvSpPr>
        <p:spPr>
          <a:xfrm>
            <a:off x="548640" y="2032053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121A33"/>
          </a:solidFill>
          <a:ln w="15875" cap="flat" cmpd="sng">
            <a:solidFill>
              <a:srgbClr val="5FD9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43"/>
          <p:cNvSpPr txBox="1"/>
          <p:nvPr/>
        </p:nvSpPr>
        <p:spPr>
          <a:xfrm>
            <a:off x="822960" y="2260653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5FD9A4"/>
                </a:solidFill>
                <a:latin typeface="Calibri"/>
                <a:ea typeface="Calibri"/>
                <a:cs typeface="Calibri"/>
                <a:sym typeface="Calibri"/>
              </a:rPr>
              <a:t>SHORT-TERM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43"/>
          <p:cNvSpPr txBox="1"/>
          <p:nvPr/>
        </p:nvSpPr>
        <p:spPr>
          <a:xfrm>
            <a:off x="822960" y="2626413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What's happened so far within this one task.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43"/>
          <p:cNvSpPr txBox="1"/>
          <p:nvPr/>
        </p:nvSpPr>
        <p:spPr>
          <a:xfrm>
            <a:off x="822960" y="3312213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e.g. “Already checked Monday and Tuesday — 2 slots found.”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43"/>
          <p:cNvSpPr txBox="1"/>
          <p:nvPr/>
        </p:nvSpPr>
        <p:spPr>
          <a:xfrm>
            <a:off x="822960" y="4775253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Gone once the task ends.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43"/>
          <p:cNvSpPr/>
          <p:nvPr/>
        </p:nvSpPr>
        <p:spPr>
          <a:xfrm>
            <a:off x="6035040" y="2032053"/>
            <a:ext cx="5577840" cy="3291840"/>
          </a:xfrm>
          <a:prstGeom prst="roundRect">
            <a:avLst>
              <a:gd name="adj" fmla="val 2778"/>
            </a:avLst>
          </a:prstGeom>
          <a:solidFill>
            <a:srgbClr val="0E1730"/>
          </a:solidFill>
          <a:ln w="15875" cap="flat" cmpd="sng">
            <a:solidFill>
              <a:srgbClr val="8B9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43"/>
          <p:cNvSpPr txBox="1"/>
          <p:nvPr/>
        </p:nvSpPr>
        <p:spPr>
          <a:xfrm>
            <a:off x="6309360" y="2260653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3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8B93FF"/>
                </a:solidFill>
                <a:latin typeface="Calibri"/>
                <a:ea typeface="Calibri"/>
                <a:cs typeface="Calibri"/>
                <a:sym typeface="Calibri"/>
              </a:rPr>
              <a:t>LONG-TERM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43"/>
          <p:cNvSpPr txBox="1"/>
          <p:nvPr/>
        </p:nvSpPr>
        <p:spPr>
          <a:xfrm>
            <a:off x="6309360" y="2626413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Facts saved and reused across sessions.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43"/>
          <p:cNvSpPr txBox="1"/>
          <p:nvPr/>
        </p:nvSpPr>
        <p:spPr>
          <a:xfrm>
            <a:off x="6309360" y="3312213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e.g. “This student prefers evening study slots and hates Mondays.”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43"/>
          <p:cNvSpPr txBox="1"/>
          <p:nvPr/>
        </p:nvSpPr>
        <p:spPr>
          <a:xfrm>
            <a:off x="6309360" y="4775253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Persists until it's deliberately updated or cleared.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43"/>
          <p:cNvSpPr/>
          <p:nvPr/>
        </p:nvSpPr>
        <p:spPr>
          <a:xfrm>
            <a:off x="548640" y="5506773"/>
            <a:ext cx="11109960" cy="777240"/>
          </a:xfrm>
          <a:prstGeom prst="roundRect">
            <a:avLst>
              <a:gd name="adj" fmla="val 11765"/>
            </a:avLst>
          </a:prstGeom>
          <a:solidFill>
            <a:srgbClr val="0E1730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43"/>
          <p:cNvSpPr txBox="1"/>
          <p:nvPr/>
        </p:nvSpPr>
        <p:spPr>
          <a:xfrm>
            <a:off x="822960" y="5506773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Covered in depth in Session 3, with Aarav.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4;p3" descr="/home/claude/build/assets/vit_logo.png">
            <a:extLst>
              <a:ext uri="{FF2B5EF4-FFF2-40B4-BE49-F238E27FC236}">
                <a16:creationId xmlns:a16="http://schemas.microsoft.com/office/drawing/2014/main" id="{DAAC8AFB-3D54-7BEC-9F7B-8E2B8DB1A75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3C6174A3-B193-5C71-AE18-9F5BBFECD1B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45"/>
          <p:cNvSpPr txBox="1"/>
          <p:nvPr/>
        </p:nvSpPr>
        <p:spPr>
          <a:xfrm>
            <a:off x="548640" y="730397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MEET THE AGENT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45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45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45"/>
          <p:cNvSpPr txBox="1"/>
          <p:nvPr/>
        </p:nvSpPr>
        <p:spPr>
          <a:xfrm>
            <a:off x="548640" y="949853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Meet Atlas.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45"/>
          <p:cNvSpPr/>
          <p:nvPr/>
        </p:nvSpPr>
        <p:spPr>
          <a:xfrm>
            <a:off x="548640" y="1920240"/>
            <a:ext cx="3566160" cy="4343400"/>
          </a:xfrm>
          <a:prstGeom prst="roundRect">
            <a:avLst>
              <a:gd name="adj" fmla="val 3077"/>
            </a:avLst>
          </a:prstGeom>
          <a:solidFill>
            <a:srgbClr val="0E1730"/>
          </a:solidFill>
          <a:ln w="1905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45"/>
          <p:cNvSpPr/>
          <p:nvPr/>
        </p:nvSpPr>
        <p:spPr>
          <a:xfrm>
            <a:off x="1508760" y="2286000"/>
            <a:ext cx="1645920" cy="1645920"/>
          </a:xfrm>
          <a:prstGeom prst="ellipse">
            <a:avLst/>
          </a:prstGeom>
          <a:solidFill>
            <a:srgbClr val="121A33"/>
          </a:solidFill>
          <a:ln w="2540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45"/>
          <p:cNvSpPr/>
          <p:nvPr/>
        </p:nvSpPr>
        <p:spPr>
          <a:xfrm>
            <a:off x="2212848" y="2880360"/>
            <a:ext cx="256032" cy="256032"/>
          </a:xfrm>
          <a:prstGeom prst="star4">
            <a:avLst>
              <a:gd name="adj" fmla="val 12500"/>
            </a:avLst>
          </a:prstGeom>
          <a:solidFill>
            <a:srgbClr val="3FD0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45"/>
          <p:cNvSpPr txBox="1"/>
          <p:nvPr/>
        </p:nvSpPr>
        <p:spPr>
          <a:xfrm>
            <a:off x="731520" y="41148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Your agent for today.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45"/>
          <p:cNvSpPr txBox="1"/>
          <p:nvPr/>
        </p:nvSpPr>
        <p:spPr>
          <a:xfrm>
            <a:off x="914400" y="4617720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Reasons, acts, and observes in a loop — built live, in this session, by you.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45"/>
          <p:cNvSpPr/>
          <p:nvPr/>
        </p:nvSpPr>
        <p:spPr>
          <a:xfrm>
            <a:off x="4434840" y="1920240"/>
            <a:ext cx="7178040" cy="4343400"/>
          </a:xfrm>
          <a:prstGeom prst="roundRect">
            <a:avLst>
              <a:gd name="adj" fmla="val 2105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45"/>
          <p:cNvSpPr txBox="1"/>
          <p:nvPr/>
        </p:nvSpPr>
        <p:spPr>
          <a:xfrm>
            <a:off x="4709160" y="21488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ATLAS — SPEC SHEET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45"/>
          <p:cNvSpPr txBox="1"/>
          <p:nvPr/>
        </p:nvSpPr>
        <p:spPr>
          <a:xfrm>
            <a:off x="4709160" y="260604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45"/>
          <p:cNvSpPr txBox="1"/>
          <p:nvPr/>
        </p:nvSpPr>
        <p:spPr>
          <a:xfrm>
            <a:off x="6309360" y="26060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Groq-hosted LLM, called directly from Python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6" name="Google Shape;1346;p45"/>
          <p:cNvCxnSpPr/>
          <p:nvPr/>
        </p:nvCxnSpPr>
        <p:spPr>
          <a:xfrm>
            <a:off x="4709160" y="3108960"/>
            <a:ext cx="662940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7" name="Google Shape;1347;p45"/>
          <p:cNvSpPr txBox="1"/>
          <p:nvPr/>
        </p:nvSpPr>
        <p:spPr>
          <a:xfrm>
            <a:off x="4709160" y="3383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45"/>
          <p:cNvSpPr txBox="1"/>
          <p:nvPr/>
        </p:nvSpPr>
        <p:spPr>
          <a:xfrm>
            <a:off x="6309360" y="33832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One goal at a time, written in plain English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9" name="Google Shape;1349;p45"/>
          <p:cNvCxnSpPr/>
          <p:nvPr/>
        </p:nvCxnSpPr>
        <p:spPr>
          <a:xfrm>
            <a:off x="4709160" y="3886200"/>
            <a:ext cx="662940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0" name="Google Shape;1350;p45"/>
          <p:cNvSpPr txBox="1"/>
          <p:nvPr/>
        </p:nvSpPr>
        <p:spPr>
          <a:xfrm>
            <a:off x="4709160" y="416052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Loop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45"/>
          <p:cNvSpPr txBox="1"/>
          <p:nvPr/>
        </p:nvSpPr>
        <p:spPr>
          <a:xfrm>
            <a:off x="6309360" y="41605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Reason → Act → Observe, repeating until done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2" name="Google Shape;1352;p45"/>
          <p:cNvCxnSpPr/>
          <p:nvPr/>
        </p:nvCxnSpPr>
        <p:spPr>
          <a:xfrm>
            <a:off x="4709160" y="4663440"/>
            <a:ext cx="662940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3" name="Google Shape;1353;p45"/>
          <p:cNvSpPr txBox="1"/>
          <p:nvPr/>
        </p:nvSpPr>
        <p:spPr>
          <a:xfrm>
            <a:off x="4709160" y="49377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Built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45"/>
          <p:cNvSpPr txBox="1"/>
          <p:nvPr/>
        </p:nvSpPr>
        <p:spPr>
          <a:xfrm>
            <a:off x="6309360" y="493776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Live, in this notebook, in the next 20 minutes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45"/>
          <p:cNvSpPr txBox="1"/>
          <p:nvPr/>
        </p:nvSpPr>
        <p:spPr>
          <a:xfrm>
            <a:off x="4709160" y="5760720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Atlas is just code: a Python loop calling Groq. Nothing hidden, nothing magic.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4;p3" descr="/home/claude/build/assets/vit_logo.png">
            <a:extLst>
              <a:ext uri="{FF2B5EF4-FFF2-40B4-BE49-F238E27FC236}">
                <a16:creationId xmlns:a16="http://schemas.microsoft.com/office/drawing/2014/main" id="{00CDF2B5-D86A-CE20-F2FA-3AA52B159EF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61F92BC2-5D81-0170-7BF9-438F311C9D3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46"/>
          <p:cNvSpPr txBox="1"/>
          <p:nvPr/>
        </p:nvSpPr>
        <p:spPr>
          <a:xfrm>
            <a:off x="627888" y="85472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WHAT YOU'LL USE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46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46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46"/>
          <p:cNvSpPr txBox="1"/>
          <p:nvPr/>
        </p:nvSpPr>
        <p:spPr>
          <a:xfrm>
            <a:off x="563880" y="1039208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The kit.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46"/>
          <p:cNvSpPr/>
          <p:nvPr/>
        </p:nvSpPr>
        <p:spPr>
          <a:xfrm>
            <a:off x="563880" y="2063336"/>
            <a:ext cx="3520440" cy="3429000"/>
          </a:xfrm>
          <a:prstGeom prst="roundRect">
            <a:avLst>
              <a:gd name="adj" fmla="val 2667"/>
            </a:avLst>
          </a:prstGeom>
          <a:solidFill>
            <a:srgbClr val="121A33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46"/>
          <p:cNvSpPr/>
          <p:nvPr/>
        </p:nvSpPr>
        <p:spPr>
          <a:xfrm>
            <a:off x="1962912" y="2337656"/>
            <a:ext cx="731520" cy="731520"/>
          </a:xfrm>
          <a:prstGeom prst="ellipse">
            <a:avLst/>
          </a:prstGeom>
          <a:solidFill>
            <a:srgbClr val="0E1730"/>
          </a:solidFill>
          <a:ln w="1905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46"/>
          <p:cNvSpPr txBox="1"/>
          <p:nvPr/>
        </p:nvSpPr>
        <p:spPr>
          <a:xfrm>
            <a:off x="1962912" y="2337656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46"/>
          <p:cNvSpPr txBox="1"/>
          <p:nvPr/>
        </p:nvSpPr>
        <p:spPr>
          <a:xfrm>
            <a:off x="792480" y="3206336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700"/>
              <a:buFont typeface="Calibri"/>
              <a:buNone/>
            </a:pPr>
            <a:r>
              <a:rPr lang="en-US" sz="17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Groq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46"/>
          <p:cNvSpPr txBox="1"/>
          <p:nvPr/>
        </p:nvSpPr>
        <p:spPr>
          <a:xfrm>
            <a:off x="838200" y="3572096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The model doing the reasoning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46"/>
          <p:cNvSpPr txBox="1"/>
          <p:nvPr/>
        </p:nvSpPr>
        <p:spPr>
          <a:xfrm>
            <a:off x="838200" y="3937856"/>
            <a:ext cx="2971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Free, fast inference for open models like Llama — same API shape as OpenAI's.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46"/>
          <p:cNvSpPr/>
          <p:nvPr/>
        </p:nvSpPr>
        <p:spPr>
          <a:xfrm>
            <a:off x="4285488" y="2063336"/>
            <a:ext cx="3520440" cy="3429000"/>
          </a:xfrm>
          <a:prstGeom prst="roundRect">
            <a:avLst>
              <a:gd name="adj" fmla="val 2667"/>
            </a:avLst>
          </a:prstGeom>
          <a:solidFill>
            <a:srgbClr val="121A33"/>
          </a:solidFill>
          <a:ln w="15875" cap="flat" cmpd="sng">
            <a:solidFill>
              <a:srgbClr val="8B9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46"/>
          <p:cNvSpPr/>
          <p:nvPr/>
        </p:nvSpPr>
        <p:spPr>
          <a:xfrm>
            <a:off x="5684520" y="2337656"/>
            <a:ext cx="731520" cy="731520"/>
          </a:xfrm>
          <a:prstGeom prst="ellipse">
            <a:avLst/>
          </a:prstGeom>
          <a:solidFill>
            <a:srgbClr val="0E1730"/>
          </a:solidFill>
          <a:ln w="19050" cap="flat" cmpd="sng">
            <a:solidFill>
              <a:srgbClr val="8B9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46"/>
          <p:cNvSpPr txBox="1"/>
          <p:nvPr/>
        </p:nvSpPr>
        <p:spPr>
          <a:xfrm>
            <a:off x="5684520" y="2337656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3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8B93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46"/>
          <p:cNvSpPr txBox="1"/>
          <p:nvPr/>
        </p:nvSpPr>
        <p:spPr>
          <a:xfrm>
            <a:off x="4514088" y="3206336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700"/>
              <a:buFont typeface="Calibri"/>
              <a:buNone/>
            </a:pPr>
            <a:r>
              <a:rPr lang="en-US" sz="17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46"/>
          <p:cNvSpPr txBox="1"/>
          <p:nvPr/>
        </p:nvSpPr>
        <p:spPr>
          <a:xfrm>
            <a:off x="4559808" y="3572096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3FF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8B93FF"/>
                </a:solidFill>
                <a:latin typeface="Calibri"/>
                <a:ea typeface="Calibri"/>
                <a:cs typeface="Calibri"/>
                <a:sym typeface="Calibri"/>
              </a:rPr>
              <a:t>The language wiring it together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46"/>
          <p:cNvSpPr txBox="1"/>
          <p:nvPr/>
        </p:nvSpPr>
        <p:spPr>
          <a:xfrm>
            <a:off x="4559808" y="3937856"/>
            <a:ext cx="2971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 handful of lines to call the model, hold the loop, and call tools later.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46"/>
          <p:cNvSpPr/>
          <p:nvPr/>
        </p:nvSpPr>
        <p:spPr>
          <a:xfrm>
            <a:off x="8007096" y="2063336"/>
            <a:ext cx="3520440" cy="3429000"/>
          </a:xfrm>
          <a:prstGeom prst="roundRect">
            <a:avLst>
              <a:gd name="adj" fmla="val 2667"/>
            </a:avLst>
          </a:prstGeom>
          <a:solidFill>
            <a:srgbClr val="121A33"/>
          </a:solidFill>
          <a:ln w="15875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46"/>
          <p:cNvSpPr/>
          <p:nvPr/>
        </p:nvSpPr>
        <p:spPr>
          <a:xfrm>
            <a:off x="9406128" y="2337656"/>
            <a:ext cx="731520" cy="731520"/>
          </a:xfrm>
          <a:prstGeom prst="ellipse">
            <a:avLst/>
          </a:prstGeom>
          <a:solidFill>
            <a:srgbClr val="0E1730"/>
          </a:solidFill>
          <a:ln w="19050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46"/>
          <p:cNvSpPr txBox="1"/>
          <p:nvPr/>
        </p:nvSpPr>
        <p:spPr>
          <a:xfrm>
            <a:off x="9406128" y="2337656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46"/>
          <p:cNvSpPr txBox="1"/>
          <p:nvPr/>
        </p:nvSpPr>
        <p:spPr>
          <a:xfrm>
            <a:off x="8235696" y="3206336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700"/>
              <a:buFont typeface="Calibri"/>
              <a:buNone/>
            </a:pPr>
            <a:r>
              <a:rPr lang="en-US" sz="17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Colab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46"/>
          <p:cNvSpPr txBox="1"/>
          <p:nvPr/>
        </p:nvSpPr>
        <p:spPr>
          <a:xfrm>
            <a:off x="8281416" y="3572096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Where you'll write &amp; run it live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46"/>
          <p:cNvSpPr txBox="1"/>
          <p:nvPr/>
        </p:nvSpPr>
        <p:spPr>
          <a:xfrm>
            <a:off x="8281416" y="3937856"/>
            <a:ext cx="2971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Runs in your browser — nothing to install, and it's free to use.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46"/>
          <p:cNvSpPr/>
          <p:nvPr/>
        </p:nvSpPr>
        <p:spPr>
          <a:xfrm>
            <a:off x="2667000" y="5720936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0E1730"/>
          </a:solidFill>
          <a:ln w="1270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46"/>
          <p:cNvSpPr txBox="1"/>
          <p:nvPr/>
        </p:nvSpPr>
        <p:spPr>
          <a:xfrm>
            <a:off x="2758440" y="5720936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ALL THREE ARE FREE FOR EVERYTHING IN THIS WORKSHOP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4;p3" descr="/home/claude/build/assets/vit_logo.png">
            <a:extLst>
              <a:ext uri="{FF2B5EF4-FFF2-40B4-BE49-F238E27FC236}">
                <a16:creationId xmlns:a16="http://schemas.microsoft.com/office/drawing/2014/main" id="{5985488E-21DF-9676-CDBB-2466F47FEFA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41CB8AE9-8708-823E-C0B5-1642B0A1D58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47"/>
          <p:cNvSpPr txBox="1"/>
          <p:nvPr/>
        </p:nvSpPr>
        <p:spPr>
          <a:xfrm>
            <a:off x="548640" y="748685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THE KIT  ·  DEEP DIVE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47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47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47"/>
          <p:cNvSpPr txBox="1"/>
          <p:nvPr/>
        </p:nvSpPr>
        <p:spPr>
          <a:xfrm>
            <a:off x="548640" y="91440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What is Groq?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47"/>
          <p:cNvSpPr/>
          <p:nvPr/>
        </p:nvSpPr>
        <p:spPr>
          <a:xfrm>
            <a:off x="548640" y="193852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47"/>
          <p:cNvSpPr txBox="1"/>
          <p:nvPr/>
        </p:nvSpPr>
        <p:spPr>
          <a:xfrm>
            <a:off x="548640" y="193852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47"/>
          <p:cNvSpPr txBox="1"/>
          <p:nvPr/>
        </p:nvSpPr>
        <p:spPr>
          <a:xfrm>
            <a:off x="1170432" y="1883664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Runs open models, fast</a:t>
            </a:r>
            <a:br>
              <a:rPr lang="en-US" sz="14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 dirty="0" err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Groq</a:t>
            </a:r>
            <a:r>
              <a:rPr lang="en-US" sz="1400" dirty="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 runs open large language models (like Llama) through a simple API, built for very fast responses.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47"/>
          <p:cNvSpPr/>
          <p:nvPr/>
        </p:nvSpPr>
        <p:spPr>
          <a:xfrm>
            <a:off x="548640" y="3145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47"/>
          <p:cNvSpPr txBox="1"/>
          <p:nvPr/>
        </p:nvSpPr>
        <p:spPr>
          <a:xfrm>
            <a:off x="548640" y="31455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47"/>
          <p:cNvSpPr txBox="1"/>
          <p:nvPr/>
        </p:nvSpPr>
        <p:spPr>
          <a:xfrm>
            <a:off x="1170432" y="3090672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Same shape as ChatGPT's API</a:t>
            </a:r>
            <a:b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You call it the same way you'd call OpenAI's API — send a prompt, get a response back.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47"/>
          <p:cNvSpPr/>
          <p:nvPr/>
        </p:nvSpPr>
        <p:spPr>
          <a:xfrm>
            <a:off x="548640" y="435254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47"/>
          <p:cNvSpPr txBox="1"/>
          <p:nvPr/>
        </p:nvSpPr>
        <p:spPr>
          <a:xfrm>
            <a:off x="548640" y="435254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47"/>
          <p:cNvSpPr txBox="1"/>
          <p:nvPr/>
        </p:nvSpPr>
        <p:spPr>
          <a:xfrm>
            <a:off x="1170432" y="4297680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Free tier fits this workshop</a:t>
            </a:r>
            <a:b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Its free tier is a popular choice for quick, low-latency agent demos like today's.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47"/>
          <p:cNvSpPr/>
          <p:nvPr/>
        </p:nvSpPr>
        <p:spPr>
          <a:xfrm>
            <a:off x="7178040" y="1938528"/>
            <a:ext cx="4480560" cy="4343400"/>
          </a:xfrm>
          <a:prstGeom prst="roundRect">
            <a:avLst>
              <a:gd name="adj" fmla="val 210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47"/>
          <p:cNvSpPr txBox="1"/>
          <p:nvPr/>
        </p:nvSpPr>
        <p:spPr>
          <a:xfrm>
            <a:off x="7406640" y="21396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MINIMAL CALL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47"/>
          <p:cNvSpPr/>
          <p:nvPr/>
        </p:nvSpPr>
        <p:spPr>
          <a:xfrm>
            <a:off x="7406640" y="2487168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121A3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47"/>
          <p:cNvSpPr txBox="1"/>
          <p:nvPr/>
        </p:nvSpPr>
        <p:spPr>
          <a:xfrm>
            <a:off x="7589520" y="2624328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client.chat.completions.create(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model="openai/gpt-oss-120b",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  messages=[...]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D9A4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5FD9A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47"/>
          <p:cNvSpPr txBox="1"/>
          <p:nvPr/>
        </p:nvSpPr>
        <p:spPr>
          <a:xfrm>
            <a:off x="7406640" y="413308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vs. a typical closed API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47"/>
          <p:cNvSpPr txBox="1"/>
          <p:nvPr/>
        </p:nvSpPr>
        <p:spPr>
          <a:xfrm>
            <a:off x="7406640" y="445312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Cost to 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47"/>
          <p:cNvSpPr txBox="1"/>
          <p:nvPr/>
        </p:nvSpPr>
        <p:spPr>
          <a:xfrm>
            <a:off x="9235440" y="445312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Free tier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47"/>
          <p:cNvSpPr txBox="1"/>
          <p:nvPr/>
        </p:nvSpPr>
        <p:spPr>
          <a:xfrm>
            <a:off x="7406640" y="495604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Setup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47"/>
          <p:cNvSpPr txBox="1"/>
          <p:nvPr/>
        </p:nvSpPr>
        <p:spPr>
          <a:xfrm>
            <a:off x="9235440" y="495604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One API key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47"/>
          <p:cNvSpPr txBox="1"/>
          <p:nvPr/>
        </p:nvSpPr>
        <p:spPr>
          <a:xfrm>
            <a:off x="7406640" y="545896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Model choice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47"/>
          <p:cNvSpPr txBox="1"/>
          <p:nvPr/>
        </p:nvSpPr>
        <p:spPr>
          <a:xfrm>
            <a:off x="9235440" y="545896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Several open models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4;p3" descr="/home/claude/build/assets/vit_logo.png">
            <a:extLst>
              <a:ext uri="{FF2B5EF4-FFF2-40B4-BE49-F238E27FC236}">
                <a16:creationId xmlns:a16="http://schemas.microsoft.com/office/drawing/2014/main" id="{D039DB58-3F57-2607-BB2D-A9342F12233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B25F3DAD-032F-78FC-F08D-2EAF772158A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48"/>
          <p:cNvSpPr txBox="1"/>
          <p:nvPr/>
        </p:nvSpPr>
        <p:spPr>
          <a:xfrm>
            <a:off x="548640" y="90012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THE KIT  ·  DEEP DIVE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48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48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48"/>
          <p:cNvSpPr txBox="1"/>
          <p:nvPr/>
        </p:nvSpPr>
        <p:spPr>
          <a:xfrm>
            <a:off x="548640" y="984985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What's an API key, and why do you need one?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48"/>
          <p:cNvSpPr/>
          <p:nvPr/>
        </p:nvSpPr>
        <p:spPr>
          <a:xfrm>
            <a:off x="548640" y="2009113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48"/>
          <p:cNvSpPr txBox="1"/>
          <p:nvPr/>
        </p:nvSpPr>
        <p:spPr>
          <a:xfrm>
            <a:off x="548640" y="2009113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48"/>
          <p:cNvSpPr txBox="1"/>
          <p:nvPr/>
        </p:nvSpPr>
        <p:spPr>
          <a:xfrm>
            <a:off x="1170432" y="1954249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It's a private password</a:t>
            </a:r>
            <a:br>
              <a:rPr lang="en-US" sz="16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An API key lets your code call a model API (like Groq) on your behalf.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48"/>
          <p:cNvSpPr/>
          <p:nvPr/>
        </p:nvSpPr>
        <p:spPr>
          <a:xfrm>
            <a:off x="548640" y="3216121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48"/>
          <p:cNvSpPr txBox="1"/>
          <p:nvPr/>
        </p:nvSpPr>
        <p:spPr>
          <a:xfrm>
            <a:off x="548640" y="3216121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48"/>
          <p:cNvSpPr txBox="1"/>
          <p:nvPr/>
        </p:nvSpPr>
        <p:spPr>
          <a:xfrm>
            <a:off x="1170432" y="3161257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Anyone with it uses your quota</a:t>
            </a:r>
            <a:br>
              <a:rPr lang="en-US" sz="16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Never share it or paste it into public code — including a public GitHub repo.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48"/>
          <p:cNvSpPr/>
          <p:nvPr/>
        </p:nvSpPr>
        <p:spPr>
          <a:xfrm>
            <a:off x="548640" y="4423129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48"/>
          <p:cNvSpPr txBox="1"/>
          <p:nvPr/>
        </p:nvSpPr>
        <p:spPr>
          <a:xfrm>
            <a:off x="548640" y="4423129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48"/>
          <p:cNvSpPr txBox="1"/>
          <p:nvPr/>
        </p:nvSpPr>
        <p:spPr>
          <a:xfrm>
            <a:off x="1170432" y="4368265"/>
            <a:ext cx="56875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Free and quick to generate</a:t>
            </a:r>
            <a:br>
              <a:rPr lang="en-US" sz="16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You'll generate one in a couple of clicks, before we start coding.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48"/>
          <p:cNvSpPr/>
          <p:nvPr/>
        </p:nvSpPr>
        <p:spPr>
          <a:xfrm>
            <a:off x="7178040" y="2009113"/>
            <a:ext cx="4480560" cy="4343400"/>
          </a:xfrm>
          <a:prstGeom prst="roundRect">
            <a:avLst>
              <a:gd name="adj" fmla="val 2105"/>
            </a:avLst>
          </a:prstGeom>
          <a:solidFill>
            <a:srgbClr val="241417"/>
          </a:solidFill>
          <a:ln w="15875" cap="flat" cmpd="sng">
            <a:solidFill>
              <a:srgbClr val="FF8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48"/>
          <p:cNvSpPr txBox="1"/>
          <p:nvPr/>
        </p:nvSpPr>
        <p:spPr>
          <a:xfrm>
            <a:off x="7452360" y="2237713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8A80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8A80"/>
                </a:solidFill>
                <a:latin typeface="Calibri"/>
                <a:ea typeface="Calibri"/>
                <a:cs typeface="Calibri"/>
                <a:sym typeface="Calibri"/>
              </a:rPr>
              <a:t>⚠  SAFETY TIP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48"/>
          <p:cNvSpPr txBox="1"/>
          <p:nvPr/>
        </p:nvSpPr>
        <p:spPr>
          <a:xfrm>
            <a:off x="7452360" y="2694913"/>
            <a:ext cx="397764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Never hardcode a key in a notebook you'll share.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8492B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Use Colab's secrets manager instead — it keeps the key out of the file entirely.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8492B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If a key ever leaks, revoke it in the console immediately and generate a new one.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4;p3" descr="/home/claude/build/assets/vit_logo.png">
            <a:extLst>
              <a:ext uri="{FF2B5EF4-FFF2-40B4-BE49-F238E27FC236}">
                <a16:creationId xmlns:a16="http://schemas.microsoft.com/office/drawing/2014/main" id="{A787FBF5-D5BA-51D0-BB33-AE79CBC4ED3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87" y="26735"/>
            <a:ext cx="1751754" cy="83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772C60AB-D3D3-1224-61C7-D59ED06CBDD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49"/>
          <p:cNvSpPr txBox="1"/>
          <p:nvPr/>
        </p:nvSpPr>
        <p:spPr>
          <a:xfrm>
            <a:off x="548640" y="94640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THE KIT  ·  HANDS-ON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49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49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49"/>
          <p:cNvSpPr txBox="1"/>
          <p:nvPr/>
        </p:nvSpPr>
        <p:spPr>
          <a:xfrm>
            <a:off x="548640" y="1261872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Create your Groq API key.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49"/>
          <p:cNvSpPr/>
          <p:nvPr/>
        </p:nvSpPr>
        <p:spPr>
          <a:xfrm>
            <a:off x="548640" y="2240280"/>
            <a:ext cx="7635240" cy="594360"/>
          </a:xfrm>
          <a:prstGeom prst="roundRect">
            <a:avLst>
              <a:gd name="adj" fmla="val 1230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49"/>
          <p:cNvSpPr txBox="1"/>
          <p:nvPr/>
        </p:nvSpPr>
        <p:spPr>
          <a:xfrm>
            <a:off x="731520" y="2240280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3FD0E6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49"/>
          <p:cNvSpPr txBox="1"/>
          <p:nvPr/>
        </p:nvSpPr>
        <p:spPr>
          <a:xfrm>
            <a:off x="1417320" y="2267712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Go to console.groq.com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49"/>
          <p:cNvSpPr txBox="1"/>
          <p:nvPr/>
        </p:nvSpPr>
        <p:spPr>
          <a:xfrm>
            <a:off x="4343400" y="2267712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Sign in with a Google account — no separate signup needed.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49"/>
          <p:cNvSpPr/>
          <p:nvPr/>
        </p:nvSpPr>
        <p:spPr>
          <a:xfrm>
            <a:off x="548640" y="2953512"/>
            <a:ext cx="7635240" cy="594360"/>
          </a:xfrm>
          <a:prstGeom prst="roundRect">
            <a:avLst>
              <a:gd name="adj" fmla="val 1230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49"/>
          <p:cNvSpPr txBox="1"/>
          <p:nvPr/>
        </p:nvSpPr>
        <p:spPr>
          <a:xfrm>
            <a:off x="731520" y="2953512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3FD0E6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49"/>
          <p:cNvSpPr txBox="1"/>
          <p:nvPr/>
        </p:nvSpPr>
        <p:spPr>
          <a:xfrm>
            <a:off x="1417320" y="2980944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Open “API Keys”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49"/>
          <p:cNvSpPr txBox="1"/>
          <p:nvPr/>
        </p:nvSpPr>
        <p:spPr>
          <a:xfrm>
            <a:off x="4343400" y="2980944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It's in the left sidebar of the console.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49"/>
          <p:cNvSpPr/>
          <p:nvPr/>
        </p:nvSpPr>
        <p:spPr>
          <a:xfrm>
            <a:off x="548640" y="3666744"/>
            <a:ext cx="7635240" cy="594360"/>
          </a:xfrm>
          <a:prstGeom prst="roundRect">
            <a:avLst>
              <a:gd name="adj" fmla="val 1230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49"/>
          <p:cNvSpPr txBox="1"/>
          <p:nvPr/>
        </p:nvSpPr>
        <p:spPr>
          <a:xfrm>
            <a:off x="731520" y="3666744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3FD0E6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49"/>
          <p:cNvSpPr txBox="1"/>
          <p:nvPr/>
        </p:nvSpPr>
        <p:spPr>
          <a:xfrm>
            <a:off x="1417320" y="3694176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Click “Create API Key”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49"/>
          <p:cNvSpPr txBox="1"/>
          <p:nvPr/>
        </p:nvSpPr>
        <p:spPr>
          <a:xfrm>
            <a:off x="4343400" y="3694176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Give it a name (e.g. “workshop”) and confirm.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49"/>
          <p:cNvSpPr/>
          <p:nvPr/>
        </p:nvSpPr>
        <p:spPr>
          <a:xfrm>
            <a:off x="548640" y="4379976"/>
            <a:ext cx="7635240" cy="594360"/>
          </a:xfrm>
          <a:prstGeom prst="roundRect">
            <a:avLst>
              <a:gd name="adj" fmla="val 1230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49"/>
          <p:cNvSpPr txBox="1"/>
          <p:nvPr/>
        </p:nvSpPr>
        <p:spPr>
          <a:xfrm>
            <a:off x="731520" y="4379976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3FD0E6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49"/>
          <p:cNvSpPr txBox="1"/>
          <p:nvPr/>
        </p:nvSpPr>
        <p:spPr>
          <a:xfrm>
            <a:off x="1417320" y="4407408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Copy it immediately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49"/>
          <p:cNvSpPr txBox="1"/>
          <p:nvPr/>
        </p:nvSpPr>
        <p:spPr>
          <a:xfrm>
            <a:off x="4343400" y="4407408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Groq only shows the full key once — save it now.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49"/>
          <p:cNvSpPr/>
          <p:nvPr/>
        </p:nvSpPr>
        <p:spPr>
          <a:xfrm>
            <a:off x="548640" y="5093208"/>
            <a:ext cx="7635240" cy="594360"/>
          </a:xfrm>
          <a:prstGeom prst="roundRect">
            <a:avLst>
              <a:gd name="adj" fmla="val 12308"/>
            </a:avLst>
          </a:prstGeom>
          <a:solidFill>
            <a:srgbClr val="121A33"/>
          </a:solidFill>
          <a:ln w="12700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49"/>
          <p:cNvSpPr txBox="1"/>
          <p:nvPr/>
        </p:nvSpPr>
        <p:spPr>
          <a:xfrm>
            <a:off x="731520" y="5093208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3FD0E6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49"/>
          <p:cNvSpPr txBox="1"/>
          <p:nvPr/>
        </p:nvSpPr>
        <p:spPr>
          <a:xfrm>
            <a:off x="1417320" y="512064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Store it safely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49"/>
          <p:cNvSpPr txBox="1"/>
          <p:nvPr/>
        </p:nvSpPr>
        <p:spPr>
          <a:xfrm>
            <a:off x="4343400" y="512064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Use Colab's secrets manager; never paste it directly into shared code.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49"/>
          <p:cNvSpPr/>
          <p:nvPr/>
        </p:nvSpPr>
        <p:spPr>
          <a:xfrm>
            <a:off x="8412480" y="2240280"/>
            <a:ext cx="3246120" cy="3566160"/>
          </a:xfrm>
          <a:prstGeom prst="roundRect">
            <a:avLst>
              <a:gd name="adj" fmla="val 2817"/>
            </a:avLst>
          </a:prstGeom>
          <a:solidFill>
            <a:srgbClr val="0E1730"/>
          </a:solidFill>
          <a:ln w="15875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49"/>
          <p:cNvSpPr txBox="1"/>
          <p:nvPr/>
        </p:nvSpPr>
        <p:spPr>
          <a:xfrm>
            <a:off x="8641080" y="2423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STUCK?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49"/>
          <p:cNvSpPr txBox="1"/>
          <p:nvPr/>
        </p:nvSpPr>
        <p:spPr>
          <a:xfrm>
            <a:off x="8641080" y="2788920"/>
            <a:ext cx="27889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•  No “API Keys” tab? Make sure you're signed in first.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49"/>
          <p:cNvSpPr txBox="1"/>
          <p:nvPr/>
        </p:nvSpPr>
        <p:spPr>
          <a:xfrm>
            <a:off x="8641080" y="3749040"/>
            <a:ext cx="27889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•  Key not copying? Click the copy icon, not just the text.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49"/>
          <p:cNvSpPr txBox="1"/>
          <p:nvPr/>
        </p:nvSpPr>
        <p:spPr>
          <a:xfrm>
            <a:off x="8641080" y="4709160"/>
            <a:ext cx="27889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•  Lost it already? Just create a new one — old keys can be revoked.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4;p3" descr="/home/claude/build/assets/vit_logo.png">
            <a:extLst>
              <a:ext uri="{FF2B5EF4-FFF2-40B4-BE49-F238E27FC236}">
                <a16:creationId xmlns:a16="http://schemas.microsoft.com/office/drawing/2014/main" id="{F640FB9E-0526-36AD-1F9C-1CB519A93C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A166823F-1D62-D197-C2D4-FBE3FC3B568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51"/>
          <p:cNvSpPr txBox="1"/>
          <p:nvPr/>
        </p:nvSpPr>
        <p:spPr>
          <a:xfrm>
            <a:off x="566928" y="833227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YOUR TURN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51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51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51"/>
          <p:cNvSpPr txBox="1"/>
          <p:nvPr/>
        </p:nvSpPr>
        <p:spPr>
          <a:xfrm>
            <a:off x="566928" y="1162411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Write Atlas a goal.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51"/>
          <p:cNvSpPr txBox="1"/>
          <p:nvPr/>
        </p:nvSpPr>
        <p:spPr>
          <a:xfrm>
            <a:off x="566928" y="1729339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Two minutes: write one system prompt that turns a plain chatbot into something you'd actually use.</a:t>
            </a:r>
            <a:endParaRPr sz="13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51"/>
          <p:cNvSpPr/>
          <p:nvPr/>
        </p:nvSpPr>
        <p:spPr>
          <a:xfrm>
            <a:off x="566928" y="2369419"/>
            <a:ext cx="3520440" cy="2926080"/>
          </a:xfrm>
          <a:prstGeom prst="roundRect">
            <a:avLst>
              <a:gd name="adj" fmla="val 3125"/>
            </a:avLst>
          </a:prstGeom>
          <a:solidFill>
            <a:srgbClr val="121A33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51"/>
          <p:cNvSpPr/>
          <p:nvPr/>
        </p:nvSpPr>
        <p:spPr>
          <a:xfrm>
            <a:off x="795528" y="2570587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0E1730"/>
          </a:solidFill>
          <a:ln w="1270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p51"/>
          <p:cNvSpPr txBox="1"/>
          <p:nvPr/>
        </p:nvSpPr>
        <p:spPr>
          <a:xfrm>
            <a:off x="886968" y="2570587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51"/>
          <p:cNvSpPr txBox="1"/>
          <p:nvPr/>
        </p:nvSpPr>
        <p:spPr>
          <a:xfrm>
            <a:off x="795528" y="3146659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•  Say what it should do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51"/>
          <p:cNvSpPr txBox="1"/>
          <p:nvPr/>
        </p:nvSpPr>
        <p:spPr>
          <a:xfrm>
            <a:off x="795528" y="3805027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•  Say what it must never do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51"/>
          <p:cNvSpPr txBox="1"/>
          <p:nvPr/>
        </p:nvSpPr>
        <p:spPr>
          <a:xfrm>
            <a:off x="795528" y="4463395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•  Describe how the reply should look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51"/>
          <p:cNvSpPr/>
          <p:nvPr/>
        </p:nvSpPr>
        <p:spPr>
          <a:xfrm>
            <a:off x="4288536" y="2369419"/>
            <a:ext cx="3520440" cy="2926080"/>
          </a:xfrm>
          <a:prstGeom prst="roundRect">
            <a:avLst>
              <a:gd name="adj" fmla="val 3125"/>
            </a:avLst>
          </a:prstGeom>
          <a:solidFill>
            <a:srgbClr val="121A33"/>
          </a:solidFill>
          <a:ln w="15875" cap="flat" cmpd="sng">
            <a:solidFill>
              <a:srgbClr val="FF8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51"/>
          <p:cNvSpPr/>
          <p:nvPr/>
        </p:nvSpPr>
        <p:spPr>
          <a:xfrm>
            <a:off x="4517136" y="2570587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0E1730"/>
          </a:solidFill>
          <a:ln w="12700" cap="flat" cmpd="sng">
            <a:solidFill>
              <a:srgbClr val="FF8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51"/>
          <p:cNvSpPr txBox="1"/>
          <p:nvPr/>
        </p:nvSpPr>
        <p:spPr>
          <a:xfrm>
            <a:off x="4608576" y="2570587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A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8A80"/>
                </a:solidFill>
                <a:latin typeface="Calibri"/>
                <a:ea typeface="Calibri"/>
                <a:cs typeface="Calibri"/>
                <a:sym typeface="Calibri"/>
              </a:rPr>
              <a:t>AVOID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51"/>
          <p:cNvSpPr txBox="1"/>
          <p:nvPr/>
        </p:nvSpPr>
        <p:spPr>
          <a:xfrm>
            <a:off x="4517136" y="3146659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•  Vague words like “be helpful”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51"/>
          <p:cNvSpPr txBox="1"/>
          <p:nvPr/>
        </p:nvSpPr>
        <p:spPr>
          <a:xfrm>
            <a:off x="4517136" y="3805027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•  Contradicting instructions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51"/>
          <p:cNvSpPr txBox="1"/>
          <p:nvPr/>
        </p:nvSpPr>
        <p:spPr>
          <a:xfrm>
            <a:off x="4517136" y="4463395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•  Prompts longer than 4-5 lines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51"/>
          <p:cNvSpPr/>
          <p:nvPr/>
        </p:nvSpPr>
        <p:spPr>
          <a:xfrm>
            <a:off x="8010144" y="2369419"/>
            <a:ext cx="3520440" cy="2926080"/>
          </a:xfrm>
          <a:prstGeom prst="roundRect">
            <a:avLst>
              <a:gd name="adj" fmla="val 3125"/>
            </a:avLst>
          </a:prstGeom>
          <a:solidFill>
            <a:srgbClr val="121A33"/>
          </a:solidFill>
          <a:ln w="15875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51"/>
          <p:cNvSpPr/>
          <p:nvPr/>
        </p:nvSpPr>
        <p:spPr>
          <a:xfrm>
            <a:off x="8238744" y="2570587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0E1730"/>
          </a:solidFill>
          <a:ln w="12700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51"/>
          <p:cNvSpPr txBox="1"/>
          <p:nvPr/>
        </p:nvSpPr>
        <p:spPr>
          <a:xfrm>
            <a:off x="8330184" y="2570587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FORMAT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51"/>
          <p:cNvSpPr txBox="1"/>
          <p:nvPr/>
        </p:nvSpPr>
        <p:spPr>
          <a:xfrm>
            <a:off x="8238744" y="3146659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•  One clear voice or persona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51"/>
          <p:cNvSpPr txBox="1"/>
          <p:nvPr/>
        </p:nvSpPr>
        <p:spPr>
          <a:xfrm>
            <a:off x="8238744" y="3805027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•  A concrete goal to check against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51"/>
          <p:cNvSpPr txBox="1"/>
          <p:nvPr/>
        </p:nvSpPr>
        <p:spPr>
          <a:xfrm>
            <a:off x="8238744" y="4463395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•  Plain English — no jargon needed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51"/>
          <p:cNvSpPr txBox="1"/>
          <p:nvPr/>
        </p:nvSpPr>
        <p:spPr>
          <a:xfrm>
            <a:off x="566928" y="5524099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We'll read a few out loud and run the best ones in the notebook.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4;p3" descr="/home/claude/build/assets/vit_logo.png">
            <a:extLst>
              <a:ext uri="{FF2B5EF4-FFF2-40B4-BE49-F238E27FC236}">
                <a16:creationId xmlns:a16="http://schemas.microsoft.com/office/drawing/2014/main" id="{37B1B771-56A9-76E4-9D12-AC75923B3C8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FC31B4AD-B977-E3F5-7584-D57794B6180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52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  ·  SESSION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52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52"/>
          <p:cNvSpPr txBox="1"/>
          <p:nvPr/>
        </p:nvSpPr>
        <p:spPr>
          <a:xfrm>
            <a:off x="548640" y="764299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3000"/>
              <a:buFont typeface="Calibri"/>
              <a:buNone/>
            </a:pPr>
            <a:r>
              <a:rPr lang="en-US" sz="3000" b="1" dirty="0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You built the first two blocks.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52"/>
          <p:cNvSpPr/>
          <p:nvPr/>
        </p:nvSpPr>
        <p:spPr>
          <a:xfrm>
            <a:off x="548640" y="155448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0E1730"/>
          </a:solidFill>
          <a:ln w="1905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52"/>
          <p:cNvSpPr txBox="1"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52"/>
          <p:cNvSpPr txBox="1"/>
          <p:nvPr/>
        </p:nvSpPr>
        <p:spPr>
          <a:xfrm>
            <a:off x="685800" y="21031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52"/>
          <p:cNvSpPr/>
          <p:nvPr/>
        </p:nvSpPr>
        <p:spPr>
          <a:xfrm>
            <a:off x="3246120" y="155448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0E1730"/>
          </a:solidFill>
          <a:ln w="19050" cap="flat" cmpd="sng">
            <a:solidFill>
              <a:srgbClr val="8B9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52"/>
          <p:cNvSpPr txBox="1"/>
          <p:nvPr/>
        </p:nvSpPr>
        <p:spPr>
          <a:xfrm>
            <a:off x="338328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3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8B93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52"/>
          <p:cNvSpPr txBox="1"/>
          <p:nvPr/>
        </p:nvSpPr>
        <p:spPr>
          <a:xfrm>
            <a:off x="3383280" y="21031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52"/>
          <p:cNvSpPr/>
          <p:nvPr/>
        </p:nvSpPr>
        <p:spPr>
          <a:xfrm>
            <a:off x="5943600" y="155448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21A33"/>
          </a:solidFill>
          <a:ln w="12700" cap="flat" cmpd="sng">
            <a:solidFill>
              <a:srgbClr val="5A6E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52"/>
          <p:cNvSpPr txBox="1"/>
          <p:nvPr/>
        </p:nvSpPr>
        <p:spPr>
          <a:xfrm>
            <a:off x="608076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52"/>
          <p:cNvSpPr txBox="1"/>
          <p:nvPr/>
        </p:nvSpPr>
        <p:spPr>
          <a:xfrm>
            <a:off x="6080760" y="21031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52"/>
          <p:cNvSpPr/>
          <p:nvPr/>
        </p:nvSpPr>
        <p:spPr>
          <a:xfrm>
            <a:off x="8641080" y="155448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21A33"/>
          </a:solidFill>
          <a:ln w="12700" cap="flat" cmpd="sng">
            <a:solidFill>
              <a:srgbClr val="5A6E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52"/>
          <p:cNvSpPr txBox="1"/>
          <p:nvPr/>
        </p:nvSpPr>
        <p:spPr>
          <a:xfrm>
            <a:off x="877824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52"/>
          <p:cNvSpPr txBox="1"/>
          <p:nvPr/>
        </p:nvSpPr>
        <p:spPr>
          <a:xfrm>
            <a:off x="8778240" y="21031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52"/>
          <p:cNvSpPr/>
          <p:nvPr/>
        </p:nvSpPr>
        <p:spPr>
          <a:xfrm>
            <a:off x="548640" y="288036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52"/>
          <p:cNvSpPr txBox="1"/>
          <p:nvPr/>
        </p:nvSpPr>
        <p:spPr>
          <a:xfrm>
            <a:off x="548640" y="288036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52"/>
          <p:cNvSpPr txBox="1"/>
          <p:nvPr/>
        </p:nvSpPr>
        <p:spPr>
          <a:xfrm>
            <a:off x="1170432" y="2825496"/>
            <a:ext cx="669340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Model + Goal, done</a:t>
            </a:r>
            <a:b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Tools and Memory are next — Sessions 2 and 3 build directly on today.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52"/>
          <p:cNvSpPr/>
          <p:nvPr/>
        </p:nvSpPr>
        <p:spPr>
          <a:xfrm>
            <a:off x="548640" y="384048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52"/>
          <p:cNvSpPr txBox="1"/>
          <p:nvPr/>
        </p:nvSpPr>
        <p:spPr>
          <a:xfrm>
            <a:off x="548640" y="38404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52"/>
          <p:cNvSpPr txBox="1"/>
          <p:nvPr/>
        </p:nvSpPr>
        <p:spPr>
          <a:xfrm>
            <a:off x="1170432" y="3785616"/>
            <a:ext cx="669340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You know why agents loop</a:t>
            </a:r>
            <a:b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And what separates them from plain chatbots: a goal, and a check against it.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52"/>
          <p:cNvSpPr/>
          <p:nvPr/>
        </p:nvSpPr>
        <p:spPr>
          <a:xfrm>
            <a:off x="548640" y="480060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1730"/>
          </a:solidFill>
          <a:ln w="15875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52"/>
          <p:cNvSpPr txBox="1"/>
          <p:nvPr/>
        </p:nvSpPr>
        <p:spPr>
          <a:xfrm>
            <a:off x="548640" y="48006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52"/>
          <p:cNvSpPr txBox="1"/>
          <p:nvPr/>
        </p:nvSpPr>
        <p:spPr>
          <a:xfrm>
            <a:off x="1170432" y="4745736"/>
            <a:ext cx="669340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You called Groq directly</a:t>
            </a:r>
            <a:br>
              <a:rPr lang="en-US" sz="14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Gave it a goal, and got it to reason about a next step — in your own code.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52"/>
          <p:cNvSpPr/>
          <p:nvPr/>
        </p:nvSpPr>
        <p:spPr>
          <a:xfrm>
            <a:off x="8183880" y="2880360"/>
            <a:ext cx="3474720" cy="2880360"/>
          </a:xfrm>
          <a:prstGeom prst="roundRect">
            <a:avLst>
              <a:gd name="adj" fmla="val 3175"/>
            </a:avLst>
          </a:prstGeom>
          <a:solidFill>
            <a:srgbClr val="0E1730"/>
          </a:solidFill>
          <a:ln w="15875" cap="flat" cmpd="sng">
            <a:solidFill>
              <a:srgbClr val="FFC8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52"/>
          <p:cNvSpPr txBox="1"/>
          <p:nvPr/>
        </p:nvSpPr>
        <p:spPr>
          <a:xfrm>
            <a:off x="8412480" y="31089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COMING UP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52"/>
          <p:cNvSpPr txBox="1"/>
          <p:nvPr/>
        </p:nvSpPr>
        <p:spPr>
          <a:xfrm>
            <a:off x="8412480" y="34747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Session 2 — Tools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52"/>
          <p:cNvSpPr txBox="1"/>
          <p:nvPr/>
        </p:nvSpPr>
        <p:spPr>
          <a:xfrm>
            <a:off x="8412480" y="37947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with Arnab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9" name="Google Shape;1569;p52"/>
          <p:cNvCxnSpPr/>
          <p:nvPr/>
        </p:nvCxnSpPr>
        <p:spPr>
          <a:xfrm>
            <a:off x="8412480" y="4251960"/>
            <a:ext cx="3017520" cy="0"/>
          </a:xfrm>
          <a:prstGeom prst="straightConnector1">
            <a:avLst/>
          </a:prstGeom>
          <a:noFill/>
          <a:ln w="9525" cap="flat" cmpd="sng">
            <a:solidFill>
              <a:srgbClr val="2231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0" name="Google Shape;1570;p52"/>
          <p:cNvSpPr txBox="1"/>
          <p:nvPr/>
        </p:nvSpPr>
        <p:spPr>
          <a:xfrm>
            <a:off x="8412480" y="443484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Session 3 — Memory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52"/>
          <p:cNvSpPr txBox="1"/>
          <p:nvPr/>
        </p:nvSpPr>
        <p:spPr>
          <a:xfrm>
            <a:off x="8412480" y="47548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with Aarav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52"/>
          <p:cNvSpPr/>
          <p:nvPr/>
        </p:nvSpPr>
        <p:spPr>
          <a:xfrm>
            <a:off x="3108960" y="5989320"/>
            <a:ext cx="5943600" cy="457200"/>
          </a:xfrm>
          <a:prstGeom prst="roundRect">
            <a:avLst>
              <a:gd name="adj" fmla="val 16000"/>
            </a:avLst>
          </a:prstGeom>
          <a:solidFill>
            <a:srgbClr val="0E1730"/>
          </a:solidFill>
          <a:ln w="1270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52"/>
          <p:cNvSpPr txBox="1"/>
          <p:nvPr/>
        </p:nvSpPr>
        <p:spPr>
          <a:xfrm>
            <a:off x="3200400" y="5989320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NEXT: ARNAB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4;p3" descr="/home/claude/build/assets/vit_logo.png">
            <a:extLst>
              <a:ext uri="{FF2B5EF4-FFF2-40B4-BE49-F238E27FC236}">
                <a16:creationId xmlns:a16="http://schemas.microsoft.com/office/drawing/2014/main" id="{3BF2B43F-DF04-2C09-2042-45653A914EB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87" y="73727"/>
            <a:ext cx="1751754" cy="83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;p3" descr="/home/claude/build/assets/tam_logo.png">
            <a:extLst>
              <a:ext uri="{FF2B5EF4-FFF2-40B4-BE49-F238E27FC236}">
                <a16:creationId xmlns:a16="http://schemas.microsoft.com/office/drawing/2014/main" id="{DFAFE19F-C708-6487-5E3E-30F63D1A442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53"/>
          <p:cNvSpPr txBox="1"/>
          <p:nvPr/>
        </p:nvSpPr>
        <p:spPr>
          <a:xfrm>
            <a:off x="0" y="2103120"/>
            <a:ext cx="1219169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0FF"/>
              </a:buClr>
              <a:buSzPts val="4600"/>
              <a:buFont typeface="Calibri"/>
              <a:buNone/>
            </a:pPr>
            <a:r>
              <a:rPr lang="en-US" sz="4600" b="1">
                <a:solidFill>
                  <a:srgbClr val="EAF0FF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53"/>
          <p:cNvSpPr txBox="1"/>
          <p:nvPr/>
        </p:nvSpPr>
        <p:spPr>
          <a:xfrm>
            <a:off x="1463040" y="3063240"/>
            <a:ext cx="9235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You reasoned with a model, gave it a goal, and watched it think in a loop.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53"/>
          <p:cNvSpPr txBox="1"/>
          <p:nvPr/>
        </p:nvSpPr>
        <p:spPr>
          <a:xfrm>
            <a:off x="1737360" y="388620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53"/>
          <p:cNvSpPr txBox="1"/>
          <p:nvPr/>
        </p:nvSpPr>
        <p:spPr>
          <a:xfrm>
            <a:off x="1371600" y="437083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00"/>
              <a:buFont typeface="Calibri"/>
              <a:buNone/>
            </a:pPr>
            <a:r>
              <a:rPr lang="en-US" sz="16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blocks introduced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53"/>
          <p:cNvSpPr txBox="1"/>
          <p:nvPr/>
        </p:nvSpPr>
        <p:spPr>
          <a:xfrm>
            <a:off x="3977640" y="388620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53"/>
          <p:cNvSpPr txBox="1"/>
          <p:nvPr/>
        </p:nvSpPr>
        <p:spPr>
          <a:xfrm>
            <a:off x="3611880" y="437083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00"/>
              <a:buFont typeface="Calibri"/>
              <a:buNone/>
            </a:pPr>
            <a:r>
              <a:rPr lang="en-US" sz="16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built by hand today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53"/>
          <p:cNvSpPr txBox="1"/>
          <p:nvPr/>
        </p:nvSpPr>
        <p:spPr>
          <a:xfrm>
            <a:off x="6217920" y="388620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53"/>
          <p:cNvSpPr txBox="1"/>
          <p:nvPr/>
        </p:nvSpPr>
        <p:spPr>
          <a:xfrm>
            <a:off x="5852160" y="437083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00"/>
              <a:buFont typeface="Calibri"/>
              <a:buNone/>
            </a:pPr>
            <a:r>
              <a:rPr lang="en-US" sz="16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live demos run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53"/>
          <p:cNvSpPr txBox="1"/>
          <p:nvPr/>
        </p:nvSpPr>
        <p:spPr>
          <a:xfrm>
            <a:off x="8458200" y="388620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53"/>
          <p:cNvSpPr txBox="1"/>
          <p:nvPr/>
        </p:nvSpPr>
        <p:spPr>
          <a:xfrm>
            <a:off x="8092440" y="437083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492B8"/>
              </a:buClr>
              <a:buSzPts val="1000"/>
              <a:buFont typeface="Calibri"/>
              <a:buNone/>
            </a:pPr>
            <a:r>
              <a:rPr lang="en-US" sz="1600">
                <a:solidFill>
                  <a:srgbClr val="8492B8"/>
                </a:solidFill>
                <a:latin typeface="Calibri"/>
                <a:ea typeface="Calibri"/>
                <a:cs typeface="Calibri"/>
                <a:sym typeface="Calibri"/>
              </a:rPr>
              <a:t>agent named Atlas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53"/>
          <p:cNvSpPr/>
          <p:nvPr/>
        </p:nvSpPr>
        <p:spPr>
          <a:xfrm>
            <a:off x="3566160" y="5212080"/>
            <a:ext cx="4892040" cy="813816"/>
          </a:xfrm>
          <a:prstGeom prst="roundRect">
            <a:avLst>
              <a:gd name="adj" fmla="val 16000"/>
            </a:avLst>
          </a:prstGeom>
          <a:solidFill>
            <a:srgbClr val="0E1730"/>
          </a:solidFill>
          <a:ln w="12700" cap="flat" cmpd="sng">
            <a:solidFill>
              <a:srgbClr val="3FD0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53"/>
          <p:cNvSpPr txBox="1"/>
          <p:nvPr/>
        </p:nvSpPr>
        <p:spPr>
          <a:xfrm>
            <a:off x="3657600" y="5212080"/>
            <a:ext cx="4714148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D0E6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FD0E6"/>
                </a:solidFill>
                <a:latin typeface="Calibri"/>
                <a:ea typeface="Calibri"/>
                <a:cs typeface="Calibri"/>
                <a:sym typeface="Calibri"/>
              </a:rPr>
              <a:t>SESSION 1 · FOUNDATIONS · DATA ALCHEMY 4.0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53"/>
          <p:cNvSpPr txBox="1"/>
          <p:nvPr/>
        </p:nvSpPr>
        <p:spPr>
          <a:xfrm>
            <a:off x="548640" y="652881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DATA ALCHEMY 4.0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53"/>
          <p:cNvSpPr txBox="1"/>
          <p:nvPr/>
        </p:nvSpPr>
        <p:spPr>
          <a:xfrm>
            <a:off x="11247120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E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A6E96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4;p3" descr="/home/claude/build/assets/vit_logo.png">
            <a:extLst>
              <a:ext uri="{FF2B5EF4-FFF2-40B4-BE49-F238E27FC236}">
                <a16:creationId xmlns:a16="http://schemas.microsoft.com/office/drawing/2014/main" id="{764371B9-4E08-9D8E-B4C4-38F1A593D8E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313" y="3556"/>
            <a:ext cx="1751754" cy="83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5;p3" descr="/home/claude/build/assets/tam_logo.png">
            <a:extLst>
              <a:ext uri="{FF2B5EF4-FFF2-40B4-BE49-F238E27FC236}">
                <a16:creationId xmlns:a16="http://schemas.microsoft.com/office/drawing/2014/main" id="{E179FE29-3A44-EF95-C8D2-27BF4238B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63300" y="3556"/>
            <a:ext cx="731520" cy="732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6638</Words>
  <Application>Microsoft Office PowerPoint</Application>
  <PresentationFormat>Widescreen</PresentationFormat>
  <Paragraphs>989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Ankita Prakash</dc:creator>
  <cp:lastModifiedBy>Ankita Prakash</cp:lastModifiedBy>
  <cp:revision>5</cp:revision>
  <dcterms:modified xsi:type="dcterms:W3CDTF">2026-09-13T03:03:00Z</dcterms:modified>
</cp:coreProperties>
</file>